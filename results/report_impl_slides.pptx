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5"/>
  </p:sldMasterIdLst>
  <p:notesMasterIdLst>
    <p:notesMasterId r:id="rId6"/>
  </p:notesMasterIdLst>
  <p:sldIdLst>
    <p:sldId id="286" r:id="rId45"/>
    <p:sldId id="287" r:id="rId46"/>
  </p:sldIdLst>
  <p:sldSz cy="6858000" cx="12192000"/>
  <p:notesSz cx="6858000" cy="12192000"/>
  <p:embeddedFontLst>
    <p:embeddedFont>
      <p:font typeface="Nunito"/>
      <p:regular r:id="rId37"/>
      <p:bold r:id="rId38"/>
      <p:italic r:id="rId39"/>
      <p:boldItalic r:id="rId40"/>
    </p:embeddedFont>
    <p:embeddedFont>
      <p:font typeface="Nunito Sans"/>
      <p:regular r:id="rId41"/>
      <p:bold r:id="rId42"/>
      <p:italic r:id="rId43"/>
      <p:boldItalic r:id="rId4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3" name="Lernik Asserian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EE8D17F-0FAC-4436-A6F9-5FE9B4E000E4}">
  <a:tblStyle styleId="{DEE8D17F-0FAC-4436-A6F9-5FE9B4E000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commentAuthors" Target="commentAuthor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7" Type="http://schemas.openxmlformats.org/officeDocument/2006/relationships/font" Target="fonts/Nunito-regular.fntdata"/><Relationship Id="rId38" Type="http://schemas.openxmlformats.org/officeDocument/2006/relationships/font" Target="fonts/Nunito-bold.fntdata"/><Relationship Id="rId39" Type="http://schemas.openxmlformats.org/officeDocument/2006/relationships/font" Target="fonts/Nunito-italic.fntdata"/><Relationship Id="rId40" Type="http://schemas.openxmlformats.org/officeDocument/2006/relationships/font" Target="fonts/Nunito-boldItalic.fntdata"/><Relationship Id="rId41" Type="http://schemas.openxmlformats.org/officeDocument/2006/relationships/font" Target="fonts/NunitoSans-regular.fntdata"/><Relationship Id="rId42" Type="http://schemas.openxmlformats.org/officeDocument/2006/relationships/font" Target="fonts/NunitoSans-bold.fntdata"/><Relationship Id="rId43" Type="http://schemas.openxmlformats.org/officeDocument/2006/relationships/font" Target="fonts/NunitoSans-italic.fntdata"/><Relationship Id="rId44" Type="http://schemas.openxmlformats.org/officeDocument/2006/relationships/font" Target="fonts/NunitoSans-boldItalic.fntdata"/><Relationship Id="rId45" Type="http://schemas.openxmlformats.org/officeDocument/2006/relationships/slide" Target="slides/slide31.xml"/><Relationship Id="rId46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Here's how logistic regression ran on our data. The full model uses all 74 pre-date predictors, about 125 columns once categories become yes-or-no dummy columns. We let BIC decide whether age, the age gap, interest similarity or preference fit should get a curve instead of a straight line. Each extra coefficient costs log n, about 8 with roughly 3,300 training pairs, and a curve never earned that, so the model stayed linear. Stepwise selection then used BIC to choose predictors, and it kept only about 8 of the 74. The chart shows which ones it kept most often, out of 15 fits: three directions in each of five folds. His self-rated fun, the age gap, how often he dates, sharing a field of study, and how much he values intelligence came up in most fits. Blue means more of it goes with more matches; orange, with fewer. And keeping fewer predictors predicted better on new events: 0.559 instead of 0.542 before the date, and 0.835 instead of 0.780 with the date ratings.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Here's how LDA and QDA ran on our data. LDA estimates one covariance matrix, shared by matches and non-matches, and uses the training match rate, about 0.165, as the prior. It has nothing to tune. QDA estimates a separate covariance matrix for the matches. With about 125 columns that's about 8,000 numbers, estimated from only about 550 matches in a training fold, so many of them are noise. So we shrink it toward the identity matrix, which means no correlations: a weighted average with weight r. The heatmaps show what that does, for 8 of our predictors among the matched pairs. On the left are the correlations we estimate; for example, women who rate themselves as more attractive also rate themselves as more fun, a correlation of 0.44. On the right is what QDA uses after shrinking with r equal to 0.9: every correlation is about a tenth as big, so 0.44 becomes 0.04. Our inner cross-validation picked 0.9, the strongest option, in all ten fits. And regularized QDA ended up one of our best models: 0.579 before the date, against 0.553 for LDA.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transition spd="med">
    <p:fade thruBlk="1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11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image" Target="../media/image15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32.xml"/></Relationships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/>
      <p:sp>
        <p:nvSpPr>
          <p:cNvPr id="384" name="Google Shape;384;p21"/>
          <p:cNvSpPr/>
          <p:nvPr/>
        </p:nvSpPr>
        <p:spPr>
          <a:xfrm>
            <a:off x="813816" y="813816"/>
            <a:ext cx="108813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23A55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B23A55"/>
                </a:solidFill>
                <a:latin typeface="Nunito Sans"/>
                <a:ea typeface="Nunito Sans"/>
                <a:cs typeface="Nunito Sans"/>
                <a:sym typeface="Nunito Sans"/>
              </a:rPr>
              <a:t>4 · TECHNICAL IMPLEMENTATION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21"/>
          <p:cNvSpPr/>
          <p:nvPr/>
        </p:nvSpPr>
        <p:spPr>
          <a:xfrm>
            <a:off x="813816" y="1179576"/>
            <a:ext cx="10881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B2440"/>
              </a:buClr>
              <a:buSzPts val="3200"/>
              <a:buFont typeface="Nunito"/>
              <a:buNone/>
            </a:pPr>
            <a:r>
              <a:rPr b="1" i="0" lang="en-US" sz="3200" u="none" cap="none" strike="noStrike">
                <a:solidFill>
                  <a:srgbClr val="1B2440"/>
                </a:solidFill>
                <a:latin typeface="Nunito"/>
                <a:ea typeface="Nunito"/>
                <a:cs typeface="Nunito"/>
                <a:sym typeface="Nunito"/>
              </a:rPr>
              <a:t>Stepwise logistic regression on our data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1"/>
          <p:cNvSpPr/>
          <p:nvPr/>
        </p:nvSpPr>
        <p:spPr>
          <a:xfrm>
            <a:off x="813816" y="6291072"/>
            <a:ext cx="108813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46A79"/>
              </a:buClr>
              <a:buSzPts val="1200"/>
              <a:buFont typeface="Nunito Sans"/>
              <a:buNone/>
            </a:pPr>
            <a:r>
              <a:rPr b="0" i="0" lang="en-US" sz="1200" u="none" cap="none" strike="noStrike">
                <a:solidFill>
                  <a:srgbClr val="646A79"/>
                </a:solidFill>
                <a:latin typeface="Nunito Sans"/>
                <a:ea typeface="Nunito Sans"/>
                <a:cs typeface="Nunito Sans"/>
                <a:sym typeface="Nunito Sans"/>
              </a:rPr>
              <a:t>Math 195 · Speed dating · 14 · BIC: James et al. (2023), ISL §6.1.3 · Direction from the full logistic model · AUCs on held-out events (event 5-fold CV)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21"/>
          <p:cNvSpPr/>
          <p:nvPr/>
        </p:nvSpPr>
        <p:spPr>
          <a:xfrm>
            <a:off x="822960" y="1783080"/>
            <a:ext cx="4526280" cy="2011680"/>
          </a:xfrm>
          <a:prstGeom prst="roundRect">
            <a:avLst>
              <a:gd fmla="val 10870" name="adj"/>
            </a:avLst>
          </a:prstGeom>
          <a:solidFill>
            <a:srgbClr val="FFFFFF"/>
          </a:solidFill>
          <a:ln cap="flat" cmpd="sng" w="12700">
            <a:solidFill>
              <a:srgbClr val="EADF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21"/>
          <p:cNvSpPr/>
          <p:nvPr/>
        </p:nvSpPr>
        <p:spPr>
          <a:xfrm>
            <a:off x="1005840" y="1938528"/>
            <a:ext cx="4160520" cy="265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440"/>
              </a:buClr>
              <a:buSzPts val="1600"/>
              <a:buFont typeface="Nunito"/>
              <a:buNone/>
            </a:pPr>
            <a:r>
              <a:rPr b="1" i="0" lang="en-US" sz="1600" u="none" cap="none" strike="noStrike">
                <a:solidFill>
                  <a:srgbClr val="1B2440"/>
                </a:solidFill>
                <a:latin typeface="Nunito"/>
                <a:ea typeface="Nunito"/>
                <a:cs typeface="Nunito"/>
                <a:sym typeface="Nunito"/>
              </a:rPr>
              <a:t>The full model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1"/>
          <p:cNvSpPr/>
          <p:nvPr/>
        </p:nvSpPr>
        <p:spPr>
          <a:xfrm>
            <a:off x="1005840" y="2240280"/>
            <a:ext cx="41605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5163"/>
              </a:buClr>
              <a:buSzPts val="1300"/>
              <a:buFont typeface="Nunito Sans"/>
              <a:buNone/>
            </a:pPr>
            <a:r>
              <a:rPr b="0" i="0" lang="en-US" sz="1300" u="none" cap="none" strike="noStrike">
                <a:solidFill>
                  <a:srgbClr val="4A5163"/>
                </a:solidFill>
                <a:latin typeface="Nunito Sans"/>
                <a:ea typeface="Nunito Sans"/>
                <a:cs typeface="Nunito Sans"/>
                <a:sym typeface="Nunito Sans"/>
              </a:rPr>
              <a:t>All 74 pre-date predictors, about 125 columns. Curves (splines) for age, age gap, interests and fit were tried, but BIC never chose one.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7" name="Picture 396" descr="slide_eq_b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3200400"/>
            <a:ext cx="3200400" cy="279816"/>
          </a:xfrm>
          <a:prstGeom prst="rect">
            <a:avLst/>
          </a:prstGeom>
        </p:spPr>
      </p:pic>
      <p:sp>
        <p:nvSpPr>
          <p:cNvPr id="386" name="Google Shape;386;p21"/>
          <p:cNvSpPr/>
          <p:nvPr/>
        </p:nvSpPr>
        <p:spPr>
          <a:xfrm>
            <a:off x="822960" y="3931920"/>
            <a:ext cx="4526280" cy="1188720"/>
          </a:xfrm>
          <a:prstGeom prst="roundRect">
            <a:avLst>
              <a:gd fmla="val 10870" name="adj"/>
            </a:avLst>
          </a:prstGeom>
          <a:solidFill>
            <a:srgbClr val="FFFFFF"/>
          </a:solidFill>
          <a:ln cap="flat" cmpd="sng" w="12700">
            <a:solidFill>
              <a:srgbClr val="EADF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21"/>
          <p:cNvSpPr/>
          <p:nvPr/>
        </p:nvSpPr>
        <p:spPr>
          <a:xfrm>
            <a:off x="1005840" y="4087368"/>
            <a:ext cx="4160520" cy="265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440"/>
              </a:buClr>
              <a:buSzPts val="1600"/>
              <a:buFont typeface="Nunito"/>
              <a:buNone/>
            </a:pPr>
            <a:r>
              <a:rPr b="1" i="0" lang="en-US" sz="1600" u="none" cap="none" strike="noStrike">
                <a:solidFill>
                  <a:srgbClr val="1B2440"/>
                </a:solidFill>
                <a:latin typeface="Nunito"/>
                <a:ea typeface="Nunito"/>
                <a:cs typeface="Nunito"/>
                <a:sym typeface="Nunito"/>
              </a:rPr>
              <a:t>Stepwise selection by BIC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1"/>
          <p:cNvSpPr/>
          <p:nvPr/>
        </p:nvSpPr>
        <p:spPr>
          <a:xfrm>
            <a:off x="1005840" y="4389120"/>
            <a:ext cx="4160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5163"/>
              </a:buClr>
              <a:buSzPts val="1300"/>
              <a:buFont typeface="Nunito Sans"/>
              <a:buNone/>
            </a:pPr>
            <a:r>
              <a:rPr b="0" i="0" lang="en-US" sz="1300" u="none" cap="none" strike="noStrike">
                <a:solidFill>
                  <a:srgbClr val="4A5163"/>
                </a:solidFill>
                <a:latin typeface="Nunito Sans"/>
                <a:ea typeface="Nunito Sans"/>
                <a:cs typeface="Nunito Sans"/>
                <a:sym typeface="Nunito Sans"/>
              </a:rPr>
              <a:t>Kept about 8 of the 74 predictors in each fold; about 15 of 90 with the date ratings.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8" name="Picture 397" descr="slide_stepwise_ke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783080"/>
            <a:ext cx="5577840" cy="3265658"/>
          </a:xfrm>
          <a:prstGeom prst="rect">
            <a:avLst/>
          </a:prstGeom>
        </p:spPr>
      </p:pic>
      <p:sp>
        <p:nvSpPr>
          <p:cNvPr id="458" name="Google Shape;458;p25"/>
          <p:cNvSpPr/>
          <p:nvPr/>
        </p:nvSpPr>
        <p:spPr>
          <a:xfrm>
            <a:off x="822960" y="5349240"/>
            <a:ext cx="10552176" cy="731520"/>
          </a:xfrm>
          <a:prstGeom prst="roundRect">
            <a:avLst>
              <a:gd fmla="val 17914" name="adj"/>
            </a:avLst>
          </a:prstGeom>
          <a:solidFill>
            <a:srgbClr val="F6ECE9"/>
          </a:solidFill>
          <a:ln cap="flat" cmpd="sng" w="12700">
            <a:solidFill>
              <a:srgbClr val="EADF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59" name="Picture 4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5568696"/>
            <a:ext cx="232600" cy="301752"/>
          </a:xfrm>
          <a:prstGeom prst="rect">
            <a:avLst/>
          </a:prstGeom>
        </p:spPr>
      </p:pic>
      <p:sp>
        <p:nvSpPr>
          <p:cNvPr id="460" name="Google Shape;460;p25"/>
          <p:cNvSpPr/>
          <p:nvPr/>
        </p:nvSpPr>
        <p:spPr>
          <a:xfrm>
            <a:off x="1389888" y="5440679"/>
            <a:ext cx="9866376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440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1B2440"/>
                </a:solidFill>
                <a:latin typeface="Nunito Sans"/>
                <a:ea typeface="Nunito Sans"/>
                <a:cs typeface="Nunito Sans"/>
                <a:sym typeface="Nunito Sans"/>
              </a:rPr>
              <a:t>Fewer predictors predicted better. </a:t>
            </a:r>
            <a:r>
              <a:rPr b="0" i="0" lang="en-US" sz="1400" u="none" cap="none" strike="noStrike">
                <a:solidFill>
                  <a:srgbClr val="1B2440"/>
                </a:solidFill>
                <a:latin typeface="Nunito Sans"/>
                <a:ea typeface="Nunito Sans"/>
                <a:cs typeface="Nunito Sans"/>
                <a:sym typeface="Nunito Sans"/>
              </a:rPr>
              <a:t>Held-out AUC before the date: full model 0.542, stepwise 0.559. With the date ratings: 0.780 and 0.835.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</p:bgPr>
    </p:bg>
    <p:spTree>
      <p:nvGrpSpPr>
        <p:cNvPr id="1" name=""/>
        <p:cNvGrpSpPr/>
        <p:nvPr/>
      </p:nvGrpSpPr>
      <p:grpSpPr/>
      <p:sp>
        <p:nvSpPr>
          <p:cNvPr id="384" name="Google Shape;384;p21"/>
          <p:cNvSpPr/>
          <p:nvPr/>
        </p:nvSpPr>
        <p:spPr>
          <a:xfrm>
            <a:off x="813816" y="813816"/>
            <a:ext cx="108813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B23A55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B23A55"/>
                </a:solidFill>
                <a:latin typeface="Nunito Sans"/>
                <a:ea typeface="Nunito Sans"/>
                <a:cs typeface="Nunito Sans"/>
                <a:sym typeface="Nunito Sans"/>
              </a:rPr>
              <a:t>4 · TECHNICAL IMPLEMENTATION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21"/>
          <p:cNvSpPr/>
          <p:nvPr/>
        </p:nvSpPr>
        <p:spPr>
          <a:xfrm>
            <a:off x="813816" y="1179576"/>
            <a:ext cx="108813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B2440"/>
              </a:buClr>
              <a:buSzPts val="3200"/>
              <a:buFont typeface="Nunito"/>
              <a:buNone/>
            </a:pPr>
            <a:r>
              <a:rPr b="1" i="0" lang="en-US" sz="3200" u="none" cap="none" strike="noStrike">
                <a:solidFill>
                  <a:srgbClr val="1B2440"/>
                </a:solidFill>
                <a:latin typeface="Nunito"/>
                <a:ea typeface="Nunito"/>
                <a:cs typeface="Nunito"/>
                <a:sym typeface="Nunito"/>
              </a:rPr>
              <a:t>LDA and QDA on our data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1"/>
          <p:cNvSpPr/>
          <p:nvPr/>
        </p:nvSpPr>
        <p:spPr>
          <a:xfrm>
            <a:off x="813816" y="6291072"/>
            <a:ext cx="108813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646A79"/>
              </a:buClr>
              <a:buSzPts val="1200"/>
              <a:buFont typeface="Nunito Sans"/>
              <a:buNone/>
            </a:pPr>
            <a:r>
              <a:rPr b="0" i="0" lang="en-US" sz="1200" u="none" cap="none" strike="noStrike">
                <a:solidFill>
                  <a:srgbClr val="646A79"/>
                </a:solidFill>
                <a:latin typeface="Nunito Sans"/>
                <a:ea typeface="Nunito Sans"/>
                <a:cs typeface="Nunito Sans"/>
                <a:sym typeface="Nunito Sans"/>
              </a:rPr>
              <a:t>Math 195 · Speed dating · 17 · Regularized QDA: Friedman (1989); Hastie et al. (2009) §4.3.1 · Heatmaps: 8 of our predictors, 690 matched pairs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21"/>
          <p:cNvSpPr/>
          <p:nvPr/>
        </p:nvSpPr>
        <p:spPr>
          <a:xfrm>
            <a:off x="822960" y="1783080"/>
            <a:ext cx="4526280" cy="1417320"/>
          </a:xfrm>
          <a:prstGeom prst="roundRect">
            <a:avLst>
              <a:gd fmla="val 10870" name="adj"/>
            </a:avLst>
          </a:prstGeom>
          <a:solidFill>
            <a:srgbClr val="FFFFFF"/>
          </a:solidFill>
          <a:ln cap="flat" cmpd="sng" w="12700">
            <a:solidFill>
              <a:srgbClr val="EADF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21"/>
          <p:cNvSpPr/>
          <p:nvPr/>
        </p:nvSpPr>
        <p:spPr>
          <a:xfrm>
            <a:off x="1005840" y="1938528"/>
            <a:ext cx="4160520" cy="265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440"/>
              </a:buClr>
              <a:buSzPts val="1600"/>
              <a:buFont typeface="Nunito"/>
              <a:buNone/>
            </a:pPr>
            <a:r>
              <a:rPr b="1" i="0" lang="en-US" sz="1600" u="none" cap="none" strike="noStrike">
                <a:solidFill>
                  <a:srgbClr val="1B2440"/>
                </a:solidFill>
                <a:latin typeface="Nunito"/>
                <a:ea typeface="Nunito"/>
                <a:cs typeface="Nunito"/>
                <a:sym typeface="Nunito"/>
              </a:rPr>
              <a:t>LDA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1"/>
          <p:cNvSpPr/>
          <p:nvPr/>
        </p:nvSpPr>
        <p:spPr>
          <a:xfrm>
            <a:off x="1005840" y="2240280"/>
            <a:ext cx="41605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5163"/>
              </a:buClr>
              <a:buSzPts val="1300"/>
              <a:buFont typeface="Nunito Sans"/>
              <a:buNone/>
            </a:pPr>
            <a:r>
              <a:rPr b="0" i="0" lang="en-US" sz="1300" u="none" cap="none" strike="noStrike">
                <a:solidFill>
                  <a:srgbClr val="4A5163"/>
                </a:solidFill>
                <a:latin typeface="Nunito Sans"/>
                <a:ea typeface="Nunito Sans"/>
                <a:cs typeface="Nunito Sans"/>
                <a:sym typeface="Nunito Sans"/>
              </a:rPr>
              <a:t>One covariance matrix shared by matches and non-matches. Prior: the training match rate, about 0.165. Nothing to tune.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21"/>
          <p:cNvSpPr/>
          <p:nvPr/>
        </p:nvSpPr>
        <p:spPr>
          <a:xfrm>
            <a:off x="822960" y="3337560"/>
            <a:ext cx="4526280" cy="2377440"/>
          </a:xfrm>
          <a:prstGeom prst="roundRect">
            <a:avLst>
              <a:gd fmla="val 10870" name="adj"/>
            </a:avLst>
          </a:prstGeom>
          <a:solidFill>
            <a:srgbClr val="FFFFFF"/>
          </a:solidFill>
          <a:ln cap="flat" cmpd="sng" w="12700">
            <a:solidFill>
              <a:srgbClr val="EADF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21"/>
          <p:cNvSpPr/>
          <p:nvPr/>
        </p:nvSpPr>
        <p:spPr>
          <a:xfrm>
            <a:off x="1005840" y="3493008"/>
            <a:ext cx="4160520" cy="265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440"/>
              </a:buClr>
              <a:buSzPts val="1600"/>
              <a:buFont typeface="Nunito"/>
              <a:buNone/>
            </a:pPr>
            <a:r>
              <a:rPr b="1" i="0" lang="en-US" sz="1600" u="none" cap="none" strike="noStrike">
                <a:solidFill>
                  <a:srgbClr val="1B2440"/>
                </a:solidFill>
                <a:latin typeface="Nunito"/>
                <a:ea typeface="Nunito"/>
                <a:cs typeface="Nunito"/>
                <a:sym typeface="Nunito"/>
              </a:rPr>
              <a:t>QDA, regularized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1"/>
          <p:cNvSpPr/>
          <p:nvPr/>
        </p:nvSpPr>
        <p:spPr>
          <a:xfrm>
            <a:off x="1005840" y="3794760"/>
            <a:ext cx="41605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5163"/>
              </a:buClr>
              <a:buSzPts val="1300"/>
              <a:buFont typeface="Nunito Sans"/>
              <a:buNone/>
            </a:pPr>
            <a:r>
              <a:rPr b="0" i="0" lang="en-US" sz="1300" u="none" cap="none" strike="noStrike">
                <a:solidFill>
                  <a:srgbClr val="4A5163"/>
                </a:solidFill>
                <a:latin typeface="Nunito Sans"/>
                <a:ea typeface="Nunito Sans"/>
                <a:cs typeface="Nunito Sans"/>
                <a:sym typeface="Nunito Sans"/>
              </a:rPr>
              <a:t>Its own covariance matrix for the matches: about 8,000 numbers from about 550 matches. So we shrink it toward “no correlation”: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7" name="Picture 396" descr="slide_eq_shr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4645152"/>
            <a:ext cx="2636637" cy="384048"/>
          </a:xfrm>
          <a:prstGeom prst="rect">
            <a:avLst/>
          </a:prstGeom>
        </p:spPr>
      </p:pic>
      <p:sp>
        <p:nvSpPr>
          <p:cNvPr id="388" name="Google Shape;388;p21"/>
          <p:cNvSpPr/>
          <p:nvPr/>
        </p:nvSpPr>
        <p:spPr>
          <a:xfrm>
            <a:off x="1005840" y="5138928"/>
            <a:ext cx="41605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A5163"/>
              </a:buClr>
              <a:buSzPts val="1300"/>
              <a:buFont typeface="Nunito Sans"/>
              <a:buNone/>
            </a:pPr>
            <a:r>
              <a:rPr b="0" i="0" lang="en-US" sz="1300" u="none" cap="none" strike="noStrike">
                <a:solidFill>
                  <a:srgbClr val="4A5163"/>
                </a:solidFill>
                <a:latin typeface="Nunito Sans"/>
                <a:ea typeface="Nunito Sans"/>
                <a:cs typeface="Nunito Sans"/>
                <a:sym typeface="Nunito Sans"/>
              </a:rPr>
              <a:t>Inner CV picked r = 0.9 in all 10 fits.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8" name="Picture 397" descr="slide_qda_shr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783080"/>
            <a:ext cx="5852160" cy="3017759"/>
          </a:xfrm>
          <a:prstGeom prst="rect">
            <a:avLst/>
          </a:prstGeom>
        </p:spPr>
      </p:pic>
      <p:sp>
        <p:nvSpPr>
          <p:cNvPr id="458" name="Google Shape;458;p25"/>
          <p:cNvSpPr/>
          <p:nvPr/>
        </p:nvSpPr>
        <p:spPr>
          <a:xfrm>
            <a:off x="5532120" y="4846320"/>
            <a:ext cx="5852160" cy="868680"/>
          </a:xfrm>
          <a:prstGeom prst="roundRect">
            <a:avLst>
              <a:gd fmla="val 17914" name="adj"/>
            </a:avLst>
          </a:prstGeom>
          <a:solidFill>
            <a:srgbClr val="F6ECE9"/>
          </a:solidFill>
          <a:ln cap="flat" cmpd="sng" w="12700">
            <a:solidFill>
              <a:srgbClr val="EADF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59" name="Picture 4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3288" y="5134355"/>
            <a:ext cx="232600" cy="301752"/>
          </a:xfrm>
          <a:prstGeom prst="rect">
            <a:avLst/>
          </a:prstGeom>
        </p:spPr>
      </p:pic>
      <p:sp>
        <p:nvSpPr>
          <p:cNvPr id="460" name="Google Shape;460;p25"/>
          <p:cNvSpPr/>
          <p:nvPr/>
        </p:nvSpPr>
        <p:spPr>
          <a:xfrm>
            <a:off x="6099048" y="4937759"/>
            <a:ext cx="516636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B2440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1B2440"/>
                </a:solidFill>
                <a:latin typeface="Nunito Sans"/>
                <a:ea typeface="Nunito Sans"/>
                <a:cs typeface="Nunito Sans"/>
                <a:sym typeface="Nunito Sans"/>
              </a:rPr>
              <a:t>Before the date: </a:t>
            </a:r>
            <a:r>
              <a:rPr b="0" i="0" lang="en-US" sz="1400" u="none" cap="none" strike="noStrike">
                <a:solidFill>
                  <a:srgbClr val="1B2440"/>
                </a:solidFill>
                <a:latin typeface="Nunito Sans"/>
                <a:ea typeface="Nunito Sans"/>
                <a:cs typeface="Nunito Sans"/>
                <a:sym typeface="Nunito Sans"/>
              </a:rPr>
              <a:t>LDA 0.553, regularized QDA 0.579. With the date ratings: 0.790 and 0.836.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