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Jenna Jia Yang"/>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Now how we actually ran the models. The key fact about this data is that people repeat: each person dates up to 22 partners, so the 4,184 pairs share people. If we split pairs at random, the same person would be in both the training and the test set, and the model could partly recognize them. That makes the scores look better than they would be for a matchmaker meeting new people. So we split by event instead. The picture shows the five rounds: in each round the orange events are held out and scored, and the model is fitted on the blue ones. Every event is held out exactly once. When a model has a setting to tune, we tune it with a second cross-validation inside the blue events only, and all data preparation, like filling in missing values with medians, is learned from the training events too. Nothing about the test events leaks into the fit.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model has choices to make, and every choice is made inside the training events. Logistic regression may bend a few continuous predictors into a curve, but only when the Bayesian information criterion says the curve helps, and it never did. Stepwise selection adds or removes whole predictors by the same criterion. QDA's shrinkage, the forest's leaf size and the lasso's penalty are tuned on the inner folds, again grouped by event. Because only one pair in six matches, we call a pair a match when its predicted probability beats the training match rate, about 0.165, rather than 0.5. One telling detail: in every fold QDA chose the strongest shrinkage, the forest chose the largest leaves, and no curve beat a straight line. Before the date, the signal is too weak to support flexible fits.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These are the tools we used that go a little beyond the course textbook, each for a specific reason. Event-grouped and nested cross-validation are what I just described. Regularized QDA exists because QDA needs a separate covariance matrix for the matches, and with only about 550 matches in a training fold that matrix is estimated poorly, so we shrink it toward a simpler one. The lasso for logistic regression is the same penalty as in the textbook, applied to the logistic likelihood. Our standard errors are clustered by event, because pairs from the same evening tend to be predicted well or badly together, so treating them as independent would make our error bars too small. The AUC's standard error is clustered the same way. Finally, every hypothesis and its threshold was committed to our repository before we ran its test, so the results Jenna showed are not tuned after the fact.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 is the plan for the second half. First, honest error bars. Because the same people appear in many pairs, the usual error bars on a cross-validated result may be too narrow. We want to know by how much, and which error bars can be trusted, and we check that on simulated data built to look like ours. Second, two follow-up questions: who is most desirable, ranked within each event with honest uncertainty about each rank, and whether people know who likes them, which we can score because participants guessed whether each partner would say yes. In week 7 we also add single trees, bagging and boosting, and check whether the order of the evening matters. Week 8 we freeze the results and draft the poster, and weeks 9 and 10 are the final report, poster and presentation.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implementation: hold out whole events</a:t>
            </a:r>
          </a:p>
        </p:txBody>
      </p:sp>
      <p:sp>
        <p:nvSpPr>
          <p:cNvPr id="3" name="Text Placeholder 2"/>
          <p:cNvSpPr>
            <a:spLocks noGrp="1"/>
          </p:cNvSpPr>
          <p:nvPr>
            <p:ph type="body" idx="1"/>
          </p:nvPr>
        </p:nvSpPr>
        <p:spPr>
          <a:xfrm>
            <a:off x="310896" y="1024128"/>
            <a:ext cx="8522208" cy="1554480"/>
          </a:xfrm>
        </p:spPr>
        <p:txBody>
          <a:bodyPr/>
          <a:lstStyle/>
          <a:p>
            <a:pPr>
              <a:spcBef>
                <a:spcPts val="0"/>
              </a:spcBef>
              <a:spcAft>
                <a:spcPts val="500"/>
              </a:spcAft>
            </a:pPr>
            <a:r>
              <a:rPr sz="1300">
                <a:solidFill>
                  <a:srgbClr val="595959"/>
                </a:solidFill>
              </a:rPr>
              <a:t>Each person dates up to 22 partners, so a random split puts the same person in training and test, and the scores look better than they would for new people.</a:t>
            </a:r>
          </a:p>
          <a:p>
            <a:pPr>
              <a:spcBef>
                <a:spcPts val="0"/>
              </a:spcBef>
              <a:spcAft>
                <a:spcPts val="500"/>
              </a:spcAft>
            </a:pPr>
            <a:r>
              <a:rPr sz="1300">
                <a:solidFill>
                  <a:srgbClr val="595959"/>
                </a:solidFill>
              </a:rPr>
              <a:t>So each round of 5-fold cross-validation holds out whole events; each of the 21 events is held out once.</a:t>
            </a:r>
          </a:p>
          <a:p>
            <a:pPr>
              <a:spcBef>
                <a:spcPts val="0"/>
              </a:spcBef>
              <a:spcAft>
                <a:spcPts val="500"/>
              </a:spcAft>
            </a:pPr>
            <a:r>
              <a:rPr sz="1300">
                <a:solidFill>
                  <a:srgbClr val="595959"/>
                </a:solidFill>
              </a:rPr>
              <a:t>Tuning (an inner cross-validation) and data preparation (medians, log transforms, standardizing) use the training events only.</a:t>
            </a:r>
          </a:p>
        </p:txBody>
      </p:sp>
      <p:pic>
        <p:nvPicPr>
          <p:cNvPr id="4" name="Picture 3" descr="slide_cv_design.png"/>
          <p:cNvPicPr>
            <a:picLocks noChangeAspect="1"/>
          </p:cNvPicPr>
          <p:nvPr/>
        </p:nvPicPr>
        <p:blipFill>
          <a:blip r:embed="rId2"/>
          <a:stretch>
            <a:fillRect/>
          </a:stretch>
        </p:blipFill>
        <p:spPr>
          <a:xfrm>
            <a:off x="1417320" y="2697480"/>
            <a:ext cx="6309360" cy="1958360"/>
          </a:xfrm>
          <a:prstGeom prst="rect">
            <a:avLst/>
          </a:prstGeom>
        </p:spPr>
      </p:pic>
      <p:sp>
        <p:nvSpPr>
          <p:cNvPr id="5" name="TextBox 4"/>
          <p:cNvSpPr txBox="1"/>
          <p:nvPr/>
        </p:nvSpPr>
        <p:spPr>
          <a:xfrm>
            <a:off x="310896" y="4681728"/>
            <a:ext cx="8522208" cy="365760"/>
          </a:xfrm>
          <a:prstGeom prst="rect">
            <a:avLst/>
          </a:prstGeom>
          <a:noFill/>
        </p:spPr>
        <p:txBody>
          <a:bodyPr wrap="square">
            <a:spAutoFit/>
          </a:bodyPr>
          <a:lstStyle/>
          <a:p>
            <a:r>
              <a:rPr sz="800">
                <a:solidFill>
                  <a:srgbClr val="808080"/>
                </a:solidFill>
              </a:rPr>
              <a:t>Grouped cross-validation: Roberts et al. (2017), Ecography 40(8):913-929. Nested cross-validation: Varma &amp; Simon (2006), BMC Bioinformatics 7:91; Hastie, Tibshirani &amp; Friedman (2009), The Elements of Statistical Learning, 2nd ed., Section 7.10.2.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each model was fitted</a:t>
            </a:r>
          </a:p>
        </p:txBody>
      </p:sp>
      <p:graphicFrame>
        <p:nvGraphicFramePr>
          <p:cNvPr id="3" name="Table 2"/>
          <p:cNvGraphicFramePr>
            <a:graphicFrameLocks noGrp="1"/>
          </p:cNvGraphicFramePr>
          <p:nvPr/>
        </p:nvGraphicFramePr>
        <p:xfrm>
          <a:off x="310896" y="1097280"/>
          <a:ext cx="8503920" cy="1920240"/>
        </p:xfrm>
        <a:graphic>
          <a:graphicData uri="http://schemas.openxmlformats.org/drawingml/2006/table">
            <a:tbl>
              <a:tblPr firstRow="1">
                <a:tableStyleId>{2D5ABB26-0587-4C30-8999-92F81FD0307C}</a:tableStyleId>
              </a:tblPr>
              <a:tblGrid>
                <a:gridCol w="1828800"/>
                <a:gridCol w="3474720"/>
                <a:gridCol w="3200400"/>
              </a:tblGrid>
              <a:tr h="274320">
                <a:tc>
                  <a:txBody>
                    <a:bodyPr/>
                    <a:lstStyle/>
                    <a:p>
                      <a:r>
                        <a:rPr sz="1200" b="1">
                          <a:solidFill>
                            <a:srgbClr val="000000"/>
                          </a:solidFill>
                        </a:rPr>
                        <a:t>Model</a:t>
                      </a:r>
                    </a:p>
                  </a:txBody>
                  <a:tcPr marL="54864" marR="54864" marT="27432" marB="27432">
                    <a:solidFill>
                      <a:srgbClr val="F3F3F3"/>
                    </a:solidFill>
                    <a:lnB w="12700" cap="flat" cmpd="sng" algn="ctr">
                      <a:solidFill>
                        <a:srgbClr val="B7B7B7"/>
                      </a:solidFill>
                      <a:prstDash val="solid"/>
                    </a:lnB>
                  </a:tcPr>
                </a:tc>
                <a:tc>
                  <a:txBody>
                    <a:bodyPr/>
                    <a:lstStyle/>
                    <a:p>
                      <a:r>
                        <a:rPr sz="1200" b="1">
                          <a:solidFill>
                            <a:srgbClr val="000000"/>
                          </a:solidFill>
                        </a:rPr>
                        <a:t>What it chooses</a:t>
                      </a:r>
                    </a:p>
                  </a:txBody>
                  <a:tcPr marL="54864" marR="54864" marT="27432" marB="27432">
                    <a:solidFill>
                      <a:srgbClr val="F3F3F3"/>
                    </a:solidFill>
                    <a:lnB w="12700" cap="flat" cmpd="sng" algn="ctr">
                      <a:solidFill>
                        <a:srgbClr val="B7B7B7"/>
                      </a:solidFill>
                      <a:prstDash val="solid"/>
                    </a:lnB>
                  </a:tcPr>
                </a:tc>
                <a:tc>
                  <a:txBody>
                    <a:bodyPr/>
                    <a:lstStyle/>
                    <a:p>
                      <a:r>
                        <a:rPr sz="1200" b="1">
                          <a:solidFill>
                            <a:srgbClr val="000000"/>
                          </a:solidFill>
                        </a:rPr>
                        <a:t>How it chooses</a:t>
                      </a:r>
                    </a:p>
                  </a:txBody>
                  <a:tcPr marL="54864" marR="54864" marT="27432" marB="27432">
                    <a:solidFill>
                      <a:srgbClr val="F3F3F3"/>
                    </a:solidFill>
                    <a:lnB w="12700" cap="flat" cmpd="sng" algn="ctr">
                      <a:solidFill>
                        <a:srgbClr val="B7B7B7"/>
                      </a:solidFill>
                      <a:prstDash val="solid"/>
                    </a:lnB>
                  </a:tcPr>
                </a:tc>
              </a:tr>
              <a:tr h="274320">
                <a:tc>
                  <a:txBody>
                    <a:bodyPr/>
                    <a:lstStyle/>
                    <a:p>
                      <a:r>
                        <a:rPr sz="1200" b="1">
                          <a:solidFill>
                            <a:srgbClr val="595959"/>
                          </a:solidFill>
                        </a:rPr>
                        <a:t>Logistic regression</a:t>
                      </a:r>
                    </a:p>
                  </a:txBody>
                  <a:tcPr marL="54864" marR="54864" marT="27432" marB="27432">
                    <a:solidFill>
                      <a:srgbClr val="FFFFFF"/>
                    </a:solidFill>
                    <a:lnB w="12700" cap="flat" cmpd="sng" algn="ctr">
                      <a:solidFill>
                        <a:srgbClr val="B7B7B7"/>
                      </a:solidFill>
                      <a:prstDash val="solid"/>
                    </a:lnB>
                  </a:tcPr>
                </a:tc>
                <a:tc>
                  <a:txBody>
                    <a:bodyPr/>
                    <a:lstStyle/>
                    <a:p>
                      <a:r>
                        <a:rPr sz="1200" b="0">
                          <a:solidFill>
                            <a:srgbClr val="595959"/>
                          </a:solidFill>
                        </a:rPr>
                        <a:t>a curve (spline) for age, age gap, interests, preference fit</a:t>
                      </a:r>
                    </a:p>
                  </a:txBody>
                  <a:tcPr marL="54864" marR="54864" marT="27432" marB="27432">
                    <a:solidFill>
                      <a:srgbClr val="FFFFFF"/>
                    </a:solidFill>
                    <a:lnB w="12700" cap="flat" cmpd="sng" algn="ctr">
                      <a:solidFill>
                        <a:srgbClr val="B7B7B7"/>
                      </a:solidFill>
                      <a:prstDash val="solid"/>
                    </a:lnB>
                  </a:tcPr>
                </a:tc>
                <a:tc>
                  <a:txBody>
                    <a:bodyPr/>
                    <a:lstStyle/>
                    <a:p>
                      <a:r>
                        <a:rPr sz="1200" b="0">
                          <a:solidFill>
                            <a:srgbClr val="595959"/>
                          </a:solidFill>
                        </a:rPr>
                        <a:t>only if BIC improves (it never did)</a:t>
                      </a:r>
                    </a:p>
                  </a:txBody>
                  <a:tcPr marL="54864" marR="54864" marT="27432" marB="27432">
                    <a:solidFill>
                      <a:srgbClr val="FFFFFF"/>
                    </a:solidFill>
                    <a:lnB w="12700" cap="flat" cmpd="sng" algn="ctr">
                      <a:solidFill>
                        <a:srgbClr val="B7B7B7"/>
                      </a:solidFill>
                      <a:prstDash val="solid"/>
                    </a:lnB>
                  </a:tcPr>
                </a:tc>
              </a:tr>
              <a:tr h="274320">
                <a:tc>
                  <a:txBody>
                    <a:bodyPr/>
                    <a:lstStyle/>
                    <a:p>
                      <a:r>
                        <a:rPr sz="1200" b="1">
                          <a:solidFill>
                            <a:srgbClr val="595959"/>
                          </a:solidFill>
                        </a:rPr>
                        <a:t>Stepwise logistic</a:t>
                      </a:r>
                    </a:p>
                  </a:txBody>
                  <a:tcPr marL="54864" marR="54864" marT="27432" marB="27432">
                    <a:solidFill>
                      <a:srgbClr val="FFFFFF"/>
                    </a:solidFill>
                    <a:lnB w="12700" cap="flat" cmpd="sng" algn="ctr">
                      <a:solidFill>
                        <a:srgbClr val="B7B7B7"/>
                      </a:solidFill>
                      <a:prstDash val="solid"/>
                    </a:lnB>
                  </a:tcPr>
                </a:tc>
                <a:tc>
                  <a:txBody>
                    <a:bodyPr/>
                    <a:lstStyle/>
                    <a:p>
                      <a:r>
                        <a:rPr sz="1200" b="0">
                          <a:solidFill>
                            <a:srgbClr val="595959"/>
                          </a:solidFill>
                        </a:rPr>
                        <a:t>which predictors enter</a:t>
                      </a:r>
                    </a:p>
                  </a:txBody>
                  <a:tcPr marL="54864" marR="54864" marT="27432" marB="27432">
                    <a:solidFill>
                      <a:srgbClr val="FFFFFF"/>
                    </a:solidFill>
                    <a:lnB w="12700" cap="flat" cmpd="sng" algn="ctr">
                      <a:solidFill>
                        <a:srgbClr val="B7B7B7"/>
                      </a:solidFill>
                      <a:prstDash val="solid"/>
                    </a:lnB>
                  </a:tcPr>
                </a:tc>
                <a:tc>
                  <a:txBody>
                    <a:bodyPr/>
                    <a:lstStyle/>
                    <a:p>
                      <a:r>
                        <a:rPr sz="1200" b="0">
                          <a:solidFill>
                            <a:srgbClr val="595959"/>
                          </a:solidFill>
                        </a:rPr>
                        <a:t>BIC: forward, backward, both</a:t>
                      </a:r>
                    </a:p>
                  </a:txBody>
                  <a:tcPr marL="54864" marR="54864" marT="27432" marB="27432">
                    <a:solidFill>
                      <a:srgbClr val="FFFFFF"/>
                    </a:solidFill>
                    <a:lnB w="12700" cap="flat" cmpd="sng" algn="ctr">
                      <a:solidFill>
                        <a:srgbClr val="B7B7B7"/>
                      </a:solidFill>
                      <a:prstDash val="solid"/>
                    </a:lnB>
                  </a:tcPr>
                </a:tc>
              </a:tr>
              <a:tr h="274320">
                <a:tc>
                  <a:txBody>
                    <a:bodyPr/>
                    <a:lstStyle/>
                    <a:p>
                      <a:r>
                        <a:rPr sz="1200" b="1">
                          <a:solidFill>
                            <a:srgbClr val="595959"/>
                          </a:solidFill>
                        </a:rPr>
                        <a:t>LDA</a:t>
                      </a:r>
                    </a:p>
                  </a:txBody>
                  <a:tcPr marL="54864" marR="54864" marT="27432" marB="27432">
                    <a:solidFill>
                      <a:srgbClr val="FFFFFF"/>
                    </a:solidFill>
                    <a:lnB w="12700" cap="flat" cmpd="sng" algn="ctr">
                      <a:solidFill>
                        <a:srgbClr val="B7B7B7"/>
                      </a:solidFill>
                      <a:prstDash val="solid"/>
                    </a:lnB>
                  </a:tcPr>
                </a:tc>
                <a:tc>
                  <a:txBody>
                    <a:bodyPr/>
                    <a:lstStyle/>
                    <a:p>
                      <a:r>
                        <a:rPr sz="1200" b="0">
                          <a:solidFill>
                            <a:srgbClr val="595959"/>
                          </a:solidFill>
                        </a:rPr>
                        <a:t>nothing to tune</a:t>
                      </a:r>
                    </a:p>
                  </a:txBody>
                  <a:tcPr marL="54864" marR="54864" marT="27432" marB="27432">
                    <a:solidFill>
                      <a:srgbClr val="FFFFFF"/>
                    </a:solidFill>
                    <a:lnB w="12700" cap="flat" cmpd="sng" algn="ctr">
                      <a:solidFill>
                        <a:srgbClr val="B7B7B7"/>
                      </a:solidFill>
                      <a:prstDash val="solid"/>
                    </a:lnB>
                  </a:tcPr>
                </a:tc>
                <a:tc>
                  <a:txBody>
                    <a:bodyPr/>
                    <a:lstStyle/>
                    <a:p>
                      <a:r>
                        <a:rPr sz="1200" b="0">
                          <a:solidFill>
                            <a:srgbClr val="595959"/>
                          </a:solidFill>
                        </a:rPr>
                        <a:t>priors from the training match rate</a:t>
                      </a:r>
                    </a:p>
                  </a:txBody>
                  <a:tcPr marL="54864" marR="54864" marT="27432" marB="27432">
                    <a:solidFill>
                      <a:srgbClr val="FFFFFF"/>
                    </a:solidFill>
                    <a:lnB w="12700" cap="flat" cmpd="sng" algn="ctr">
                      <a:solidFill>
                        <a:srgbClr val="B7B7B7"/>
                      </a:solidFill>
                      <a:prstDash val="solid"/>
                    </a:lnB>
                  </a:tcPr>
                </a:tc>
              </a:tr>
              <a:tr h="274320">
                <a:tc>
                  <a:txBody>
                    <a:bodyPr/>
                    <a:lstStyle/>
                    <a:p>
                      <a:r>
                        <a:rPr sz="1200" b="1">
                          <a:solidFill>
                            <a:srgbClr val="595959"/>
                          </a:solidFill>
                        </a:rPr>
                        <a:t>QDA (regularized)</a:t>
                      </a:r>
                    </a:p>
                  </a:txBody>
                  <a:tcPr marL="54864" marR="54864" marT="27432" marB="27432">
                    <a:solidFill>
                      <a:srgbClr val="FFFFFF"/>
                    </a:solidFill>
                    <a:lnB w="12700" cap="flat" cmpd="sng" algn="ctr">
                      <a:solidFill>
                        <a:srgbClr val="B7B7B7"/>
                      </a:solidFill>
                      <a:prstDash val="solid"/>
                    </a:lnB>
                  </a:tcPr>
                </a:tc>
                <a:tc>
                  <a:txBody>
                    <a:bodyPr/>
                    <a:lstStyle/>
                    <a:p>
                      <a:r>
                        <a:rPr sz="1200" b="0">
                          <a:solidFill>
                            <a:srgbClr val="595959"/>
                          </a:solidFill>
                        </a:rPr>
                        <a:t>shrinkage r from 0.1 to 0.9</a:t>
                      </a:r>
                    </a:p>
                  </a:txBody>
                  <a:tcPr marL="54864" marR="54864" marT="27432" marB="27432">
                    <a:solidFill>
                      <a:srgbClr val="FFFFFF"/>
                    </a:solidFill>
                    <a:lnB w="12700" cap="flat" cmpd="sng" algn="ctr">
                      <a:solidFill>
                        <a:srgbClr val="B7B7B7"/>
                      </a:solidFill>
                      <a:prstDash val="solid"/>
                    </a:lnB>
                  </a:tcPr>
                </a:tc>
                <a:tc>
                  <a:txBody>
                    <a:bodyPr/>
                    <a:lstStyle/>
                    <a:p>
                      <a:r>
                        <a:rPr sz="1200" b="0">
                          <a:solidFill>
                            <a:srgbClr val="595959"/>
                          </a:solidFill>
                        </a:rPr>
                        <a:t>best AUC on inner event folds (chose 0.9)</a:t>
                      </a:r>
                    </a:p>
                  </a:txBody>
                  <a:tcPr marL="54864" marR="54864" marT="27432" marB="27432">
                    <a:solidFill>
                      <a:srgbClr val="FFFFFF"/>
                    </a:solidFill>
                    <a:lnB w="12700" cap="flat" cmpd="sng" algn="ctr">
                      <a:solidFill>
                        <a:srgbClr val="B7B7B7"/>
                      </a:solidFill>
                      <a:prstDash val="solid"/>
                    </a:lnB>
                  </a:tcPr>
                </a:tc>
              </a:tr>
              <a:tr h="274320">
                <a:tc>
                  <a:txBody>
                    <a:bodyPr/>
                    <a:lstStyle/>
                    <a:p>
                      <a:r>
                        <a:rPr sz="1200" b="1">
                          <a:solidFill>
                            <a:srgbClr val="595959"/>
                          </a:solidFill>
                        </a:rPr>
                        <a:t>Random forest</a:t>
                      </a:r>
                    </a:p>
                  </a:txBody>
                  <a:tcPr marL="54864" marR="54864" marT="27432" marB="27432">
                    <a:solidFill>
                      <a:srgbClr val="FFFFFF"/>
                    </a:solidFill>
                    <a:lnB w="12700" cap="flat" cmpd="sng" algn="ctr">
                      <a:solidFill>
                        <a:srgbClr val="B7B7B7"/>
                      </a:solidFill>
                      <a:prstDash val="solid"/>
                    </a:lnB>
                  </a:tcPr>
                </a:tc>
                <a:tc>
                  <a:txBody>
                    <a:bodyPr/>
                    <a:lstStyle/>
                    <a:p>
                      <a:r>
                        <a:rPr sz="1200" b="0">
                          <a:solidFill>
                            <a:srgbClr val="595959"/>
                          </a:solidFill>
                        </a:rPr>
                        <a:t>minimum leaf size 1, 5, 20 or 50; 500 trees, √p predictors per split</a:t>
                      </a:r>
                    </a:p>
                  </a:txBody>
                  <a:tcPr marL="54864" marR="54864" marT="27432" marB="27432">
                    <a:solidFill>
                      <a:srgbClr val="FFFFFF"/>
                    </a:solidFill>
                    <a:lnB w="12700" cap="flat" cmpd="sng" algn="ctr">
                      <a:solidFill>
                        <a:srgbClr val="B7B7B7"/>
                      </a:solidFill>
                      <a:prstDash val="solid"/>
                    </a:lnB>
                  </a:tcPr>
                </a:tc>
                <a:tc>
                  <a:txBody>
                    <a:bodyPr/>
                    <a:lstStyle/>
                    <a:p>
                      <a:r>
                        <a:rPr sz="1200" b="0">
                          <a:solidFill>
                            <a:srgbClr val="595959"/>
                          </a:solidFill>
                        </a:rPr>
                        <a:t>best AUC on inner event folds (chose 50 before the date)</a:t>
                      </a:r>
                    </a:p>
                  </a:txBody>
                  <a:tcPr marL="54864" marR="54864" marT="27432" marB="27432">
                    <a:solidFill>
                      <a:srgbClr val="FFFFFF"/>
                    </a:solidFill>
                    <a:lnB w="12700" cap="flat" cmpd="sng" algn="ctr">
                      <a:solidFill>
                        <a:srgbClr val="B7B7B7"/>
                      </a:solidFill>
                      <a:prstDash val="solid"/>
                    </a:lnB>
                  </a:tcPr>
                </a:tc>
              </a:tr>
              <a:tr h="274320">
                <a:tc>
                  <a:txBody>
                    <a:bodyPr/>
                    <a:lstStyle/>
                    <a:p>
                      <a:r>
                        <a:rPr sz="1200" b="1">
                          <a:solidFill>
                            <a:srgbClr val="595959"/>
                          </a:solidFill>
                        </a:rPr>
                        <a:t>Lasso (L1 logistic)*</a:t>
                      </a:r>
                    </a:p>
                  </a:txBody>
                  <a:tcPr marL="54864" marR="54864" marT="27432" marB="27432">
                    <a:solidFill>
                      <a:srgbClr val="FFFFFF"/>
                    </a:solidFill>
                    <a:lnB w="12700" cap="flat" cmpd="sng" algn="ctr">
                      <a:solidFill>
                        <a:srgbClr val="B7B7B7"/>
                      </a:solidFill>
                      <a:prstDash val="solid"/>
                    </a:lnB>
                  </a:tcPr>
                </a:tc>
                <a:tc>
                  <a:txBody>
                    <a:bodyPr/>
                    <a:lstStyle/>
                    <a:p>
                      <a:r>
                        <a:rPr sz="1200" b="0">
                          <a:solidFill>
                            <a:srgbClr val="595959"/>
                          </a:solidFill>
                        </a:rPr>
                        <a:t>penalty strength, 30 values</a:t>
                      </a:r>
                    </a:p>
                  </a:txBody>
                  <a:tcPr marL="54864" marR="54864" marT="27432" marB="27432">
                    <a:solidFill>
                      <a:srgbClr val="FFFFFF"/>
                    </a:solidFill>
                    <a:lnB w="12700" cap="flat" cmpd="sng" algn="ctr">
                      <a:solidFill>
                        <a:srgbClr val="B7B7B7"/>
                      </a:solidFill>
                      <a:prstDash val="solid"/>
                    </a:lnB>
                  </a:tcPr>
                </a:tc>
                <a:tc>
                  <a:txBody>
                    <a:bodyPr/>
                    <a:lstStyle/>
                    <a:p>
                      <a:r>
                        <a:rPr sz="1200" b="0">
                          <a:solidFill>
                            <a:srgbClr val="595959"/>
                          </a:solidFill>
                        </a:rPr>
                        <a:t>best AUC on inner event folds</a:t>
                      </a:r>
                    </a:p>
                  </a:txBody>
                  <a:tcPr marL="54864" marR="54864" marT="27432" marB="27432">
                    <a:solidFill>
                      <a:srgbClr val="FFFFFF"/>
                    </a:solidFill>
                    <a:lnB w="12700" cap="flat" cmpd="sng" algn="ctr">
                      <a:solidFill>
                        <a:srgbClr val="B7B7B7"/>
                      </a:solidFill>
                      <a:prstDash val="solid"/>
                    </a:lnB>
                  </a:tcPr>
                </a:tc>
              </a:tr>
            </a:tbl>
          </a:graphicData>
        </a:graphic>
      </p:graphicFrame>
      <p:sp>
        <p:nvSpPr>
          <p:cNvPr id="4" name="TextBox 3"/>
          <p:cNvSpPr txBox="1"/>
          <p:nvPr/>
        </p:nvSpPr>
        <p:spPr>
          <a:xfrm>
            <a:off x="310896" y="3794760"/>
            <a:ext cx="8522208" cy="822960"/>
          </a:xfrm>
          <a:prstGeom prst="rect">
            <a:avLst/>
          </a:prstGeom>
          <a:noFill/>
        </p:spPr>
        <p:txBody>
          <a:bodyPr wrap="square">
            <a:spAutoFit/>
          </a:bodyPr>
          <a:lstStyle/>
          <a:p>
            <a:r>
              <a:rPr sz="1200">
                <a:solidFill>
                  <a:srgbClr val="595959"/>
                </a:solidFill>
              </a:rPr>
              <a:t>Each model is fitted twice: pre (before the date) and pre+date (adds the in-date ratings).</a:t>
            </a:r>
          </a:p>
          <a:p>
            <a:r>
              <a:rPr sz="1200">
                <a:solidFill>
                  <a:srgbClr val="595959"/>
                </a:solidFill>
              </a:rPr>
              <a:t>A yes/no call uses the training match rate (about 0.165) as the cutoff, not 0.5: only 1 pair in 6 matches.</a:t>
            </a:r>
          </a:p>
          <a:p>
            <a:r>
              <a:rPr sz="1000">
                <a:solidFill>
                  <a:srgbClr val="808080"/>
                </a:solidFill>
              </a:rPr>
              <a:t>* Added after the pre-registered comparisons.</a:t>
            </a:r>
          </a:p>
        </p:txBody>
      </p:sp>
      <p:sp>
        <p:nvSpPr>
          <p:cNvPr id="5" name="TextBox 4"/>
          <p:cNvSpPr txBox="1"/>
          <p:nvPr/>
        </p:nvSpPr>
        <p:spPr>
          <a:xfrm>
            <a:off x="310896" y="4681728"/>
            <a:ext cx="8522208" cy="365760"/>
          </a:xfrm>
          <a:prstGeom prst="rect">
            <a:avLst/>
          </a:prstGeom>
          <a:noFill/>
        </p:spPr>
        <p:txBody>
          <a:bodyPr wrap="square">
            <a:spAutoFit/>
          </a:bodyPr>
          <a:lstStyle/>
          <a:p>
            <a:r>
              <a:rPr sz="800">
                <a:solidFill>
                  <a:srgbClr val="808080"/>
                </a:solidFill>
              </a:rPr>
              <a:t>Splines, BIC, stepwise selection and the lasso: James et al. (2023), ISLP, Sections 6.1, 6.2.2 and 7.4. Regularized QDA: Friedman (1989), JASA 84:165-175. Random forests: Breiman (2001), Machine Learning 45:5-32.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Beyond the textbook: what we added, and why</a:t>
            </a:r>
          </a:p>
        </p:txBody>
      </p:sp>
      <p:graphicFrame>
        <p:nvGraphicFramePr>
          <p:cNvPr id="3" name="Table 2"/>
          <p:cNvGraphicFramePr>
            <a:graphicFrameLocks noGrp="1"/>
          </p:cNvGraphicFramePr>
          <p:nvPr/>
        </p:nvGraphicFramePr>
        <p:xfrm>
          <a:off x="310896" y="1097280"/>
          <a:ext cx="8503920" cy="2194560"/>
        </p:xfrm>
        <a:graphic>
          <a:graphicData uri="http://schemas.openxmlformats.org/drawingml/2006/table">
            <a:tbl>
              <a:tblPr firstRow="1">
                <a:tableStyleId>{2D5ABB26-0587-4C30-8999-92F81FD0307C}</a:tableStyleId>
              </a:tblPr>
              <a:tblGrid>
                <a:gridCol w="2240280"/>
                <a:gridCol w="4343400"/>
                <a:gridCol w="1920240"/>
              </a:tblGrid>
              <a:tr h="274320">
                <a:tc>
                  <a:txBody>
                    <a:bodyPr/>
                    <a:lstStyle/>
                    <a:p>
                      <a:r>
                        <a:rPr sz="1050" b="1">
                          <a:solidFill>
                            <a:srgbClr val="000000"/>
                          </a:solidFill>
                        </a:rPr>
                        <a:t>Method</a:t>
                      </a:r>
                    </a:p>
                  </a:txBody>
                  <a:tcPr marL="54864" marR="54864" marT="27432" marB="27432">
                    <a:solidFill>
                      <a:srgbClr val="F3F3F3"/>
                    </a:solidFill>
                    <a:lnB w="12700" cap="flat" cmpd="sng" algn="ctr">
                      <a:solidFill>
                        <a:srgbClr val="B7B7B7"/>
                      </a:solidFill>
                      <a:prstDash val="solid"/>
                    </a:lnB>
                  </a:tcPr>
                </a:tc>
                <a:tc>
                  <a:txBody>
                    <a:bodyPr/>
                    <a:lstStyle/>
                    <a:p>
                      <a:r>
                        <a:rPr sz="1050" b="1">
                          <a:solidFill>
                            <a:srgbClr val="000000"/>
                          </a:solidFill>
                        </a:rPr>
                        <a:t>Why we used it</a:t>
                      </a:r>
                    </a:p>
                  </a:txBody>
                  <a:tcPr marL="54864" marR="54864" marT="27432" marB="27432">
                    <a:solidFill>
                      <a:srgbClr val="F3F3F3"/>
                    </a:solidFill>
                    <a:lnB w="12700" cap="flat" cmpd="sng" algn="ctr">
                      <a:solidFill>
                        <a:srgbClr val="B7B7B7"/>
                      </a:solidFill>
                      <a:prstDash val="solid"/>
                    </a:lnB>
                  </a:tcPr>
                </a:tc>
                <a:tc>
                  <a:txBody>
                    <a:bodyPr/>
                    <a:lstStyle/>
                    <a:p>
                      <a:r>
                        <a:rPr sz="1050" b="1">
                          <a:solidFill>
                            <a:srgbClr val="000000"/>
                          </a:solidFill>
                        </a:rPr>
                        <a:t>Source</a:t>
                      </a:r>
                    </a:p>
                  </a:txBody>
                  <a:tcPr marL="54864" marR="54864" marT="27432" marB="27432">
                    <a:solidFill>
                      <a:srgbClr val="F3F3F3"/>
                    </a:solidFill>
                    <a:lnB w="12700" cap="flat" cmpd="sng" algn="ctr">
                      <a:solidFill>
                        <a:srgbClr val="B7B7B7"/>
                      </a:solidFill>
                      <a:prstDash val="solid"/>
                    </a:lnB>
                  </a:tcPr>
                </a:tc>
              </a:tr>
              <a:tr h="274320">
                <a:tc>
                  <a:txBody>
                    <a:bodyPr/>
                    <a:lstStyle/>
                    <a:p>
                      <a:r>
                        <a:rPr sz="1050" b="1">
                          <a:solidFill>
                            <a:srgbClr val="595959"/>
                          </a:solidFill>
                        </a:rPr>
                        <a:t>Event-grouped cross-validation</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People repeat across pairs; a random split lets the model recognize them</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Roberts et al. 2017</a:t>
                      </a:r>
                    </a:p>
                  </a:txBody>
                  <a:tcPr marL="54864" marR="54864" marT="27432" marB="27432">
                    <a:solidFill>
                      <a:srgbClr val="FFFFFF"/>
                    </a:solidFill>
                    <a:lnB w="12700" cap="flat" cmpd="sng" algn="ctr">
                      <a:solidFill>
                        <a:srgbClr val="B7B7B7"/>
                      </a:solidFill>
                      <a:prstDash val="solid"/>
                    </a:lnB>
                  </a:tcPr>
                </a:tc>
              </a:tr>
              <a:tr h="274320">
                <a:tc>
                  <a:txBody>
                    <a:bodyPr/>
                    <a:lstStyle/>
                    <a:p>
                      <a:r>
                        <a:rPr sz="1050" b="1">
                          <a:solidFill>
                            <a:srgbClr val="595959"/>
                          </a:solidFill>
                        </a:rPr>
                        <a:t>Nested cross-validation</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Tuning and scoring on the same folds makes the score optimistic</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Varma &amp; Simon 2006</a:t>
                      </a:r>
                    </a:p>
                  </a:txBody>
                  <a:tcPr marL="54864" marR="54864" marT="27432" marB="27432">
                    <a:solidFill>
                      <a:srgbClr val="FFFFFF"/>
                    </a:solidFill>
                    <a:lnB w="12700" cap="flat" cmpd="sng" algn="ctr">
                      <a:solidFill>
                        <a:srgbClr val="B7B7B7"/>
                      </a:solidFill>
                      <a:prstDash val="solid"/>
                    </a:lnB>
                  </a:tcPr>
                </a:tc>
              </a:tr>
              <a:tr h="274320">
                <a:tc>
                  <a:txBody>
                    <a:bodyPr/>
                    <a:lstStyle/>
                    <a:p>
                      <a:r>
                        <a:rPr sz="1050" b="1">
                          <a:solidFill>
                            <a:srgbClr val="595959"/>
                          </a:solidFill>
                        </a:rPr>
                        <a:t>Regularized QDA</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About 550 matches per training fold is too few to estimate a full covariance matrix, so we shrink it toward a simpler one</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Friedman 1989</a:t>
                      </a:r>
                    </a:p>
                  </a:txBody>
                  <a:tcPr marL="54864" marR="54864" marT="27432" marB="27432">
                    <a:solidFill>
                      <a:srgbClr val="FFFFFF"/>
                    </a:solidFill>
                    <a:lnB w="12700" cap="flat" cmpd="sng" algn="ctr">
                      <a:solidFill>
                        <a:srgbClr val="B7B7B7"/>
                      </a:solidFill>
                      <a:prstDash val="solid"/>
                    </a:lnB>
                  </a:tcPr>
                </a:tc>
              </a:tr>
              <a:tr h="274320">
                <a:tc>
                  <a:txBody>
                    <a:bodyPr/>
                    <a:lstStyle/>
                    <a:p>
                      <a:r>
                        <a:rPr sz="1050" b="1">
                          <a:solidFill>
                            <a:srgbClr val="595959"/>
                          </a:solidFill>
                        </a:rPr>
                        <a:t>Lasso for logistic regression</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The textbook's lasso penalty on the logistic likelihood; drops weak predictors automatically</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Friedman, Hastie &amp; Tibshirani 2010</a:t>
                      </a:r>
                    </a:p>
                  </a:txBody>
                  <a:tcPr marL="54864" marR="54864" marT="27432" marB="27432">
                    <a:solidFill>
                      <a:srgbClr val="FFFFFF"/>
                    </a:solidFill>
                    <a:lnB w="12700" cap="flat" cmpd="sng" algn="ctr">
                      <a:solidFill>
                        <a:srgbClr val="B7B7B7"/>
                      </a:solidFill>
                      <a:prstDash val="solid"/>
                    </a:lnB>
                  </a:tcPr>
                </a:tc>
              </a:tr>
              <a:tr h="274320">
                <a:tc>
                  <a:txBody>
                    <a:bodyPr/>
                    <a:lstStyle/>
                    <a:p>
                      <a:r>
                        <a:rPr sz="1050" b="1">
                          <a:solidFill>
                            <a:srgbClr val="595959"/>
                          </a:solidFill>
                        </a:rPr>
                        <a:t>Standard errors clustered by event</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Pairs from one evening do well or badly together, so the usual standard error is too small</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Liang &amp; Zeger 1986; Cameron &amp; Miller 2015</a:t>
                      </a:r>
                    </a:p>
                  </a:txBody>
                  <a:tcPr marL="54864" marR="54864" marT="27432" marB="27432">
                    <a:solidFill>
                      <a:srgbClr val="FFFFFF"/>
                    </a:solidFill>
                    <a:lnB w="12700" cap="flat" cmpd="sng" algn="ctr">
                      <a:solidFill>
                        <a:srgbClr val="B7B7B7"/>
                      </a:solidFill>
                      <a:prstDash val="solid"/>
                    </a:lnB>
                  </a:tcPr>
                </a:tc>
              </a:tr>
              <a:tr h="274320">
                <a:tc>
                  <a:txBody>
                    <a:bodyPr/>
                    <a:lstStyle/>
                    <a:p>
                      <a:r>
                        <a:rPr sz="1050" b="1">
                          <a:solidFill>
                            <a:srgbClr val="595959"/>
                          </a:solidFill>
                        </a:rPr>
                        <a:t>Clustered standard error of the AUC</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The AUC is the chance a random match outranks a random non-match; its standard error is also added up by event</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Hanley &amp; McNeil 1982; Obuchowski 1997</a:t>
                      </a:r>
                    </a:p>
                  </a:txBody>
                  <a:tcPr marL="54864" marR="54864" marT="27432" marB="27432">
                    <a:solidFill>
                      <a:srgbClr val="FFFFFF"/>
                    </a:solidFill>
                    <a:lnB w="12700" cap="flat" cmpd="sng" algn="ctr">
                      <a:solidFill>
                        <a:srgbClr val="B7B7B7"/>
                      </a:solidFill>
                      <a:prstDash val="solid"/>
                    </a:lnB>
                  </a:tcPr>
                </a:tc>
              </a:tr>
              <a:tr h="274320">
                <a:tc>
                  <a:txBody>
                    <a:bodyPr/>
                    <a:lstStyle/>
                    <a:p>
                      <a:r>
                        <a:rPr sz="1050" b="1">
                          <a:solidFill>
                            <a:srgbClr val="595959"/>
                          </a:solidFill>
                        </a:rPr>
                        <a:t>Pre-registration</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Every hypothesis and threshold committed before its test: no moving the goalposts</a:t>
                      </a:r>
                    </a:p>
                  </a:txBody>
                  <a:tcPr marL="54864" marR="54864" marT="27432" marB="27432">
                    <a:solidFill>
                      <a:srgbClr val="FFFFFF"/>
                    </a:solidFill>
                    <a:lnB w="12700" cap="flat" cmpd="sng" algn="ctr">
                      <a:solidFill>
                        <a:srgbClr val="B7B7B7"/>
                      </a:solidFill>
                      <a:prstDash val="solid"/>
                    </a:lnB>
                  </a:tcPr>
                </a:tc>
                <a:tc>
                  <a:txBody>
                    <a:bodyPr/>
                    <a:lstStyle/>
                    <a:p>
                      <a:r>
                        <a:rPr sz="1050" b="0">
                          <a:solidFill>
                            <a:srgbClr val="595959"/>
                          </a:solidFill>
                        </a:rPr>
                        <a:t>Nosek et al. 2018</a:t>
                      </a:r>
                    </a:p>
                  </a:txBody>
                  <a:tcPr marL="54864" marR="54864" marT="27432" marB="27432">
                    <a:solidFill>
                      <a:srgbClr val="FFFFFF"/>
                    </a:solidFill>
                    <a:lnB w="12700" cap="flat" cmpd="sng" algn="ctr">
                      <a:solidFill>
                        <a:srgbClr val="B7B7B7"/>
                      </a:solidFill>
                      <a:prstDash val="solid"/>
                    </a:lnB>
                  </a:tcPr>
                </a:tc>
              </a:tr>
            </a:tbl>
          </a:graphicData>
        </a:graphic>
      </p:graphicFrame>
      <p:sp>
        <p:nvSpPr>
          <p:cNvPr id="4" name="TextBox 3"/>
          <p:cNvSpPr txBox="1"/>
          <p:nvPr/>
        </p:nvSpPr>
        <p:spPr>
          <a:xfrm>
            <a:off x="310896" y="4681728"/>
            <a:ext cx="8522208" cy="365760"/>
          </a:xfrm>
          <a:prstGeom prst="rect">
            <a:avLst/>
          </a:prstGeom>
          <a:noFill/>
        </p:spPr>
        <p:txBody>
          <a:bodyPr wrap="square">
            <a:spAutoFit/>
          </a:bodyPr>
          <a:lstStyle/>
          <a:p>
            <a:r>
              <a:rPr sz="800">
                <a:solidFill>
                  <a:srgbClr val="808080"/>
                </a:solidFill>
              </a:rPr>
              <a:t>Roberts et al. (2017) Ecography 40:913-929. Varma &amp; Simon (2006) BMC Bioinformatics 7:91. Friedman (1989) JASA 84:165-175. Friedman et al. (2010) J. Stat. Softw. 33(1). Liang &amp; Zeger (1986) Biometrika 73:13-22. Cameron &amp; Miller (2015) J. Human Resources 50:317-372. Hanley &amp; McNeil (1982) Radiology 143:29-36. Obuchowski (1997) Biometrics 53:567-578. Nosek et al. (2018) PNAS 115:2600-2606.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graphicFrame>
        <p:nvGraphicFramePr>
          <p:cNvPr id="3" name="Table 2"/>
          <p:cNvGraphicFramePr>
            <a:graphicFrameLocks noGrp="1"/>
          </p:cNvGraphicFramePr>
          <p:nvPr/>
        </p:nvGraphicFramePr>
        <p:xfrm>
          <a:off x="310896" y="1097280"/>
          <a:ext cx="8503920" cy="1645919"/>
        </p:xfrm>
        <a:graphic>
          <a:graphicData uri="http://schemas.openxmlformats.org/drawingml/2006/table">
            <a:tbl>
              <a:tblPr firstRow="1">
                <a:tableStyleId>{2D5ABB26-0587-4C30-8999-92F81FD0307C}</a:tableStyleId>
              </a:tblPr>
              <a:tblGrid>
                <a:gridCol w="1280160"/>
                <a:gridCol w="7223760"/>
              </a:tblGrid>
              <a:tr h="274319">
                <a:tc>
                  <a:txBody>
                    <a:bodyPr/>
                    <a:lstStyle/>
                    <a:p>
                      <a:r>
                        <a:rPr sz="1250" b="1">
                          <a:solidFill>
                            <a:srgbClr val="000000"/>
                          </a:solidFill>
                        </a:rPr>
                        <a:t>When</a:t>
                      </a:r>
                    </a:p>
                  </a:txBody>
                  <a:tcPr marL="54864" marR="54864" marT="27432" marB="27432">
                    <a:solidFill>
                      <a:srgbClr val="F3F3F3"/>
                    </a:solidFill>
                    <a:lnB w="12700" cap="flat" cmpd="sng" algn="ctr">
                      <a:solidFill>
                        <a:srgbClr val="B7B7B7"/>
                      </a:solidFill>
                      <a:prstDash val="solid"/>
                    </a:lnB>
                  </a:tcPr>
                </a:tc>
                <a:tc>
                  <a:txBody>
                    <a:bodyPr/>
                    <a:lstStyle/>
                    <a:p>
                      <a:r>
                        <a:rPr sz="1250" b="1">
                          <a:solidFill>
                            <a:srgbClr val="000000"/>
                          </a:solidFill>
                        </a:rPr>
                        <a:t>What</a:t>
                      </a:r>
                    </a:p>
                  </a:txBody>
                  <a:tcPr marL="54864" marR="54864" marT="27432" marB="27432">
                    <a:solidFill>
                      <a:srgbClr val="F3F3F3"/>
                    </a:solidFill>
                    <a:lnB w="12700" cap="flat" cmpd="sng" algn="ctr">
                      <a:solidFill>
                        <a:srgbClr val="B7B7B7"/>
                      </a:solidFill>
                      <a:prstDash val="solid"/>
                    </a:lnB>
                  </a:tcPr>
                </a:tc>
              </a:tr>
              <a:tr h="274319">
                <a:tc>
                  <a:txBody>
                    <a:bodyPr/>
                    <a:lstStyle/>
                    <a:p>
                      <a:r>
                        <a:rPr sz="1250" b="1">
                          <a:solidFill>
                            <a:srgbClr val="595959"/>
                          </a:solidFill>
                        </a:rPr>
                        <a:t>Weeks 6-7</a:t>
                      </a:r>
                    </a:p>
                  </a:txBody>
                  <a:tcPr marL="54864" marR="54864" marT="27432" marB="27432">
                    <a:solidFill>
                      <a:srgbClr val="FFFFFF"/>
                    </a:solidFill>
                    <a:lnB w="12700" cap="flat" cmpd="sng" algn="ctr">
                      <a:solidFill>
                        <a:srgbClr val="B7B7B7"/>
                      </a:solidFill>
                      <a:prstDash val="solid"/>
                    </a:lnB>
                  </a:tcPr>
                </a:tc>
                <a:tc>
                  <a:txBody>
                    <a:bodyPr/>
                    <a:lstStyle/>
                    <a:p>
                      <a:r>
                        <a:rPr sz="1250" b="0">
                          <a:solidFill>
                            <a:srgbClr val="595959"/>
                          </a:solidFill>
                        </a:rPr>
                        <a:t>Honest error bars. Pairs share people and events, so the usual cross-validation error bars may be too narrow. By how much, and which ones can we trust? Checked on simulated data built like ours.</a:t>
                      </a:r>
                    </a:p>
                  </a:txBody>
                  <a:tcPr marL="54864" marR="54864" marT="27432" marB="27432">
                    <a:solidFill>
                      <a:srgbClr val="FFFFFF"/>
                    </a:solidFill>
                    <a:lnB w="12700" cap="flat" cmpd="sng" algn="ctr">
                      <a:solidFill>
                        <a:srgbClr val="B7B7B7"/>
                      </a:solidFill>
                      <a:prstDash val="solid"/>
                    </a:lnB>
                  </a:tcPr>
                </a:tc>
              </a:tr>
              <a:tr h="274319">
                <a:tc>
                  <a:txBody>
                    <a:bodyPr/>
                    <a:lstStyle/>
                    <a:p>
                      <a:r>
                        <a:rPr sz="1250" b="1">
                          <a:solidFill>
                            <a:srgbClr val="595959"/>
                          </a:solidFill>
                        </a:rPr>
                        <a:t>Week 7</a:t>
                      </a:r>
                    </a:p>
                  </a:txBody>
                  <a:tcPr marL="54864" marR="54864" marT="27432" marB="27432">
                    <a:solidFill>
                      <a:srgbClr val="FFFFFF"/>
                    </a:solidFill>
                    <a:lnB w="12700" cap="flat" cmpd="sng" algn="ctr">
                      <a:solidFill>
                        <a:srgbClr val="B7B7B7"/>
                      </a:solidFill>
                      <a:prstDash val="solid"/>
                    </a:lnB>
                  </a:tcPr>
                </a:tc>
                <a:tc>
                  <a:txBody>
                    <a:bodyPr/>
                    <a:lstStyle/>
                    <a:p>
                      <a:r>
                        <a:rPr sz="1250" b="0">
                          <a:solidFill>
                            <a:srgbClr val="595959"/>
                          </a:solidFill>
                        </a:rPr>
                        <a:t>Two follow-up questions. Who is most desirable? Rank participants within each event, with honest uncertainty about each rank. Do people know who likes them? Score participants' own guesses that a partner would say yes.</a:t>
                      </a:r>
                    </a:p>
                  </a:txBody>
                  <a:tcPr marL="54864" marR="54864" marT="27432" marB="27432">
                    <a:solidFill>
                      <a:srgbClr val="FFFFFF"/>
                    </a:solidFill>
                    <a:lnB w="12700" cap="flat" cmpd="sng" algn="ctr">
                      <a:solidFill>
                        <a:srgbClr val="B7B7B7"/>
                      </a:solidFill>
                      <a:prstDash val="solid"/>
                    </a:lnB>
                  </a:tcPr>
                </a:tc>
              </a:tr>
              <a:tr h="274319">
                <a:tc>
                  <a:txBody>
                    <a:bodyPr/>
                    <a:lstStyle/>
                    <a:p>
                      <a:r>
                        <a:rPr sz="1250" b="1">
                          <a:solidFill>
                            <a:srgbClr val="595959"/>
                          </a:solidFill>
                        </a:rPr>
                        <a:t>Week 7</a:t>
                      </a:r>
                    </a:p>
                  </a:txBody>
                  <a:tcPr marL="54864" marR="54864" marT="27432" marB="27432">
                    <a:solidFill>
                      <a:srgbClr val="FFFFFF"/>
                    </a:solidFill>
                    <a:lnB w="12700" cap="flat" cmpd="sng" algn="ctr">
                      <a:solidFill>
                        <a:srgbClr val="B7B7B7"/>
                      </a:solidFill>
                      <a:prstDash val="solid"/>
                    </a:lnB>
                  </a:tcPr>
                </a:tc>
                <a:tc>
                  <a:txBody>
                    <a:bodyPr/>
                    <a:lstStyle/>
                    <a:p>
                      <a:r>
                        <a:rPr sz="1250" b="0">
                          <a:solidFill>
                            <a:srgbClr val="595959"/>
                          </a:solidFill>
                        </a:rPr>
                        <a:t>More models and checks: single trees, bagging and boosting; does the order of the evening matter (recency)?</a:t>
                      </a:r>
                    </a:p>
                  </a:txBody>
                  <a:tcPr marL="54864" marR="54864" marT="27432" marB="27432">
                    <a:solidFill>
                      <a:srgbClr val="FFFFFF"/>
                    </a:solidFill>
                    <a:lnB w="12700" cap="flat" cmpd="sng" algn="ctr">
                      <a:solidFill>
                        <a:srgbClr val="B7B7B7"/>
                      </a:solidFill>
                      <a:prstDash val="solid"/>
                    </a:lnB>
                  </a:tcPr>
                </a:tc>
              </a:tr>
              <a:tr h="274319">
                <a:tc>
                  <a:txBody>
                    <a:bodyPr/>
                    <a:lstStyle/>
                    <a:p>
                      <a:r>
                        <a:rPr sz="1250" b="1">
                          <a:solidFill>
                            <a:srgbClr val="595959"/>
                          </a:solidFill>
                        </a:rPr>
                        <a:t>Week 8</a:t>
                      </a:r>
                    </a:p>
                  </a:txBody>
                  <a:tcPr marL="54864" marR="54864" marT="27432" marB="27432">
                    <a:solidFill>
                      <a:srgbClr val="FFFFFF"/>
                    </a:solidFill>
                    <a:lnB w="12700" cap="flat" cmpd="sng" algn="ctr">
                      <a:solidFill>
                        <a:srgbClr val="B7B7B7"/>
                      </a:solidFill>
                      <a:prstDash val="solid"/>
                    </a:lnB>
                  </a:tcPr>
                </a:tc>
                <a:tc>
                  <a:txBody>
                    <a:bodyPr/>
                    <a:lstStyle/>
                    <a:p>
                      <a:r>
                        <a:rPr sz="1250" b="0">
                          <a:solidFill>
                            <a:srgbClr val="595959"/>
                          </a:solidFill>
                        </a:rPr>
                        <a:t>Freeze the results, robustness checks, first draft of the poster.</a:t>
                      </a:r>
                    </a:p>
                  </a:txBody>
                  <a:tcPr marL="54864" marR="54864" marT="27432" marB="27432">
                    <a:solidFill>
                      <a:srgbClr val="FFFFFF"/>
                    </a:solidFill>
                    <a:lnB w="12700" cap="flat" cmpd="sng" algn="ctr">
                      <a:solidFill>
                        <a:srgbClr val="B7B7B7"/>
                      </a:solidFill>
                      <a:prstDash val="solid"/>
                    </a:lnB>
                  </a:tcPr>
                </a:tc>
              </a:tr>
              <a:tr h="274324">
                <a:tc>
                  <a:txBody>
                    <a:bodyPr/>
                    <a:lstStyle/>
                    <a:p>
                      <a:r>
                        <a:rPr sz="1250" b="1">
                          <a:solidFill>
                            <a:srgbClr val="595959"/>
                          </a:solidFill>
                        </a:rPr>
                        <a:t>Weeks 9-10</a:t>
                      </a:r>
                    </a:p>
                  </a:txBody>
                  <a:tcPr marL="54864" marR="54864" marT="27432" marB="27432">
                    <a:solidFill>
                      <a:srgbClr val="FFFFFF"/>
                    </a:solidFill>
                    <a:lnB w="12700" cap="flat" cmpd="sng" algn="ctr">
                      <a:solidFill>
                        <a:srgbClr val="B7B7B7"/>
                      </a:solidFill>
                      <a:prstDash val="solid"/>
                    </a:lnB>
                  </a:tcPr>
                </a:tc>
                <a:tc>
                  <a:txBody>
                    <a:bodyPr/>
                    <a:lstStyle/>
                    <a:p>
                      <a:r>
                        <a:rPr sz="1250" b="0">
                          <a:solidFill>
                            <a:srgbClr val="595959"/>
                          </a:solidFill>
                        </a:rPr>
                        <a:t>Final report, poster and presentation.</a:t>
                      </a:r>
                    </a:p>
                  </a:txBody>
                  <a:tcPr marL="54864" marR="54864" marT="27432" marB="27432">
                    <a:solidFill>
                      <a:srgbClr val="FFFFFF"/>
                    </a:solidFill>
                    <a:lnB w="12700" cap="flat" cmpd="sng" algn="ctr">
                      <a:solidFill>
                        <a:srgbClr val="B7B7B7"/>
                      </a:solidFill>
                      <a:prstDash val="solid"/>
                    </a:lnB>
                  </a:tcPr>
                </a:tc>
              </a:tr>
            </a:tbl>
          </a:graphicData>
        </a:graphic>
      </p:graphicFrame>
      <p:sp>
        <p:nvSpPr>
          <p:cNvPr id="4" name="TextBox 3"/>
          <p:cNvSpPr txBox="1"/>
          <p:nvPr/>
        </p:nvSpPr>
        <p:spPr>
          <a:xfrm>
            <a:off x="310896" y="4681728"/>
            <a:ext cx="8522208" cy="365760"/>
          </a:xfrm>
          <a:prstGeom prst="rect">
            <a:avLst/>
          </a:prstGeom>
          <a:noFill/>
        </p:spPr>
        <p:txBody>
          <a:bodyPr wrap="square">
            <a:spAutoFit/>
          </a:bodyPr>
          <a:lstStyle/>
          <a:p>
            <a:r>
              <a:rPr sz="800">
                <a:solidFill>
                  <a:srgbClr val="808080"/>
                </a:solidFill>
              </a:rPr>
              <a:t>Cross-validation error bars: Bates, Hastie &amp; Tibshirani (2024), JASA 119:1434-1445. Trees, bagging and boosting: James et al. (2023), ISLP, Chapter 8.</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