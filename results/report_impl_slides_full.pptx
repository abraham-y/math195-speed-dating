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commentAuthors.xml" ContentType="application/vnd.openxmlformats-officedocument.presentationml.commentAuthors+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89" r:id="rId48"/>
    <p:sldId id="290" r:id="rId49"/>
    <p:sldId id="273" r:id="rId24"/>
    <p:sldId id="274" r:id="rId25"/>
    <p:sldId id="291" r:id="rId50"/>
    <p:sldId id="292" r:id="rId51"/>
    <p:sldId id="276" r:id="rId27"/>
    <p:sldId id="277" r:id="rId28"/>
    <p:sldId id="278" r:id="rId29"/>
    <p:sldId id="279" r:id="rId30"/>
    <p:sldId id="293" r:id="rId52"/>
    <p:sldId id="280" r:id="rId31"/>
    <p:sldId id="282" r:id="rId33"/>
    <p:sldId id="283" r:id="rId34"/>
    <p:sldId id="284" r:id="rId35"/>
    <p:sldId id="281" r:id="rId32"/>
    <p:sldId id="285" r:id="rId36"/>
    <p:sldId id="286" r:id="rId37"/>
    <p:sldId id="287" r:id="rId38"/>
    <p:sldId id="288" r:id="rId39"/>
  </p:sldIdLst>
  <p:sldSz cy="6858000" cx="12192000"/>
  <p:notesSz cx="6858000" cy="12192000"/>
  <p:embeddedFontLst>
    <p:embeddedFont>
      <p:font typeface="Nunito"/>
      <p:regular r:id="rId40"/>
      <p:bold r:id="rId41"/>
      <p:italic r:id="rId42"/>
      <p:boldItalic r:id="rId43"/>
    </p:embeddedFont>
    <p:embeddedFont>
      <p:font typeface="Nunito Sans"/>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3" name="Lernik Asseria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CCA55A4-D3DC-4CAC-BE45-3B316C1AA8E1}">
  <a:tblStyle styleId="{6CCA55A4-D3DC-4CAC-BE45-3B316C1AA8E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4" Type="http://schemas.openxmlformats.org/officeDocument/2006/relationships/slide" Target="slides/slide18.xml"/><Relationship Id="rId25" Type="http://schemas.openxmlformats.org/officeDocument/2006/relationships/slide" Target="slides/slide19.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font" Target="fonts/Nunito-regular.fntdata"/><Relationship Id="rId41" Type="http://schemas.openxmlformats.org/officeDocument/2006/relationships/font" Target="fonts/Nunito-bold.fntdata"/><Relationship Id="rId42" Type="http://schemas.openxmlformats.org/officeDocument/2006/relationships/font" Target="fonts/Nunito-italic.fntdata"/><Relationship Id="rId43" Type="http://schemas.openxmlformats.org/officeDocument/2006/relationships/font" Target="fonts/Nunito-boldItalic.fntdata"/><Relationship Id="rId44" Type="http://schemas.openxmlformats.org/officeDocument/2006/relationships/font" Target="fonts/NunitoSans-regular.fntdata"/><Relationship Id="rId45" Type="http://schemas.openxmlformats.org/officeDocument/2006/relationships/font" Target="fonts/NunitoSans-bold.fntdata"/><Relationship Id="rId46" Type="http://schemas.openxmlformats.org/officeDocument/2006/relationships/font" Target="fonts/NunitoSans-italic.fntdata"/><Relationship Id="rId47" Type="http://schemas.openxmlformats.org/officeDocument/2006/relationships/font" Target="fonts/NunitoSans-boldItalic.fntdata"/><Relationship Id="rId48" Type="http://schemas.openxmlformats.org/officeDocument/2006/relationships/slide" Target="slides/slide34.xml"/><Relationship Id="rId49" Type="http://schemas.openxmlformats.org/officeDocument/2006/relationships/slide" Target="slides/slide35.xml"/><Relationship Id="rId50" Type="http://schemas.openxmlformats.org/officeDocument/2006/relationships/slide" Target="slides/slide36.xml"/><Relationship Id="rId51" Type="http://schemas.openxmlformats.org/officeDocument/2006/relationships/slide" Target="slides/slide37.xml"/><Relationship Id="rId52" Type="http://schemas.openxmlformats.org/officeDocument/2006/relationships/slide" Target="slides/slide38.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10-21T00:36:45.039">
    <p:pos x="6000" y="0"/>
    <p:text>It's nice that you have listed out all the methods here but I thought this is a summary and you would dig into the details of math for each one in future slides. This is basically the main "math part" of your project so you should teach the audience about these methods. I would want you to elaborate more on each of these methods by allocating a separate slide for each and explaining and teaching it to the entire class.</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10-21T00:38:47.515">
    <p:pos x="6000" y="0"/>
    <p:text>Same as my previous comment, this is the "math part" that needs more careful explanation rather than just mentioning the name of these models. If you have limited time to go into the details, I would remove these methods, and probably move it to the final presentation so you will have more time explaining the previous methods. Or, out of many of the models that you have tried, you can pick the "top three best ones" that gives you a better result and only talk about those in depth explaining the math behind it. The textbook I introduced for the project should be useful.</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10-21T00:35:27.704">
    <p:pos x="6000" y="0"/>
    <p:text>This slide can be removed as it includes too much information and the audience won't retain it.</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Sophia opens. Our project asks whether a mutual match can be predicted from what two people wrote down before they met. That is the problem every dating app and matchmaking service faces. Sophia covers the question and the data, Jenna the statistical ideas and the results, and Abraham how we built it and what comes next.</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 name="Google Shape;2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(After reading main question) Even if one person is interested in the other, the feeling is not necessarily mutual. We are interested in whether both people want to see each other again. We call that a match if both participants said yes. </a:t>
            </a:r>
            <a:endParaRPr/>
          </a:p>
          <a:p>
            <a:pPr indent="0" lvl="0" marL="0" rtl="0" algn="l">
              <a:spcBef>
                <a:spcPts val="0"/>
              </a:spcBef>
              <a:spcAft>
                <a:spcPts val="0"/>
              </a:spcAft>
              <a:buNone/>
            </a:pPr>
            <a:r>
              <a:t/>
            </a:r>
            <a:endParaRPr/>
          </a:p>
        </p:txBody>
      </p:sp>
      <p:sp>
        <p:nvSpPr>
          <p:cNvPr id="56" name="Google Shape;5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 name="Google Shape;7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Columbia speed-dating data were first studied by Fisman and colleagues, who focused on gender differences in how people choose partners. They found that men </a:t>
            </a:r>
            <a:r>
              <a:rPr lang="en-US"/>
              <a:t>weighted</a:t>
            </a:r>
            <a:r>
              <a:rPr lang="en-US"/>
              <a:t> looks more and women weighted intelligence and same race. But even if we know which traits people generally prefer, does that let us predict whether two specific people will choose each other? Two people might look like a good match on paper, but have a conversation where one of them is not interested.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 later study by Joel et al. found that what people reported before speed dating predicted how much they liked others in general, but not which particular pairs clicked. This matters for matchmaking and recommendation systems, which rely on what users put in their profiles; we want to understand both the potential and the extent of that information. One clarification: we measure whether both people wanted another date, not whether they would have had a successful long-term relationship.</a:t>
            </a:r>
            <a:endParaRPr/>
          </a:p>
        </p:txBody>
      </p:sp>
      <p:sp>
        <p:nvSpPr>
          <p:cNvPr id="73" name="Google Shape;7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data come from 21 speed-dating events run at Columbia between 2002 and 2004; most participants were graduate and professional students. Before attending, participants completed a questionnaire about their demographics, education and career plans, their interests, how they see themselves, and what they value in a potential partner. </a:t>
            </a:r>
            <a:endParaRPr/>
          </a:p>
          <a:p>
            <a:pPr indent="0" lvl="0" marL="0" rtl="0" algn="l">
              <a:spcBef>
                <a:spcPts val="0"/>
              </a:spcBef>
              <a:spcAft>
                <a:spcPts val="0"/>
              </a:spcAft>
              <a:buNone/>
            </a:pPr>
            <a:r>
              <a:rPr lang="en-US"/>
              <a:t>At the event they met each participant of the opposite sex for a four-minute conversation. </a:t>
            </a:r>
            <a:endParaRPr/>
          </a:p>
          <a:p>
            <a:pPr indent="0" lvl="0" marL="0" rtl="0" algn="l">
              <a:spcBef>
                <a:spcPts val="0"/>
              </a:spcBef>
              <a:spcAft>
                <a:spcPts val="0"/>
              </a:spcAft>
              <a:buNone/>
            </a:pPr>
            <a:r>
              <a:rPr lang="en-US"/>
              <a:t>After each one, they privately answered whether they wanted to see that person again, and rated the partner on traits such as attractiveness, intelligence and fun, along with an overall liking score and a guess of whether the partner would say yes. Because we have information from both before and after each date, we can build models that use only the pre-date questionnaire and compare them with models that also use the post-date ratings. One limitation: these are mostly Columbia graduate students, so we should be careful about generalizing.</a:t>
            </a:r>
            <a:endParaRPr/>
          </a:p>
        </p:txBody>
      </p:sp>
      <p:sp>
        <p:nvSpPr>
          <p:cNvPr id="92" name="Google Shape;9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Each row is one date seen from one person's side, so every date appears twice</a:t>
            </a:r>
            <a:endParaRPr/>
          </a:p>
          <a:p>
            <a:pPr indent="0" lvl="0" marL="0" rtl="0" algn="l">
              <a:spcBef>
                <a:spcPts val="0"/>
              </a:spcBef>
              <a:spcAft>
                <a:spcPts val="0"/>
              </a:spcAft>
              <a:buNone/>
            </a:pPr>
            <a:r>
              <a:rPr lang="en-US"/>
              <a:t>Identifiers matter when we restructure the data</a:t>
            </a:r>
            <a:endParaRPr/>
          </a:p>
        </p:txBody>
      </p:sp>
      <p:sp>
        <p:nvSpPr>
          <p:cNvPr id="115" name="Google Shape;11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h705c42952372aa75_1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h705c42952372aa75_1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Before showing any numbers, ask the room: out of 100 four-minute dates in this experiment, how many ended with both people saying yes?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Take two or three guesses from the audience, then click to the next slide.</a:t>
            </a:r>
            <a:endParaRPr/>
          </a:p>
        </p:txBody>
      </p:sp>
      <p:sp>
        <p:nvSpPr>
          <p:cNvPr id="126" name="Google Shape;126;h705c42952372aa75_1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h705c42952372aa75_1_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h705c42952372aa75_1_1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5" name="Google Shape;235;h705c42952372aa75_1_1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h37505ac47c0edbc2_9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h37505ac47c0edbc2_9_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h37505ac47c0edbc2_9_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h37505ac47c0edbc2_9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h37505ac47c0edbc2_9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h37505ac47c0edbc2_9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 name="Google Shape;38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first removed 10 records with missing partner identifiers. Since date appears twice in the raw file, we combined the two records into one row per woman–man pair</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SzPts val="1100"/>
              <a:buNone/>
            </a:pPr>
            <a:r>
              <a:rPr lang="en-US"/>
              <a:t>First, our classes are imbalanced: only 16.5% of pairs resulted in a mutual match. This means a model that predicts “no match” for everyone would already be 83.5% accurate, despite failing to identify any actual matches. So accuracy alone can be misleading. Instead, we focus on AUC, which measures how well a model distinguishes matches from non-matches across different classification thresholds. An AUC of 0.5 is equivalent to random guessing</a:t>
            </a:r>
            <a:endParaRPr/>
          </a:p>
          <a:p>
            <a:pPr indent="0" lvl="0" marL="0" rtl="0" algn="l">
              <a:lnSpc>
                <a:spcPct val="115000"/>
              </a:lnSpc>
              <a:spcBef>
                <a:spcPts val="0"/>
              </a:spcBef>
              <a:spcAft>
                <a:spcPts val="0"/>
              </a:spcAft>
              <a:buSzPts val="1100"/>
              <a:buNone/>
            </a:pPr>
            <a:r>
              <a:t/>
            </a:r>
            <a:endParaRPr/>
          </a:p>
          <a:p>
            <a:pPr indent="0" lvl="0" marL="0" rtl="0" algn="l">
              <a:lnSpc>
                <a:spcPct val="115000"/>
              </a:lnSpc>
              <a:spcBef>
                <a:spcPts val="0"/>
              </a:spcBef>
              <a:spcAft>
                <a:spcPts val="0"/>
              </a:spcAft>
              <a:buSzPts val="1100"/>
              <a:buNone/>
            </a:pPr>
            <a:r>
              <a:rPr lang="en-US"/>
              <a:t>Second, our observations are not fully independent, because each participant met multiple partners. Normally, we evaluate predictive models by splitting the data into a training set, which the model learns from, and a test set, which evaluates how well it performs on unseen data.</a:t>
            </a:r>
            <a:endParaRPr/>
          </a:p>
          <a:p>
            <a:pPr indent="0" lvl="0" marL="0" rtl="0" algn="l">
              <a:lnSpc>
                <a:spcPct val="115000"/>
              </a:lnSpc>
              <a:spcBef>
                <a:spcPts val="0"/>
              </a:spcBef>
              <a:spcAft>
                <a:spcPts val="0"/>
              </a:spcAft>
              <a:buSzPts val="1100"/>
              <a:buNone/>
            </a:pPr>
            <a:r>
              <a:rPr lang="en-US"/>
              <a:t>But if we randomly split individual pairs, the same participant could appear in both sets. The model might then benefit from information about people it has already encountered, making its performance look better than it actually is on new participants. To avoid this, we group by event</a:t>
            </a:r>
            <a:endParaRPr/>
          </a:p>
          <a:p>
            <a:pPr indent="0" lvl="0" marL="0" rtl="0" algn="l">
              <a:lnSpc>
                <a:spcPct val="115000"/>
              </a:lnSpc>
              <a:spcBef>
                <a:spcPts val="0"/>
              </a:spcBef>
              <a:spcAft>
                <a:spcPts val="0"/>
              </a:spcAft>
              <a:buSzPts val="1100"/>
              <a:buNone/>
            </a:pPr>
            <a:r>
              <a:t/>
            </a:r>
            <a:endParaRPr/>
          </a:p>
        </p:txBody>
      </p:sp>
      <p:sp>
        <p:nvSpPr>
          <p:cNvPr id="388" name="Google Shape;38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9" name="Google Shape;40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Stated preferences were collected in two formats. In some, participants split 100 points across six traits. In others, they rated each trait from 1 to 10. We converted each person's answers into shares that sum to 100. This keeps the relative importance of each trait. However, preferences from the 1 to 10 format were less spread out, so our main analysis also standardized preference-related variables within each questionnaire format. And because the six shares always sum to 100, including all six would make one an exact combination of the others, so we left one, shared interests, out of the models.</a:t>
            </a:r>
            <a:endParaRPr/>
          </a:p>
        </p:txBody>
      </p:sp>
      <p:sp>
        <p:nvSpPr>
          <p:cNvPr id="410" name="Google Shape;41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3" name="Google Shape;42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US" sz="1100">
                <a:latin typeface="Arial"/>
                <a:ea typeface="Arial"/>
                <a:cs typeface="Arial"/>
                <a:sym typeface="Arial"/>
              </a:rPr>
              <a:t>Our models start from each person's own pre-date survey responses, but compatibility is about the pair, so we constructed additional pair-level features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These features broadly measure: similarity in background and lifestyle, such as age gaps, shared fields or goals; second, similarity in interests, based on how closely participants rated different activities; and third, preference alignment—whether the characteristics one person values in a partner align with the other's self-perceived strengths.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We also explored more complex relationships, such as whether interest similarity matters more when someone explicitly values having shared interests.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To evaluate their predictive value, we first only include the original individual responses. Then we add our six core compatibility measures (shown on this slide). For logistic regression only, we also try adding further measures (dating frequency, going out frequency) and nonlinear effects and interactions.</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Additional notes: Pearson correlation asks whether their deviations from their personal averages follow the same pattern. Cosine similarity asks whether their raw rating vectors have similar directions.</a:t>
            </a:r>
            <a:endParaRPr sz="1100">
              <a:latin typeface="Arial"/>
              <a:ea typeface="Arial"/>
              <a:cs typeface="Arial"/>
              <a:sym typeface="Arial"/>
            </a:endParaRPr>
          </a:p>
          <a:p>
            <a:pPr indent="0" lvl="0" marL="0" rtl="0" algn="l">
              <a:lnSpc>
                <a:spcPct val="115000"/>
              </a:lnSpc>
              <a:spcBef>
                <a:spcPts val="1200"/>
              </a:spcBef>
              <a:spcAft>
                <a:spcPts val="1200"/>
              </a:spcAft>
              <a:buSzPts val="1100"/>
              <a:buNone/>
            </a:pPr>
            <a:r>
              <a:rPr lang="en-US" sz="1100">
                <a:latin typeface="Arial"/>
                <a:ea typeface="Arial"/>
                <a:cs typeface="Arial"/>
                <a:sym typeface="Arial"/>
              </a:rPr>
              <a:t>Interactions: interest similarity x man/woman’s preference for shared interests (does it change depending on how much person values shared interest?) / effect of age difference may not change linearly</a:t>
            </a:r>
            <a:endParaRPr sz="1100">
              <a:latin typeface="Arial"/>
              <a:ea typeface="Arial"/>
              <a:cs typeface="Arial"/>
              <a:sym typeface="Arial"/>
            </a:endParaRPr>
          </a:p>
        </p:txBody>
      </p:sp>
      <p:sp>
        <p:nvSpPr>
          <p:cNvPr id="424" name="Google Shape;42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3" name="Google Shape;44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Thanks, Jenna. I'll explain how we put these ideas to work on our data. Every model goes through the same pipeline. We start from the raw survey, 8,378 rows, one per date from one person's side. Sophia showed how we clean it and pair it up into 4,184 woman–man pairs. Each pair then gets two feature sets: “pre”, 74 variables known before the date, and “pre plus date”, 90 variables, which adds the ratings the two people gave each other after the date. Every model is then trained and tested with cross-validation by event, which I'll show on the next slide, and scored with the AUC and its error bars. Two rules keep us honest. First, no peeking at the test events: every data-preparation step, like log-transforming skewed variables, filling missing values with medians, making dummy variables, and standardizing, is learned from the training events only, and then applied unchanged to the test events. Second, no moving the goalposts: before running each test, we wrote down the hypothesis and the threshold that would count as support, and committed it to our GitHub repository. That's called pre-registration. And every number on these slides is produced by our code, not typed in by hand.</a:t>
            </a:r>
            <a:endParaRPr/>
          </a:p>
        </p:txBody>
      </p:sp>
      <p:sp>
        <p:nvSpPr>
          <p:cNvPr id="444" name="Google Shape;44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1" name="Google Shape;48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98450" lvl="0" marL="457200" rtl="0" algn="l">
              <a:spcBef>
                <a:spcPts val="0"/>
              </a:spcBef>
              <a:spcAft>
                <a:spcPts val="0"/>
              </a:spcAft>
              <a:buClr>
                <a:schemeClr val="dk1"/>
              </a:buClr>
              <a:buSzPts val="1100"/>
              <a:buChar char="●"/>
            </a:pPr>
            <a:r>
              <a:rPr lang="en-US" sz="1100">
                <a:latin typeface="Arial"/>
                <a:ea typeface="Arial"/>
                <a:cs typeface="Arial"/>
                <a:sym typeface="Arial"/>
              </a:rPr>
              <a:t>Classification models are relevant to our study, because we want to measure a match or not, which is a qualitative variable (as opposed to regression, which measure qualitative outcomes).</a:t>
            </a:r>
            <a:endParaRPr sz="1100">
              <a:latin typeface="Arial"/>
              <a:ea typeface="Arial"/>
              <a:cs typeface="Arial"/>
              <a:sym typeface="Arial"/>
            </a:endParaRPr>
          </a:p>
          <a:p>
            <a:pPr indent="-298450" lvl="0" marL="457200" rtl="0" algn="l">
              <a:spcBef>
                <a:spcPts val="0"/>
              </a:spcBef>
              <a:spcAft>
                <a:spcPts val="0"/>
              </a:spcAft>
              <a:buClr>
                <a:schemeClr val="dk1"/>
              </a:buClr>
              <a:buSzPts val="1100"/>
              <a:buChar char="●"/>
            </a:pPr>
            <a:r>
              <a:rPr lang="en-US" sz="1100">
                <a:latin typeface="Arial"/>
                <a:ea typeface="Arial"/>
                <a:cs typeface="Arial"/>
                <a:sym typeface="Arial"/>
              </a:rPr>
              <a:t>Logistic regression: say we want to predict a categorical binary outcome (yes/no) based on predictor variables. </a:t>
            </a:r>
            <a:endParaRPr sz="1100">
              <a:latin typeface="Arial"/>
              <a:ea typeface="Arial"/>
              <a:cs typeface="Arial"/>
              <a:sym typeface="Arial"/>
            </a:endParaRPr>
          </a:p>
          <a:p>
            <a:pPr indent="-298450" lvl="1" marL="914400" rtl="0" algn="l">
              <a:spcBef>
                <a:spcPts val="0"/>
              </a:spcBef>
              <a:spcAft>
                <a:spcPts val="0"/>
              </a:spcAft>
              <a:buClr>
                <a:schemeClr val="dk1"/>
              </a:buClr>
              <a:buSzPts val="1100"/>
              <a:buChar char="○"/>
            </a:pPr>
            <a:r>
              <a:rPr lang="en-US" sz="1100">
                <a:latin typeface="Arial"/>
                <a:ea typeface="Arial"/>
                <a:cs typeface="Arial"/>
                <a:sym typeface="Arial"/>
              </a:rPr>
              <a:t>In logistic regression, we generally try to do this by measuring the probability that a certain outcome variable occurs.</a:t>
            </a:r>
            <a:endParaRPr sz="1100">
              <a:latin typeface="Arial"/>
              <a:ea typeface="Arial"/>
              <a:cs typeface="Arial"/>
              <a:sym typeface="Arial"/>
            </a:endParaRPr>
          </a:p>
          <a:p>
            <a:pPr indent="-298450" lvl="1" marL="914400" rtl="0" algn="l">
              <a:spcBef>
                <a:spcPts val="0"/>
              </a:spcBef>
              <a:spcAft>
                <a:spcPts val="0"/>
              </a:spcAft>
              <a:buClr>
                <a:schemeClr val="dk1"/>
              </a:buClr>
              <a:buSzPts val="1100"/>
              <a:buChar char="○"/>
            </a:pPr>
            <a:r>
              <a:rPr lang="en-US" sz="1100">
                <a:latin typeface="Arial"/>
                <a:ea typeface="Arial"/>
                <a:cs typeface="Arial"/>
                <a:sym typeface="Arial"/>
              </a:rPr>
              <a:t>In the method of maximum likelihood, we find the coefficient values that allow the model to give a probability close to 1 for the outcomes that we observed to be yes, and close to 0 otherwise.</a:t>
            </a:r>
            <a:endParaRPr sz="1100">
              <a:latin typeface="Arial"/>
              <a:ea typeface="Arial"/>
              <a:cs typeface="Arial"/>
              <a:sym typeface="Arial"/>
            </a:endParaRPr>
          </a:p>
          <a:p>
            <a:pPr indent="-298450" lvl="0" marL="457200" rtl="0" algn="l">
              <a:spcBef>
                <a:spcPts val="0"/>
              </a:spcBef>
              <a:spcAft>
                <a:spcPts val="0"/>
              </a:spcAft>
              <a:buClr>
                <a:schemeClr val="dk1"/>
              </a:buClr>
              <a:buSzPts val="1100"/>
              <a:buFont typeface="Arial"/>
              <a:buChar char="●"/>
            </a:pPr>
            <a:r>
              <a:rPr lang="en-US" sz="1100">
                <a:latin typeface="Arial"/>
                <a:ea typeface="Arial"/>
                <a:cs typeface="Arial"/>
                <a:sym typeface="Arial"/>
              </a:rPr>
              <a:t>But we, like many other datasets, have so many possible predictors to include in our </a:t>
            </a:r>
            <a:r>
              <a:rPr lang="en-US" sz="1100">
                <a:latin typeface="Arial"/>
                <a:ea typeface="Arial"/>
                <a:cs typeface="Arial"/>
                <a:sym typeface="Arial"/>
              </a:rPr>
              <a:t>model</a:t>
            </a:r>
            <a:r>
              <a:rPr lang="en-US" sz="1100">
                <a:latin typeface="Arial"/>
                <a:ea typeface="Arial"/>
                <a:cs typeface="Arial"/>
                <a:sym typeface="Arial"/>
              </a:rPr>
              <a:t>. How do we go about selecting the group of predictors that gives us the most accurate model?</a:t>
            </a:r>
            <a:endParaRPr/>
          </a:p>
        </p:txBody>
      </p:sp>
      <p:sp>
        <p:nvSpPr>
          <p:cNvPr id="482" name="Google Shape;48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h37505ac47c0edbc2_48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4" name="Google Shape;494;h37505ac47c0edbc2_48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100">
              <a:latin typeface="Arial"/>
              <a:ea typeface="Arial"/>
              <a:cs typeface="Arial"/>
              <a:sym typeface="Arial"/>
            </a:endParaRPr>
          </a:p>
          <a:p>
            <a:pPr indent="-298450" lvl="1" marL="914400" rtl="0" algn="l">
              <a:spcBef>
                <a:spcPts val="0"/>
              </a:spcBef>
              <a:spcAft>
                <a:spcPts val="0"/>
              </a:spcAft>
              <a:buClr>
                <a:schemeClr val="dk1"/>
              </a:buClr>
              <a:buSzPts val="1100"/>
              <a:buFont typeface="Arial"/>
              <a:buChar char="○"/>
            </a:pPr>
            <a:r>
              <a:rPr lang="en-US" sz="1100">
                <a:latin typeface="Arial"/>
                <a:ea typeface="Arial"/>
                <a:cs typeface="Arial"/>
                <a:sym typeface="Arial"/>
              </a:rPr>
              <a:t>We will use BIC, which is the Bayesian Information Criterion. The math behind it is very complicated but essentially it is a model-selection criterion, and particularly for us it can be used for predictor selection by comparing models with different sets of predictors. A lower BIC is better.</a:t>
            </a:r>
            <a:endParaRPr sz="1100">
              <a:latin typeface="Arial"/>
              <a:ea typeface="Arial"/>
              <a:cs typeface="Arial"/>
              <a:sym typeface="Arial"/>
            </a:endParaRPr>
          </a:p>
          <a:p>
            <a:pPr indent="-298450" lvl="1" marL="914400" rtl="0" algn="l">
              <a:spcBef>
                <a:spcPts val="0"/>
              </a:spcBef>
              <a:spcAft>
                <a:spcPts val="0"/>
              </a:spcAft>
              <a:buClr>
                <a:schemeClr val="dk1"/>
              </a:buClr>
              <a:buSzPts val="1100"/>
              <a:buFont typeface="Arial"/>
              <a:buChar char="○"/>
            </a:pPr>
            <a:r>
              <a:rPr lang="en-US" sz="1100">
                <a:latin typeface="Arial"/>
                <a:ea typeface="Arial"/>
                <a:cs typeface="Arial"/>
                <a:sym typeface="Arial"/>
              </a:rPr>
              <a:t>BIC is important for a form of logistic regression called Stepwise Logistic Regression, which is essentially adding and removing predictors to minimize BIC. </a:t>
            </a:r>
            <a:endParaRPr sz="1100">
              <a:latin typeface="Arial"/>
              <a:ea typeface="Arial"/>
              <a:cs typeface="Arial"/>
              <a:sym typeface="Arial"/>
            </a:endParaRPr>
          </a:p>
          <a:p>
            <a:pPr indent="-298450" lvl="2" marL="1371600" rtl="0" algn="l">
              <a:spcBef>
                <a:spcPts val="0"/>
              </a:spcBef>
              <a:spcAft>
                <a:spcPts val="0"/>
              </a:spcAft>
              <a:buClr>
                <a:schemeClr val="dk1"/>
              </a:buClr>
              <a:buSzPts val="1100"/>
              <a:buFont typeface="Arial"/>
              <a:buChar char="■"/>
            </a:pPr>
            <a:r>
              <a:rPr lang="en-US" sz="1100">
                <a:latin typeface="Arial"/>
                <a:ea typeface="Arial"/>
                <a:cs typeface="Arial"/>
                <a:sym typeface="Arial"/>
              </a:rPr>
              <a:t>So for example, there is forward stepwise logistic regression, where we start with only the intercept then add predictors iteratively based on which lowers BIC the most. </a:t>
            </a:r>
            <a:endParaRPr sz="1100">
              <a:latin typeface="Arial"/>
              <a:ea typeface="Arial"/>
              <a:cs typeface="Arial"/>
              <a:sym typeface="Arial"/>
            </a:endParaRPr>
          </a:p>
          <a:p>
            <a:pPr indent="-298450" lvl="2" marL="1371600" rtl="0" algn="l">
              <a:spcBef>
                <a:spcPts val="0"/>
              </a:spcBef>
              <a:spcAft>
                <a:spcPts val="0"/>
              </a:spcAft>
              <a:buClr>
                <a:schemeClr val="dk1"/>
              </a:buClr>
              <a:buSzPts val="1100"/>
              <a:buFont typeface="Arial"/>
              <a:buChar char="■"/>
            </a:pPr>
            <a:r>
              <a:rPr lang="en-US" sz="1100">
                <a:latin typeface="Arial"/>
                <a:ea typeface="Arial"/>
                <a:cs typeface="Arial"/>
                <a:sym typeface="Arial"/>
              </a:rPr>
              <a:t>Then there’s backwards, where we start with all the predictors and remove predictors to reduce BIC the most.</a:t>
            </a:r>
            <a:endParaRPr sz="1100">
              <a:latin typeface="Arial"/>
              <a:ea typeface="Arial"/>
              <a:cs typeface="Arial"/>
              <a:sym typeface="Arial"/>
            </a:endParaRPr>
          </a:p>
          <a:p>
            <a:pPr indent="-298450" lvl="2" marL="1371600" rtl="0" algn="l">
              <a:spcBef>
                <a:spcPts val="0"/>
              </a:spcBef>
              <a:spcAft>
                <a:spcPts val="0"/>
              </a:spcAft>
              <a:buClr>
                <a:schemeClr val="dk1"/>
              </a:buClr>
              <a:buSzPts val="1100"/>
              <a:buFont typeface="Arial"/>
              <a:buChar char="■"/>
            </a:pPr>
            <a:r>
              <a:rPr lang="en-US" sz="1100">
                <a:latin typeface="Arial"/>
                <a:ea typeface="Arial"/>
                <a:cs typeface="Arial"/>
                <a:sym typeface="Arial"/>
              </a:rPr>
              <a:t>And there’s also the mixed, where we can add or remove at each step.</a:t>
            </a:r>
            <a:endParaRPr/>
          </a:p>
        </p:txBody>
      </p:sp>
      <p:sp>
        <p:nvSpPr>
          <p:cNvPr id="495" name="Google Shape;495;h37505ac47c0edbc2_48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h37505ac47c0edbc2_48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5" name="Google Shape;515;h37505ac47c0edbc2_48_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100">
                <a:solidFill>
                  <a:srgbClr val="FF0000"/>
                </a:solidFill>
                <a:latin typeface="Arial"/>
                <a:ea typeface="Arial"/>
                <a:cs typeface="Arial"/>
                <a:sym typeface="Arial"/>
              </a:rPr>
              <a:t>So previously, we calculated the probability that the outcome of a datapoint is a particular class (yes or no) based on the </a:t>
            </a:r>
            <a:r>
              <a:rPr lang="en-US" sz="1100">
                <a:solidFill>
                  <a:srgbClr val="FF0000"/>
                </a:solidFill>
                <a:latin typeface="Arial"/>
                <a:ea typeface="Arial"/>
                <a:cs typeface="Arial"/>
                <a:sym typeface="Arial"/>
              </a:rPr>
              <a:t>predictors</a:t>
            </a:r>
            <a:r>
              <a:rPr lang="en-US" sz="1100">
                <a:solidFill>
                  <a:srgbClr val="FF0000"/>
                </a:solidFill>
                <a:latin typeface="Arial"/>
                <a:ea typeface="Arial"/>
                <a:cs typeface="Arial"/>
                <a:sym typeface="Arial"/>
              </a:rPr>
              <a:t>. It’s the direct path. But we now turn to generative models, which take an alternative method. </a:t>
            </a:r>
            <a:endParaRPr sz="1100">
              <a:solidFill>
                <a:srgbClr val="FF0000"/>
              </a:solidFill>
              <a:latin typeface="Arial"/>
              <a:ea typeface="Arial"/>
              <a:cs typeface="Arial"/>
              <a:sym typeface="Arial"/>
            </a:endParaRPr>
          </a:p>
          <a:p>
            <a:pPr indent="-298450" lvl="0" marL="457200" rtl="0" algn="l">
              <a:spcBef>
                <a:spcPts val="0"/>
              </a:spcBef>
              <a:spcAft>
                <a:spcPts val="0"/>
              </a:spcAft>
              <a:buClr>
                <a:schemeClr val="dk1"/>
              </a:buClr>
              <a:buSzPts val="1100"/>
              <a:buChar char="●"/>
            </a:pPr>
            <a:r>
              <a:rPr lang="en-US" sz="1100">
                <a:latin typeface="Arial"/>
                <a:ea typeface="Arial"/>
                <a:cs typeface="Arial"/>
                <a:sym typeface="Arial"/>
              </a:rPr>
              <a:t>I</a:t>
            </a:r>
            <a:r>
              <a:rPr lang="en-US" sz="1100">
                <a:latin typeface="Arial"/>
                <a:ea typeface="Arial"/>
                <a:cs typeface="Arial"/>
                <a:sym typeface="Arial"/>
              </a:rPr>
              <a:t>nstead of trying to predict the outcome using predictors, we swap it: we try to predict what predictors an outcome variable likely had, and then use Bayes’ theorem to flip it around to get us which probability we wanted.</a:t>
            </a:r>
            <a:endParaRPr sz="1100">
              <a:latin typeface="Arial"/>
              <a:ea typeface="Arial"/>
              <a:cs typeface="Arial"/>
              <a:sym typeface="Arial"/>
            </a:endParaRPr>
          </a:p>
          <a:p>
            <a:pPr indent="-298450" lvl="1" marL="914400" rtl="0" algn="l">
              <a:spcBef>
                <a:spcPts val="0"/>
              </a:spcBef>
              <a:spcAft>
                <a:spcPts val="0"/>
              </a:spcAft>
              <a:buClr>
                <a:schemeClr val="dk1"/>
              </a:buClr>
              <a:buSzPts val="1100"/>
              <a:buChar char="○"/>
            </a:pPr>
            <a:r>
              <a:rPr b="1" lang="en-US" sz="1100">
                <a:latin typeface="Arial"/>
                <a:ea typeface="Arial"/>
                <a:cs typeface="Arial"/>
                <a:sym typeface="Arial"/>
              </a:rPr>
              <a:t>[Point]</a:t>
            </a:r>
            <a:r>
              <a:rPr lang="en-US" sz="1100">
                <a:latin typeface="Arial"/>
                <a:ea typeface="Arial"/>
                <a:cs typeface="Arial"/>
                <a:sym typeface="Arial"/>
              </a:rPr>
              <a:t> So we want to find P(Y|X). </a:t>
            </a:r>
            <a:endParaRPr sz="1100">
              <a:latin typeface="Arial"/>
              <a:ea typeface="Arial"/>
              <a:cs typeface="Arial"/>
              <a:sym typeface="Arial"/>
            </a:endParaRPr>
          </a:p>
          <a:p>
            <a:pPr indent="-298450" lvl="1" marL="914400" rtl="0" algn="l">
              <a:spcBef>
                <a:spcPts val="0"/>
              </a:spcBef>
              <a:spcAft>
                <a:spcPts val="0"/>
              </a:spcAft>
              <a:buClr>
                <a:schemeClr val="dk1"/>
              </a:buClr>
              <a:buSzPts val="1100"/>
              <a:buChar char="○"/>
            </a:pPr>
            <a:r>
              <a:rPr b="1" lang="en-US" sz="1100">
                <a:latin typeface="Arial"/>
                <a:ea typeface="Arial"/>
                <a:cs typeface="Arial"/>
                <a:sym typeface="Arial"/>
              </a:rPr>
              <a:t>[Point]</a:t>
            </a:r>
            <a:r>
              <a:rPr lang="en-US" sz="1100">
                <a:latin typeface="Arial"/>
                <a:ea typeface="Arial"/>
                <a:cs typeface="Arial"/>
                <a:sym typeface="Arial"/>
              </a:rPr>
              <a:t> To do so, we need to find P(Y) which is easy, we get the proportion of values observed with that outcome. </a:t>
            </a:r>
            <a:endParaRPr sz="1100">
              <a:latin typeface="Arial"/>
              <a:ea typeface="Arial"/>
              <a:cs typeface="Arial"/>
              <a:sym typeface="Arial"/>
            </a:endParaRPr>
          </a:p>
          <a:p>
            <a:pPr indent="-298450" lvl="1" marL="914400" rtl="0" algn="l">
              <a:spcBef>
                <a:spcPts val="0"/>
              </a:spcBef>
              <a:spcAft>
                <a:spcPts val="0"/>
              </a:spcAft>
              <a:buClr>
                <a:schemeClr val="dk1"/>
              </a:buClr>
              <a:buSzPts val="1100"/>
              <a:buChar char="○"/>
            </a:pPr>
            <a:r>
              <a:rPr b="1" lang="en-US" sz="1100">
                <a:latin typeface="Arial"/>
                <a:ea typeface="Arial"/>
                <a:cs typeface="Arial"/>
                <a:sym typeface="Arial"/>
              </a:rPr>
              <a:t>[Point] </a:t>
            </a:r>
            <a:r>
              <a:rPr lang="en-US" sz="1100">
                <a:latin typeface="Arial"/>
                <a:ea typeface="Arial"/>
                <a:cs typeface="Arial"/>
                <a:sym typeface="Arial"/>
              </a:rPr>
              <a:t>And P(X) can also be taken from the training data.</a:t>
            </a:r>
            <a:endParaRPr sz="1100">
              <a:latin typeface="Arial"/>
              <a:ea typeface="Arial"/>
              <a:cs typeface="Arial"/>
              <a:sym typeface="Arial"/>
            </a:endParaRPr>
          </a:p>
          <a:p>
            <a:pPr indent="-298450" lvl="1" marL="914400" rtl="0" algn="l">
              <a:spcBef>
                <a:spcPts val="0"/>
              </a:spcBef>
              <a:spcAft>
                <a:spcPts val="0"/>
              </a:spcAft>
              <a:buClr>
                <a:schemeClr val="dk1"/>
              </a:buClr>
              <a:buSzPts val="1100"/>
              <a:buChar char="○"/>
            </a:pPr>
            <a:r>
              <a:rPr b="1" lang="en-US" sz="1100">
                <a:latin typeface="Arial"/>
                <a:ea typeface="Arial"/>
                <a:cs typeface="Arial"/>
                <a:sym typeface="Arial"/>
              </a:rPr>
              <a:t>[Point] </a:t>
            </a:r>
            <a:r>
              <a:rPr lang="en-US" sz="1100">
                <a:latin typeface="Arial"/>
                <a:ea typeface="Arial"/>
                <a:cs typeface="Arial"/>
                <a:sym typeface="Arial"/>
              </a:rPr>
              <a:t>What we’re interested in is this, P(X|Y). In practice, calculating this is hard. It calculates for a fixed outcome class, the distribution of the predictor variables in it. </a:t>
            </a:r>
            <a:endParaRPr sz="1100">
              <a:latin typeface="Arial"/>
              <a:ea typeface="Arial"/>
              <a:cs typeface="Arial"/>
              <a:sym typeface="Arial"/>
            </a:endParaRPr>
          </a:p>
          <a:p>
            <a:pPr indent="-298450" lvl="1" marL="914400" rtl="0" algn="l">
              <a:spcBef>
                <a:spcPts val="0"/>
              </a:spcBef>
              <a:spcAft>
                <a:spcPts val="0"/>
              </a:spcAft>
              <a:buClr>
                <a:schemeClr val="dk1"/>
              </a:buClr>
              <a:buSzPts val="1100"/>
              <a:buFont typeface="Arial"/>
              <a:buChar char="○"/>
            </a:pPr>
            <a:r>
              <a:rPr lang="en-US" sz="1100">
                <a:latin typeface="Arial"/>
                <a:ea typeface="Arial"/>
                <a:cs typeface="Arial"/>
                <a:sym typeface="Arial"/>
              </a:rPr>
              <a:t>So after finding P(Y|X) for every possible Y=k (k class), we place X into the class that has the highest probability.</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US" sz="1100">
                <a:latin typeface="Arial"/>
                <a:ea typeface="Arial"/>
                <a:cs typeface="Arial"/>
                <a:sym typeface="Arial"/>
              </a:rPr>
              <a:t>We are interested in two main ways to find this value.</a:t>
            </a:r>
            <a:endParaRPr/>
          </a:p>
        </p:txBody>
      </p:sp>
      <p:sp>
        <p:nvSpPr>
          <p:cNvPr id="516" name="Google Shape;516;h37505ac47c0edbc2_48_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h37505ac47c0edbc2_48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9" name="Google Shape;529;h37505ac47c0edbc2_48_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US" sz="1100">
                <a:latin typeface="Arial"/>
                <a:ea typeface="Arial"/>
                <a:cs typeface="Arial"/>
                <a:sym typeface="Arial"/>
              </a:rPr>
              <a:t>We are interested in two main ways to find this value.</a:t>
            </a:r>
            <a:endParaRPr sz="1100">
              <a:latin typeface="Arial"/>
              <a:ea typeface="Arial"/>
              <a:cs typeface="Arial"/>
              <a:sym typeface="Arial"/>
            </a:endParaRPr>
          </a:p>
          <a:p>
            <a:pPr indent="-298450" lvl="1" marL="914400" rtl="0" algn="l">
              <a:spcBef>
                <a:spcPts val="0"/>
              </a:spcBef>
              <a:spcAft>
                <a:spcPts val="0"/>
              </a:spcAft>
              <a:buSzPts val="1100"/>
              <a:buFont typeface="Arial"/>
              <a:buChar char="○"/>
            </a:pPr>
            <a:r>
              <a:rPr lang="en-US" sz="1100">
                <a:latin typeface="Arial"/>
                <a:ea typeface="Arial"/>
                <a:cs typeface="Arial"/>
                <a:sym typeface="Arial"/>
              </a:rPr>
              <a:t>Linear Discriminant Analysis (LDA): produces a linear decision boundary by which we split our classes. It’s a very simple model but as you can see, a straight line is usually nowhere near accurate enough to split the data.</a:t>
            </a:r>
            <a:endParaRPr sz="1100">
              <a:solidFill>
                <a:srgbClr val="FF0000"/>
              </a:solidFill>
              <a:latin typeface="Arial"/>
              <a:ea typeface="Arial"/>
              <a:cs typeface="Arial"/>
              <a:sym typeface="Arial"/>
            </a:endParaRPr>
          </a:p>
          <a:p>
            <a:pPr indent="-298450" lvl="1" marL="914400" rtl="0" algn="l">
              <a:spcBef>
                <a:spcPts val="0"/>
              </a:spcBef>
              <a:spcAft>
                <a:spcPts val="0"/>
              </a:spcAft>
              <a:buSzPts val="1100"/>
              <a:buFont typeface="Arial"/>
              <a:buChar char="○"/>
            </a:pPr>
            <a:r>
              <a:rPr lang="en-US" sz="1100">
                <a:latin typeface="Arial"/>
                <a:ea typeface="Arial"/>
                <a:cs typeface="Arial"/>
                <a:sym typeface="Arial"/>
              </a:rPr>
              <a:t>Quadratic Discriminant Analysis (QDA): produces a quadratic, curvy, decision boundary by which we split our classes. It’s more flexible, but has higher variance and generally needs more data to be accurate.</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US" sz="1100">
                <a:latin typeface="Arial"/>
                <a:ea typeface="Arial"/>
                <a:cs typeface="Arial"/>
                <a:sym typeface="Arial"/>
              </a:rPr>
              <a:t>One more difference between the two has to do with a important thing we use to calculate this probability P(X | Y). It’s called the </a:t>
            </a:r>
            <a:r>
              <a:rPr b="1" lang="en-US" sz="1100">
                <a:latin typeface="Arial"/>
                <a:ea typeface="Arial"/>
                <a:cs typeface="Arial"/>
                <a:sym typeface="Arial"/>
              </a:rPr>
              <a:t>covariance matrix</a:t>
            </a:r>
            <a:r>
              <a:rPr lang="en-US" sz="1100">
                <a:latin typeface="Arial"/>
                <a:ea typeface="Arial"/>
                <a:cs typeface="Arial"/>
                <a:sym typeface="Arial"/>
              </a:rPr>
              <a:t> of each class, which essentially encodes the relationship between each unique pair of predictor values in the class.</a:t>
            </a:r>
            <a:endParaRPr sz="1100">
              <a:latin typeface="Arial"/>
              <a:ea typeface="Arial"/>
              <a:cs typeface="Arial"/>
              <a:sym typeface="Arial"/>
            </a:endParaRPr>
          </a:p>
          <a:p>
            <a:pPr indent="-298450" lvl="1" marL="914400" rtl="0" algn="l">
              <a:spcBef>
                <a:spcPts val="0"/>
              </a:spcBef>
              <a:spcAft>
                <a:spcPts val="0"/>
              </a:spcAft>
              <a:buSzPts val="1100"/>
              <a:buFont typeface="Arial"/>
              <a:buChar char="○"/>
            </a:pPr>
            <a:r>
              <a:rPr lang="en-US" sz="1100">
                <a:latin typeface="Arial"/>
                <a:ea typeface="Arial"/>
                <a:cs typeface="Arial"/>
                <a:sym typeface="Arial"/>
              </a:rPr>
              <a:t>So if the data is a cluster, like a cloud of dots,</a:t>
            </a:r>
            <a:r>
              <a:rPr lang="en-US" sz="1100">
                <a:latin typeface="Arial"/>
                <a:ea typeface="Arial"/>
                <a:cs typeface="Arial"/>
                <a:sym typeface="Arial"/>
              </a:rPr>
              <a:t> the covariance matrix describes the shape of that cloud. </a:t>
            </a:r>
            <a:endParaRPr sz="1100">
              <a:latin typeface="Arial"/>
              <a:ea typeface="Arial"/>
              <a:cs typeface="Arial"/>
              <a:sym typeface="Arial"/>
            </a:endParaRPr>
          </a:p>
          <a:p>
            <a:pPr indent="-298450" lvl="2" marL="1371600" rtl="0" algn="l">
              <a:spcBef>
                <a:spcPts val="0"/>
              </a:spcBef>
              <a:spcAft>
                <a:spcPts val="0"/>
              </a:spcAft>
              <a:buSzPts val="1100"/>
              <a:buFont typeface="Arial"/>
              <a:buChar char="■"/>
            </a:pPr>
            <a:r>
              <a:rPr b="1" lang="en-US" sz="1100">
                <a:latin typeface="Arial"/>
                <a:ea typeface="Arial"/>
                <a:cs typeface="Arial"/>
                <a:sym typeface="Arial"/>
              </a:rPr>
              <a:t>[Point diagonal] </a:t>
            </a:r>
            <a:r>
              <a:rPr lang="en-US" sz="1100">
                <a:latin typeface="Arial"/>
                <a:ea typeface="Arial"/>
                <a:cs typeface="Arial"/>
                <a:sym typeface="Arial"/>
              </a:rPr>
              <a:t>These values, the variance of each variable, numbers say how wide the cloud is along each variable. </a:t>
            </a:r>
            <a:endParaRPr sz="1100">
              <a:latin typeface="Arial"/>
              <a:ea typeface="Arial"/>
              <a:cs typeface="Arial"/>
              <a:sym typeface="Arial"/>
            </a:endParaRPr>
          </a:p>
          <a:p>
            <a:pPr indent="-298450" lvl="2" marL="1371600" rtl="0" algn="l">
              <a:spcBef>
                <a:spcPts val="0"/>
              </a:spcBef>
              <a:spcAft>
                <a:spcPts val="0"/>
              </a:spcAft>
              <a:buSzPts val="1100"/>
              <a:buFont typeface="Arial"/>
              <a:buChar char="■"/>
            </a:pPr>
            <a:r>
              <a:rPr b="1" lang="en-US" sz="1100">
                <a:latin typeface="Arial"/>
                <a:ea typeface="Arial"/>
                <a:cs typeface="Arial"/>
                <a:sym typeface="Arial"/>
              </a:rPr>
              <a:t>[Point others] </a:t>
            </a:r>
            <a:r>
              <a:rPr lang="en-US" sz="1100">
                <a:latin typeface="Arial"/>
                <a:ea typeface="Arial"/>
                <a:cs typeface="Arial"/>
                <a:sym typeface="Arial"/>
              </a:rPr>
              <a:t>These take into account the relationship between each pair of variables, and it would determine how the cloud is tilted.</a:t>
            </a:r>
            <a:endParaRPr sz="1100">
              <a:latin typeface="Arial"/>
              <a:ea typeface="Arial"/>
              <a:cs typeface="Arial"/>
              <a:sym typeface="Arial"/>
            </a:endParaRPr>
          </a:p>
          <a:p>
            <a:pPr indent="-298450" lvl="1" marL="914400" rtl="0" algn="l">
              <a:spcBef>
                <a:spcPts val="0"/>
              </a:spcBef>
              <a:spcAft>
                <a:spcPts val="0"/>
              </a:spcAft>
              <a:buSzPts val="1100"/>
              <a:buFont typeface="Arial"/>
              <a:buChar char="○"/>
            </a:pPr>
            <a:r>
              <a:rPr lang="en-US" sz="1100">
                <a:latin typeface="Arial"/>
                <a:ea typeface="Arial"/>
                <a:cs typeface="Arial"/>
                <a:sym typeface="Arial"/>
              </a:rPr>
              <a:t> So the difference between LDA and QDA is that LDA assumes the same covariance matrix for each class, which is obviously simpler. But QDA uses a different one for each class (so in our case the match and no-match groups have different covariances), which gives more flexibility.</a:t>
            </a:r>
            <a:endParaRPr/>
          </a:p>
        </p:txBody>
      </p:sp>
      <p:sp>
        <p:nvSpPr>
          <p:cNvPr id="530" name="Google Shape;530;h37505ac47c0edbc2_48_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5" name="Google Shape;55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100">
                <a:latin typeface="Arial"/>
                <a:ea typeface="Arial"/>
                <a:cs typeface="Arial"/>
                <a:sym typeface="Arial"/>
              </a:rPr>
              <a:t>As you may imagine, have their limitations, most notably by the little data that we have. That’s why we have </a:t>
            </a:r>
            <a:r>
              <a:rPr lang="en-US" sz="1100">
                <a:latin typeface="Arial"/>
                <a:ea typeface="Arial"/>
                <a:cs typeface="Arial"/>
                <a:sym typeface="Arial"/>
              </a:rPr>
              <a:t>validation methods to test the accuracy and reliability of our models.</a:t>
            </a:r>
            <a:endParaRPr sz="1100">
              <a:latin typeface="Arial"/>
              <a:ea typeface="Arial"/>
              <a:cs typeface="Arial"/>
              <a:sym typeface="Arial"/>
            </a:endParaRPr>
          </a:p>
          <a:p>
            <a:pPr indent="0" lvl="0" marL="0" rtl="0" algn="l">
              <a:spcBef>
                <a:spcPts val="0"/>
              </a:spcBef>
              <a:spcAft>
                <a:spcPts val="0"/>
              </a:spcAft>
              <a:buNone/>
            </a:pPr>
            <a:r>
              <a:t/>
            </a:r>
            <a:endParaRPr sz="1100">
              <a:latin typeface="Arial"/>
              <a:ea typeface="Arial"/>
              <a:cs typeface="Arial"/>
              <a:sym typeface="Arial"/>
            </a:endParaRPr>
          </a:p>
          <a:p>
            <a:pPr indent="-298450" lvl="0" marL="457200" rtl="0" algn="l">
              <a:spcBef>
                <a:spcPts val="0"/>
              </a:spcBef>
              <a:spcAft>
                <a:spcPts val="0"/>
              </a:spcAft>
              <a:buClr>
                <a:schemeClr val="dk1"/>
              </a:buClr>
              <a:buSzPts val="1100"/>
              <a:buChar char="●"/>
            </a:pPr>
            <a:r>
              <a:rPr lang="en-US" sz="1100">
                <a:latin typeface="Arial"/>
                <a:ea typeface="Arial"/>
                <a:cs typeface="Arial"/>
                <a:sym typeface="Arial"/>
              </a:rPr>
              <a:t>Firstly, as mentioned, e’re training our models on data we have, whose outcomes we know. But we don’t necessarily know how well it performs on data it hasn’t seen yet. Validation allows us to measure the accuracy of our models. </a:t>
            </a:r>
            <a:endParaRPr sz="1100">
              <a:latin typeface="Arial"/>
              <a:ea typeface="Arial"/>
              <a:cs typeface="Arial"/>
              <a:sym typeface="Arial"/>
            </a:endParaRPr>
          </a:p>
          <a:p>
            <a:pPr indent="-298450" lvl="1" marL="914400" rtl="0" algn="l">
              <a:spcBef>
                <a:spcPts val="0"/>
              </a:spcBef>
              <a:spcAft>
                <a:spcPts val="0"/>
              </a:spcAft>
              <a:buClr>
                <a:schemeClr val="dk1"/>
              </a:buClr>
              <a:buSzPts val="1100"/>
              <a:buChar char="○"/>
            </a:pPr>
            <a:r>
              <a:rPr lang="en-US" sz="1100">
                <a:latin typeface="Arial"/>
                <a:ea typeface="Arial"/>
                <a:cs typeface="Arial"/>
                <a:sym typeface="Arial"/>
              </a:rPr>
              <a:t>k-Fold Cross-Validation is when we split our data into k groups (called folds) and train it on all folds but one, then test it on the last fold, comparing the predictions of the model to the real results.</a:t>
            </a:r>
            <a:endParaRPr sz="1100">
              <a:latin typeface="Arial"/>
              <a:ea typeface="Arial"/>
              <a:cs typeface="Arial"/>
              <a:sym typeface="Arial"/>
            </a:endParaRPr>
          </a:p>
          <a:p>
            <a:pPr indent="-298450" lvl="0" marL="457200" rtl="0" algn="l">
              <a:spcBef>
                <a:spcPts val="0"/>
              </a:spcBef>
              <a:spcAft>
                <a:spcPts val="0"/>
              </a:spcAft>
              <a:buClr>
                <a:schemeClr val="dk1"/>
              </a:buClr>
              <a:buSzPts val="1100"/>
              <a:buChar char="●"/>
            </a:pPr>
            <a:r>
              <a:rPr lang="en-US" sz="1100">
                <a:latin typeface="Arial"/>
                <a:ea typeface="Arial"/>
                <a:cs typeface="Arial"/>
                <a:sym typeface="Arial"/>
              </a:rPr>
              <a:t>Sampling is another problem: we can’t be certain that our current data is actually representative of the population we want it to be generalized to.</a:t>
            </a:r>
            <a:endParaRPr sz="1100">
              <a:latin typeface="Arial"/>
              <a:ea typeface="Arial"/>
              <a:cs typeface="Arial"/>
              <a:sym typeface="Arial"/>
            </a:endParaRPr>
          </a:p>
          <a:p>
            <a:pPr indent="-298450" lvl="1" marL="914400" rtl="0" algn="l">
              <a:spcBef>
                <a:spcPts val="0"/>
              </a:spcBef>
              <a:spcAft>
                <a:spcPts val="0"/>
              </a:spcAft>
              <a:buClr>
                <a:schemeClr val="dk1"/>
              </a:buClr>
              <a:buSzPts val="1100"/>
              <a:buChar char="○"/>
            </a:pPr>
            <a:r>
              <a:rPr lang="en-US" sz="1100">
                <a:latin typeface="Arial"/>
                <a:ea typeface="Arial"/>
                <a:cs typeface="Arial"/>
                <a:sym typeface="Arial"/>
              </a:rPr>
              <a:t>Bootstrap is a way to simulate repeated sampling just on the data we have. It’s done by taking a random fixed-size subset of our data and computing our statistic, and repeating this by taking different random subsets each time (with replacement). And then we look at the distribution of them all at the end. This is how we estimate the uncertainty of our dataset.</a:t>
            </a:r>
            <a:endParaRPr sz="1100">
              <a:latin typeface="Arial"/>
              <a:ea typeface="Arial"/>
              <a:cs typeface="Arial"/>
              <a:sym typeface="Arial"/>
            </a:endParaRPr>
          </a:p>
          <a:p>
            <a:pPr indent="0" lvl="0" marL="0" rtl="0" algn="l">
              <a:spcBef>
                <a:spcPts val="0"/>
              </a:spcBef>
              <a:spcAft>
                <a:spcPts val="0"/>
              </a:spcAft>
              <a:buNone/>
            </a:pPr>
            <a:r>
              <a:t/>
            </a:r>
            <a:endParaRPr/>
          </a:p>
        </p:txBody>
      </p:sp>
      <p:sp>
        <p:nvSpPr>
          <p:cNvPr id="556" name="Google Shape;55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0" name="Google Shape;62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Jenna introduced k-fold cross-validation. The usual version splits rows at random, but in our data people repeat: each person dates up to 22 partners, so the 4,184 pairs share people. With a random split, the same person would be in both the training and the test set, and the model could partly recognize them. The score would then describe predictions for people the model has already seen, which overstates how well it would do for a matchmaker meeting new people. So we split by event instead. The picture shows our five rounds. In each round, the orange events are held out and scored, and the model is fitted on the blue ones; every one of the 21 events is held out exactly once. When a model has a setting to tune, like the random forest's leaf size, we choose it with a second cross-validation inside the blue training events only. That's called nested cross-validation, and those inner folds also hold out whole events. And all data preparation is learned from the training events, so nothing about the test events leaks into the fit.</a:t>
            </a:r>
            <a:endParaRPr/>
          </a:p>
        </p:txBody>
      </p:sp>
      <p:sp>
        <p:nvSpPr>
          <p:cNvPr id="621" name="Google Shape;621;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8" name="Google Shape;63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98450" lvl="0" marL="457200" rtl="0" algn="l">
              <a:spcBef>
                <a:spcPts val="0"/>
              </a:spcBef>
              <a:spcAft>
                <a:spcPts val="0"/>
              </a:spcAft>
              <a:buClr>
                <a:schemeClr val="dk1"/>
              </a:buClr>
              <a:buSzPts val="1100"/>
              <a:buChar char="●"/>
            </a:pPr>
            <a:r>
              <a:rPr lang="en-US" sz="1100">
                <a:latin typeface="Arial"/>
                <a:ea typeface="Arial"/>
                <a:cs typeface="Arial"/>
                <a:sym typeface="Arial"/>
              </a:rPr>
              <a:t>A decision tree is a model that makes predictions by repeatedly splitting the data into different branches based on the strongest predictor values. The way this is chosen is at each node, the tree tries different predictors and cutoff values for them in applicable and chooses the split that best separates the outcome classes. We keep splitting until we reach a terminal node/leaf, which gives the prediction for that value.</a:t>
            </a:r>
            <a:endParaRPr sz="1100">
              <a:latin typeface="Arial"/>
              <a:ea typeface="Arial"/>
              <a:cs typeface="Arial"/>
              <a:sym typeface="Arial"/>
            </a:endParaRPr>
          </a:p>
          <a:p>
            <a:pPr indent="-298450" lvl="0" marL="457200" rtl="0" algn="l">
              <a:spcBef>
                <a:spcPts val="0"/>
              </a:spcBef>
              <a:spcAft>
                <a:spcPts val="0"/>
              </a:spcAft>
              <a:buClr>
                <a:schemeClr val="dk1"/>
              </a:buClr>
              <a:buSzPts val="1100"/>
              <a:buChar char="●"/>
            </a:pPr>
            <a:r>
              <a:rPr lang="en-US" sz="1100">
                <a:latin typeface="Arial"/>
                <a:ea typeface="Arial"/>
                <a:cs typeface="Arial"/>
                <a:sym typeface="Arial"/>
              </a:rPr>
              <a:t>Decision trees are easy to interpret but a single one can have very high variance, i.e., small changes in training data can have drastic impacts on the data. </a:t>
            </a:r>
            <a:endParaRPr sz="1100">
              <a:latin typeface="Arial"/>
              <a:ea typeface="Arial"/>
              <a:cs typeface="Arial"/>
              <a:sym typeface="Arial"/>
            </a:endParaRPr>
          </a:p>
          <a:p>
            <a:pPr indent="-298450" lvl="1" marL="914400" rtl="0" algn="l">
              <a:spcBef>
                <a:spcPts val="0"/>
              </a:spcBef>
              <a:spcAft>
                <a:spcPts val="0"/>
              </a:spcAft>
              <a:buClr>
                <a:schemeClr val="dk1"/>
              </a:buClr>
              <a:buSzPts val="1100"/>
              <a:buChar char="○"/>
            </a:pPr>
            <a:r>
              <a:rPr lang="en-US" sz="1100">
                <a:latin typeface="Arial"/>
                <a:ea typeface="Arial"/>
                <a:cs typeface="Arial"/>
                <a:sym typeface="Arial"/>
              </a:rPr>
              <a:t>So we turn first to bagging. Bagging reduces variance by creating many bootstrap samples of the training data, fitting a separate deep decision tree to each sample, and then combining their predictions (for classification trees, they’re amalgamated by a majority vote, i.e., which outcome was most common). The idea is that taking an “average” gives us a more stable prediction.</a:t>
            </a:r>
            <a:endParaRPr sz="1100">
              <a:latin typeface="Arial"/>
              <a:ea typeface="Arial"/>
              <a:cs typeface="Arial"/>
              <a:sym typeface="Arial"/>
            </a:endParaRPr>
          </a:p>
          <a:p>
            <a:pPr indent="-298450" lvl="0" marL="457200" rtl="0" algn="l">
              <a:spcBef>
                <a:spcPts val="0"/>
              </a:spcBef>
              <a:spcAft>
                <a:spcPts val="0"/>
              </a:spcAft>
              <a:buClr>
                <a:schemeClr val="dk1"/>
              </a:buClr>
              <a:buSzPts val="1100"/>
              <a:buChar char="●"/>
            </a:pPr>
            <a:r>
              <a:rPr lang="en-US" sz="1100">
                <a:latin typeface="Arial"/>
                <a:ea typeface="Arial"/>
                <a:cs typeface="Arial"/>
                <a:sym typeface="Arial"/>
              </a:rPr>
              <a:t>Random forest is similar to bagging, except when a tree is deciding how to make a split, it is not allowed to consider all p predictors. Instead it chooses from a random subset of those predictors, often m = √p. </a:t>
            </a:r>
            <a:endParaRPr sz="1100">
              <a:latin typeface="Arial"/>
              <a:ea typeface="Arial"/>
              <a:cs typeface="Arial"/>
              <a:sym typeface="Arial"/>
            </a:endParaRPr>
          </a:p>
          <a:p>
            <a:pPr indent="-298450" lvl="1" marL="914400" rtl="0" algn="l">
              <a:spcBef>
                <a:spcPts val="0"/>
              </a:spcBef>
              <a:spcAft>
                <a:spcPts val="0"/>
              </a:spcAft>
              <a:buClr>
                <a:schemeClr val="dk1"/>
              </a:buClr>
              <a:buSzPts val="1100"/>
              <a:buChar char="○"/>
            </a:pPr>
            <a:r>
              <a:rPr lang="en-US" sz="1100">
                <a:latin typeface="Arial"/>
                <a:ea typeface="Arial"/>
                <a:cs typeface="Arial"/>
                <a:sym typeface="Arial"/>
              </a:rPr>
              <a:t>We do this because if one predictor is particularly strong, then it might be chosen for multiple if not all the trees in bagging, and we would end up with many similar trees. Random forest decorrelates the predictions from one tree to another, which improves the performance of our model.</a:t>
            </a:r>
            <a:endParaRPr sz="1100">
              <a:latin typeface="Arial"/>
              <a:ea typeface="Arial"/>
              <a:cs typeface="Arial"/>
              <a:sym typeface="Arial"/>
            </a:endParaRPr>
          </a:p>
          <a:p>
            <a:pPr indent="0" lvl="0" marL="0" rtl="0" algn="l">
              <a:spcBef>
                <a:spcPts val="0"/>
              </a:spcBef>
              <a:spcAft>
                <a:spcPts val="0"/>
              </a:spcAft>
              <a:buNone/>
            </a:pPr>
            <a:r>
              <a:t/>
            </a:r>
            <a:endParaRPr/>
          </a:p>
        </p:txBody>
      </p:sp>
      <p:sp>
        <p:nvSpPr>
          <p:cNvPr id="639" name="Google Shape;63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6" name="Google Shape;65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The last thing I want to introduce as background is how we are interested in evaluating our models.</a:t>
            </a:r>
            <a:endParaRPr sz="1100">
              <a:latin typeface="Arial"/>
              <a:ea typeface="Arial"/>
              <a:cs typeface="Arial"/>
              <a:sym typeface="Arial"/>
            </a:endParaRPr>
          </a:p>
          <a:p>
            <a:pPr indent="-298450" lvl="0" marL="457200" rtl="0" algn="l">
              <a:spcBef>
                <a:spcPts val="0"/>
              </a:spcBef>
              <a:spcAft>
                <a:spcPts val="0"/>
              </a:spcAft>
              <a:buClr>
                <a:schemeClr val="dk1"/>
              </a:buClr>
              <a:buSzPts val="1100"/>
              <a:buChar char="●"/>
            </a:pPr>
            <a:r>
              <a:rPr lang="en-US" sz="1100">
                <a:latin typeface="Arial"/>
                <a:ea typeface="Arial"/>
                <a:cs typeface="Arial"/>
                <a:sym typeface="Arial"/>
              </a:rPr>
              <a:t>Since our models give us probabilities that a given observation leads to a certain outcome, we need a threshold for what probability is yes or no (it’s not always above/below 50%). </a:t>
            </a:r>
            <a:endParaRPr sz="1100">
              <a:latin typeface="Arial"/>
              <a:ea typeface="Arial"/>
              <a:cs typeface="Arial"/>
              <a:sym typeface="Arial"/>
            </a:endParaRPr>
          </a:p>
          <a:p>
            <a:pPr indent="-298450" lvl="1" marL="914400" rtl="0" algn="l">
              <a:spcBef>
                <a:spcPts val="0"/>
              </a:spcBef>
              <a:spcAft>
                <a:spcPts val="0"/>
              </a:spcAft>
              <a:buClr>
                <a:schemeClr val="dk1"/>
              </a:buClr>
              <a:buSzPts val="1100"/>
              <a:buChar char="○"/>
            </a:pPr>
            <a:r>
              <a:rPr lang="en-US" sz="1100">
                <a:latin typeface="Arial"/>
                <a:ea typeface="Arial"/>
                <a:cs typeface="Arial"/>
                <a:sym typeface="Arial"/>
              </a:rPr>
              <a:t>Broadly, if we increase that threshold, we’re more prone to false negatives, and if we decrease it, we’re more prone to false positives.</a:t>
            </a:r>
            <a:endParaRPr sz="1100">
              <a:latin typeface="Arial"/>
              <a:ea typeface="Arial"/>
              <a:cs typeface="Arial"/>
              <a:sym typeface="Arial"/>
            </a:endParaRPr>
          </a:p>
          <a:p>
            <a:pPr indent="-298450" lvl="1" marL="914400" rtl="0" algn="l">
              <a:spcBef>
                <a:spcPts val="0"/>
              </a:spcBef>
              <a:spcAft>
                <a:spcPts val="0"/>
              </a:spcAft>
              <a:buClr>
                <a:schemeClr val="dk1"/>
              </a:buClr>
              <a:buSzPts val="1100"/>
              <a:buChar char="○"/>
            </a:pPr>
            <a:r>
              <a:rPr lang="en-US" sz="1100">
                <a:latin typeface="Arial"/>
                <a:ea typeface="Arial"/>
                <a:cs typeface="Arial"/>
                <a:sym typeface="Arial"/>
              </a:rPr>
              <a:t>The ROC curve gives this relationship. Each point on the ROC curve represents a different probability threshold. Lowering the threshold moves us up and right: we catch more true matches, but also create more false positives.</a:t>
            </a:r>
            <a:endParaRPr sz="1100">
              <a:latin typeface="Arial"/>
              <a:ea typeface="Arial"/>
              <a:cs typeface="Arial"/>
              <a:sym typeface="Arial"/>
            </a:endParaRPr>
          </a:p>
          <a:p>
            <a:pPr indent="-298450" lvl="0" marL="457200" rtl="0" algn="l">
              <a:spcBef>
                <a:spcPts val="0"/>
              </a:spcBef>
              <a:spcAft>
                <a:spcPts val="0"/>
              </a:spcAft>
              <a:buClr>
                <a:schemeClr val="dk1"/>
              </a:buClr>
              <a:buSzPts val="1100"/>
              <a:buChar char="●"/>
            </a:pPr>
            <a:r>
              <a:rPr lang="en-US" sz="1100">
                <a:latin typeface="Arial"/>
                <a:ea typeface="Arial"/>
                <a:cs typeface="Arial"/>
                <a:sym typeface="Arial"/>
              </a:rPr>
              <a:t>AUC is the area under the ROC curve and summarizes the model’s overall ability to distinguish matches from non-matches.</a:t>
            </a:r>
            <a:endParaRPr sz="1100">
              <a:latin typeface="Arial"/>
              <a:ea typeface="Arial"/>
              <a:cs typeface="Arial"/>
              <a:sym typeface="Arial"/>
            </a:endParaRPr>
          </a:p>
          <a:p>
            <a:pPr indent="-298450" lvl="1" marL="914400" rtl="0" algn="l">
              <a:spcBef>
                <a:spcPts val="0"/>
              </a:spcBef>
              <a:spcAft>
                <a:spcPts val="0"/>
              </a:spcAft>
              <a:buClr>
                <a:schemeClr val="dk1"/>
              </a:buClr>
              <a:buSzPts val="1100"/>
              <a:buChar char="○"/>
            </a:pPr>
            <a:r>
              <a:rPr lang="en-US" sz="1100">
                <a:latin typeface="Arial"/>
                <a:ea typeface="Arial"/>
                <a:cs typeface="Arial"/>
                <a:sym typeface="Arial"/>
              </a:rPr>
              <a:t>AUC of 0.5 means it’s the same as a 50-50 guess.</a:t>
            </a:r>
            <a:endParaRPr sz="1100">
              <a:latin typeface="Arial"/>
              <a:ea typeface="Arial"/>
              <a:cs typeface="Arial"/>
              <a:sym typeface="Arial"/>
            </a:endParaRPr>
          </a:p>
          <a:p>
            <a:pPr indent="-298450" lvl="1" marL="914400" rtl="0" algn="l">
              <a:spcBef>
                <a:spcPts val="0"/>
              </a:spcBef>
              <a:spcAft>
                <a:spcPts val="0"/>
              </a:spcAft>
              <a:buClr>
                <a:schemeClr val="dk1"/>
              </a:buClr>
              <a:buSzPts val="1100"/>
              <a:buChar char="○"/>
            </a:pPr>
            <a:r>
              <a:rPr lang="en-US" sz="1100">
                <a:latin typeface="Arial"/>
                <a:ea typeface="Arial"/>
                <a:cs typeface="Arial"/>
                <a:sym typeface="Arial"/>
              </a:rPr>
              <a:t>AUC of 1 means perfect discrimination between match and non-match.</a:t>
            </a:r>
            <a:endParaRPr sz="1100">
              <a:latin typeface="Arial"/>
              <a:ea typeface="Arial"/>
              <a:cs typeface="Arial"/>
              <a:sym typeface="Arial"/>
            </a:endParaRPr>
          </a:p>
          <a:p>
            <a:pPr indent="0" lvl="0" marL="0" rtl="0" algn="l">
              <a:spcBef>
                <a:spcPts val="0"/>
              </a:spcBef>
              <a:spcAft>
                <a:spcPts val="0"/>
              </a:spcAft>
              <a:buNone/>
            </a:pPr>
            <a:r>
              <a:t/>
            </a:r>
            <a:endParaRPr/>
          </a:p>
        </p:txBody>
      </p:sp>
      <p:sp>
        <p:nvSpPr>
          <p:cNvPr id="657" name="Google Shape;657;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5" name="Google Shape;665;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are the models, and the choices each one makes. Every choice is made inside the training events. Logistic regression may bend a few continuous predictors, like age, the age gap, interest similarity and preference fit, into a curve called a spline, but only when the Bayesian information criterion, BIC, says the curve helps. It never did, so our logistic model is linear. Stepwise selection adds or removes whole predictors by the same criterion, going forward, backward or both ways. LDA has nothing to tune. QDA's shrinkage, the random forest's leaf size and the lasso's penalty are tuned on the inner folds, again grouped by event. The lasso was added after we pre-registered the comparisons, so it is reported separately. Every model is fitted twice: once on the pre-date features and once with the in-date ratings added. And because only about one pair in six matches, we call a pair a match when its predicted probability beats the training match rate, about 0.165, rather than 0.5. One telling detail: in every fold QDA chose the strongest shrinkage, the forest chose the largest leaves, and no curve beat a straight line. Before the date, the signal is too weak to support flexible fits.</a:t>
            </a:r>
            <a:endParaRPr/>
          </a:p>
        </p:txBody>
      </p:sp>
      <p:sp>
        <p:nvSpPr>
          <p:cNvPr id="666" name="Google Shape;666;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h37505ac47c0edbc2_11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7" name="Google Shape;677;h37505ac47c0edbc2_11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also learned something just from what the tuning chose. Our data are thin for this many predictors: a training fold has about 550 matches, but about 125 columns once the categories become dummy variables, so roughly four matches per coefficient. And every tuned model reacted the same way, by picking its most cautious setting. QDA chose the strongest shrinkage in all ten fits, so the estimated correlations were mostly noise. The random forest chose the biggest leaves in every pre-date fit. Interestingly, once the date ratings were added, it chose smaller leaves, because now there was real signal to capture. No spline ever beat a straight line. Stepwise selection kept only about 8 of the 74 predictors, and the lasso dropped many columns. And being cautious paid off: the simpler models beat the full logistic regression, before the date and after. The lesson: before the date, the signal is weak and the data are thin, so the best models are the cautious ones.</a:t>
            </a:r>
            <a:endParaRPr/>
          </a:p>
        </p:txBody>
      </p:sp>
      <p:sp>
        <p:nvSpPr>
          <p:cNvPr id="678" name="Google Shape;678;h37505ac47c0edbc2_11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3" name="Google Shape;703;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few of our tools go a little beyond the course textbook, each for a specific reason. Grouped and nested cross-validation are what I just described: grouping by event so the model is never tested on people it has seen, and tuning inside the training events, because tuning and scoring on the same folds makes the score look better than it is. Regularized QDA exists because QDA needs a separate covariance matrix for the matches, and with only about 550 matches in a training fold and 74 variables, that matrix is estimated poorly, so we shrink it part of the way toward a simpler one. The lasso for logistic regression is the same penalty as the textbook's lasso, applied to the logistic likelihood; it sets weak predictors' coefficients exactly to zero. Our standard errors are clustered by event: pairs from the same evening tend to be predicted well or badly together, so treating them as independent would make the error bars too small. We add up the errors within each event before measuring their spread, and because we have only 21 events we use t quantiles with 20 degrees of freedom. The AUC's standard error is clustered the same way, following Obuchowski. Finally, pre-registration: every hypothesis and its threshold was committed before its test ran, so the results Jenna is about to show were not tuned after the fact.</a:t>
            </a:r>
            <a:endParaRPr/>
          </a:p>
        </p:txBody>
      </p:sp>
      <p:sp>
        <p:nvSpPr>
          <p:cNvPr id="704" name="Google Shape;704;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3" name="Google Shape;713;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100">
                <a:latin typeface="Arial"/>
                <a:ea typeface="Arial"/>
                <a:cs typeface="Arial"/>
                <a:sym typeface="Arial"/>
              </a:rPr>
              <a:t>Our main result is that pre-date characteristics perform much more poorly on their own than if we added during-date information.</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US" sz="1100">
                <a:latin typeface="Arial"/>
                <a:ea typeface="Arial"/>
                <a:cs typeface="Arial"/>
                <a:sym typeface="Arial"/>
              </a:rPr>
              <a:t>We achieved a max AUC of 0.58 (which, as a reminder, </a:t>
            </a:r>
            <a:endParaRPr sz="1100">
              <a:latin typeface="Arial"/>
              <a:ea typeface="Arial"/>
              <a:cs typeface="Arial"/>
              <a:sym typeface="Arial"/>
            </a:endParaRPr>
          </a:p>
          <a:p>
            <a:pPr indent="0" lvl="0" marL="0" rtl="0" algn="l">
              <a:spcBef>
                <a:spcPts val="0"/>
              </a:spcBef>
              <a:spcAft>
                <a:spcPts val="0"/>
              </a:spcAft>
              <a:buNone/>
            </a:pPr>
            <a:r>
              <a:t/>
            </a:r>
            <a:endParaRPr sz="1100">
              <a:latin typeface="Arial"/>
              <a:ea typeface="Arial"/>
              <a:cs typeface="Arial"/>
              <a:sym typeface="Arial"/>
            </a:endParaRPr>
          </a:p>
          <a:p>
            <a:pPr indent="0" lvl="0" marL="0" rtl="0" algn="l">
              <a:spcBef>
                <a:spcPts val="0"/>
              </a:spcBef>
              <a:spcAft>
                <a:spcPts val="0"/>
              </a:spcAft>
              <a:buNone/>
            </a:pPr>
            <a:r>
              <a:rPr lang="en-US" sz="1100">
                <a:latin typeface="Arial"/>
                <a:ea typeface="Arial"/>
                <a:cs typeface="Arial"/>
                <a:sym typeface="Arial"/>
              </a:rPr>
              <a:t>AUC 0.5 is basically a random guess, so the model was not much better than a random guess.</a:t>
            </a:r>
            <a:endParaRPr/>
          </a:p>
        </p:txBody>
      </p:sp>
      <p:sp>
        <p:nvSpPr>
          <p:cNvPr id="714" name="Google Shape;714;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5" name="Google Shape;725;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chart shows every model we fitted, with 90 percent intervals. </a:t>
            </a:r>
            <a:endParaRPr/>
          </a:p>
          <a:p>
            <a:pPr indent="-317500" lvl="0" marL="457200" rtl="0" algn="l">
              <a:spcBef>
                <a:spcPts val="0"/>
              </a:spcBef>
              <a:spcAft>
                <a:spcPts val="0"/>
              </a:spcAft>
              <a:buSzPts val="1400"/>
              <a:buChar char="●"/>
            </a:pPr>
            <a:r>
              <a:rPr lang="en-US"/>
              <a:t>In blue, before the date, all of them, from logistic regression to the random forest, land between 0.54 and 0.58: only a little above chance. </a:t>
            </a:r>
            <a:endParaRPr/>
          </a:p>
          <a:p>
            <a:pPr indent="-317500" lvl="0" marL="457200" rtl="0" algn="l">
              <a:spcBef>
                <a:spcPts val="0"/>
              </a:spcBef>
              <a:spcAft>
                <a:spcPts val="0"/>
              </a:spcAft>
              <a:buSzPts val="1400"/>
              <a:buChar char="●"/>
            </a:pPr>
            <a:r>
              <a:rPr lang="en-US"/>
              <a:t>In orange, with the in-date ratings, they land between 0.78 and 0.85. </a:t>
            </a:r>
            <a:endParaRPr/>
          </a:p>
          <a:p>
            <a:pPr indent="-317500" lvl="0" marL="457200" rtl="0" algn="l">
              <a:spcBef>
                <a:spcPts val="0"/>
              </a:spcBef>
              <a:spcAft>
                <a:spcPts val="0"/>
              </a:spcAft>
              <a:buSzPts val="1400"/>
              <a:buChar char="●"/>
            </a:pPr>
            <a:r>
              <a:rPr lang="en-US"/>
              <a:t>So the limit is in the information available before the date, not in the choice of model.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also tried to predict the overall liking score people gave each other after each date, as another measure of matching. </a:t>
            </a:r>
            <a:endParaRPr/>
          </a:p>
          <a:p>
            <a:pPr indent="-317500" lvl="0" marL="457200" rtl="0" algn="l">
              <a:spcBef>
                <a:spcPts val="0"/>
              </a:spcBef>
              <a:spcAft>
                <a:spcPts val="0"/>
              </a:spcAft>
              <a:buSzPts val="1400"/>
              <a:buChar char="●"/>
            </a:pPr>
            <a:r>
              <a:rPr lang="en-US"/>
              <a:t>We did so using the R^2 </a:t>
            </a:r>
            <a:r>
              <a:rPr lang="en-US"/>
              <a:t>measure</a:t>
            </a:r>
            <a:r>
              <a:rPr lang="en-US"/>
              <a:t>, </a:t>
            </a:r>
            <a:r>
              <a:rPr lang="en-US"/>
              <a:t>which measures how much better the model does compared with just predicting the average value for everyone.</a:t>
            </a:r>
            <a:endParaRPr/>
          </a:p>
          <a:p>
            <a:pPr indent="-317500" lvl="0" marL="457200" rtl="0" algn="l">
              <a:spcBef>
                <a:spcPts val="0"/>
              </a:spcBef>
              <a:spcAft>
                <a:spcPts val="0"/>
              </a:spcAft>
              <a:buSzPts val="1400"/>
              <a:buChar char="●"/>
            </a:pPr>
            <a:r>
              <a:rPr lang="en-US"/>
              <a:t>So our baseline, average value R^2 was -0.003. </a:t>
            </a:r>
            <a:endParaRPr/>
          </a:p>
          <a:p>
            <a:pPr indent="-317500" lvl="0" marL="457200" rtl="0" algn="l">
              <a:spcBef>
                <a:spcPts val="0"/>
              </a:spcBef>
              <a:spcAft>
                <a:spcPts val="0"/>
              </a:spcAft>
              <a:buSzPts val="1400"/>
              <a:buChar char="●"/>
            </a:pPr>
            <a:r>
              <a:rPr lang="en-US"/>
              <a:t>Using the rater's characteristics, the partner's characteristics, and the pair features, the model's held-out R^2 was -0.034. A negative R^2 means it did worse on new events than simply predicting the average liking score from the training data, which is evident that this happened here.</a:t>
            </a:r>
            <a:endParaRPr/>
          </a:p>
          <a:p>
            <a:pPr indent="-317500" lvl="0" marL="457200" rtl="0" algn="l">
              <a:spcBef>
                <a:spcPts val="0"/>
              </a:spcBef>
              <a:spcAft>
                <a:spcPts val="0"/>
              </a:spcAft>
              <a:buSzPts val="1400"/>
              <a:buChar char="●"/>
            </a:pPr>
            <a:r>
              <a:rPr lang="en-US"/>
              <a:t>Adding the pair-level compatibility features improved the R^2 value by only 0.008. So this supports the fact that relatively little information of how people feel about each other can be recovered from their characteristics before they meet.</a:t>
            </a:r>
            <a:endParaRPr/>
          </a:p>
        </p:txBody>
      </p:sp>
      <p:sp>
        <p:nvSpPr>
          <p:cNvPr id="726" name="Google Shape;726;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h37505ac47c0edbc2_48_2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8" name="Google Shape;738;h37505ac47c0edbc2_48_2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Next, did our compatibility features help? We added them in steps, using the full logistic regression. </a:t>
            </a:r>
            <a:endParaRPr/>
          </a:p>
          <a:p>
            <a:pPr indent="0" lvl="0" marL="0" rtl="0" algn="l">
              <a:lnSpc>
                <a:spcPct val="100000"/>
              </a:lnSpc>
              <a:spcBef>
                <a:spcPts val="0"/>
              </a:spcBef>
              <a:spcAft>
                <a:spcPts val="0"/>
              </a:spcAft>
              <a:buSzPts val="1400"/>
              <a:buNone/>
            </a:pPr>
            <a:r>
              <a:t/>
            </a:r>
            <a:endParaRPr/>
          </a:p>
          <a:p>
            <a:pPr indent="-317500" lvl="0" marL="457200" rtl="0" algn="l">
              <a:lnSpc>
                <a:spcPct val="100000"/>
              </a:lnSpc>
              <a:spcBef>
                <a:spcPts val="0"/>
              </a:spcBef>
              <a:spcAft>
                <a:spcPts val="0"/>
              </a:spcAft>
              <a:buSzPts val="1400"/>
              <a:buChar char="●"/>
            </a:pPr>
            <a:r>
              <a:rPr lang="en-US"/>
              <a:t>With only the two people's own pre-date answers, the AUC is 0.532. </a:t>
            </a:r>
            <a:endParaRPr/>
          </a:p>
          <a:p>
            <a:pPr indent="-317500" lvl="0" marL="457200" rtl="0" algn="l">
              <a:lnSpc>
                <a:spcPct val="100000"/>
              </a:lnSpc>
              <a:spcBef>
                <a:spcPts val="0"/>
              </a:spcBef>
              <a:spcAft>
                <a:spcPts val="0"/>
              </a:spcAft>
              <a:buSzPts val="1400"/>
              <a:buChar char="●"/>
            </a:pPr>
            <a:r>
              <a:rPr lang="en-US"/>
              <a:t>Adding the six main pair features, the age gap, interest similarity, same field, same goal and the two preference-fit measures, raises it to 0.542, a gain of only 0.0105. </a:t>
            </a:r>
            <a:endParaRPr/>
          </a:p>
          <a:p>
            <a:pPr indent="-317500" lvl="0" marL="457200" rtl="0" algn="l">
              <a:lnSpc>
                <a:spcPct val="100000"/>
              </a:lnSpc>
              <a:spcBef>
                <a:spcPts val="0"/>
              </a:spcBef>
              <a:spcAft>
                <a:spcPts val="0"/>
              </a:spcAft>
              <a:buSzPts val="1400"/>
              <a:buChar char="●"/>
            </a:pPr>
            <a:r>
              <a:rPr lang="en-US"/>
              <a:t>Five more pair features, like same career and differences in how often each goes out, add 0.003, and then the three interaction terms add 0.001, ending at 0.546.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So explicitly modeling compatibility did little beyond each person's own characteristics. </a:t>
            </a:r>
            <a:endParaRPr/>
          </a:p>
        </p:txBody>
      </p:sp>
      <p:sp>
        <p:nvSpPr>
          <p:cNvPr id="739" name="Google Shape;739;h37505ac47c0edbc2_48_2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3" name="Google Shape;813;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100">
                <a:latin typeface="Arial"/>
                <a:ea typeface="Arial"/>
                <a:cs typeface="Arial"/>
                <a:sym typeface="Arial"/>
              </a:rPr>
              <a:t>We took participants’ self-reported importance of attractiveness in the partner, and we also took how attractiveness actually contributed to their decisions based on the standardized coefficients from the decision model. We found that the difference between these ratings of how important attractiveness was increased +18.4 percentage points for women and + 25.3 percentage points for men (on the distribution-of-100-points scale). It’s also interesting how much more it increased for men than women, which had a 35.7% more increase.</a:t>
            </a:r>
            <a:endParaRPr sz="1100">
              <a:latin typeface="Arial"/>
              <a:ea typeface="Arial"/>
              <a:cs typeface="Arial"/>
              <a:sym typeface="Arial"/>
            </a:endParaRPr>
          </a:p>
          <a:p>
            <a:pPr indent="0" lvl="0" marL="0" rtl="0" algn="l">
              <a:spcBef>
                <a:spcPts val="0"/>
              </a:spcBef>
              <a:spcAft>
                <a:spcPts val="0"/>
              </a:spcAft>
              <a:buNone/>
            </a:pPr>
            <a:r>
              <a:t/>
            </a:r>
            <a:endParaRPr/>
          </a:p>
        </p:txBody>
      </p:sp>
      <p:sp>
        <p:nvSpPr>
          <p:cNvPr id="814" name="Google Shape;814;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6" name="Google Shape;836;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 is our plan for the second half. First, honest error bars. Because the same people appear in many pairs, the usual error bars on a cross-validated result may be too narrow. We want to know by how much, and which error bars can be trusted, and we test that on simulated data built to look like ours. Second, two follow-up questions. Who is most desirable? We'll rank participants within each event, with honest uncertainty about each rank. And do people know who likes them? Participants guessed, after each date, whether the partner would say yes, so we can score how accurate those guesses were. In week 7 we also add single trees, bagging and boosting, and check whether the order of the evening matters, for example whether later dates are less likely to get a yes. Weeks 8 to 10 are for freezing the results, robustness checks, the poster, and the final report and presentation. Thank you; we're happy to take questions.</a:t>
            </a:r>
            <a:endParaRPr/>
          </a:p>
        </p:txBody>
      </p:sp>
      <p:sp>
        <p:nvSpPr>
          <p:cNvPr id="837" name="Google Shape;837;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2" name="Google Shape;862;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Thank you. We are happy to take questions. If someone asks whether apps should use profiles at all: our data say profiles tell you a little, people tell you much more once you have seen them interact, and any accuracy claim needs error bars that respect who appears in which rows.</a:t>
            </a:r>
            <a:endParaRPr/>
          </a:p>
        </p:txBody>
      </p:sp>
      <p:sp>
        <p:nvSpPr>
          <p:cNvPr id="863" name="Google Shape;863;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Jenna introduced logistic regression and BIC; here's how we ran them on our data. Each row is one pair. The predictors are her answers, his answers, and the pair features from earlier, such as the age gap and interest similarity: 74 in all before the date. Categories like field of study become yes-or-no dummy columns, so the model has about 125 columns. For six of the numeric predictors a straight-line effect might be too simple, so we also tried a curve, called a spline, for each one, and let BIC decide whether it stays. A curve adds two coefficients, and BIC charges log n for each, about 8 with roughly 3,300 training pairs, so about 16 in all. The chart shows how much each curve actually improved the fit in each of the five training folds. His age came closest, at about 10, but no curve ever paid its price, so the model stayed linear everywhere. This full model reached a held-out AUC of 0.542 before the date and 0.780 with the date ratings.</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Next we asked whether fewer predictors would do better. Stepwise selection adds or drops one predictor at a time, keeping a change only if it lowers BIC. We ran it three ways, forward, backward and both, in each of the five folds, so 15 fits, and it kept only about 8 of the 74 predictors each time. The chart shows the ones it kept most often. His self-rated fun, the age gap, how often he dates, sharing a field of study, and how much he values intelligence came up in most fits. Blue means more of it goes with more matches; orange, with fewer. We also ran the lasso, which you'll see in our results. It's logistic regression with a penalty that shrinks every coefficient toward zero and sets the weakest ones exactly to zero, and an inner cross-validation picks how strong the penalty is. It kept between 22 and 76 of the roughly 125 columns. Both beat the full model on new events: before the date, 0.559 for stepwise and 0.573 for the lasso, against 0.542; with the date ratings, 0.835 and 0.838, against 0.780.</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Now LDA and QDA. Both describe each class, match and no match, by its average and its covariance matrix, the table of how every pair of predictors varies together. LDA uses one covariance matrix for both classes, estimated from all of the roughly 3,300 training pairs, with the training match rate, about 0.165, as the prior. It has nothing to tune. QDA gives each class its own covariance matrix, so the matches' matrix has to be estimated from the matches alone, and that's the problem. With about 125 columns the matrix has about 8,000 separate numbers, 125 times 126 over 2, and a training fold has only about 550 matches to estimate them from. So most of those numbers are noise. LDA reached a held-out AUC of 0.553 before the date and 0.790 with the date ratings.</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Our fix is called regularized QDA. We shrink the matches' covariance matrix toward the identity matrix, which means no correlations at all, using a weighted average with weight r. With r equal to 0 it's plain QDA; with r equal to 1 every correlation is dropped. An inner cross-validation inside the training events chose r from 0.1, 0.3, 0.5, 0.7 and 0.9. The heatmaps show what shrinking does, for 8 of our predictors among the matched pairs. On the left are the correlations we estimate; for example, women who rate themselves as more attractive also rate themselves as more fun, a correlation of 0.44. On the right is what QDA uses after shrinking with r equal to 0.9: every correlation is about a tenth as big, so 0.44 becomes 0.04. The inner cross-validation picked 0.9, the strongest option, in all ten fits. And regularized QDA ended up one of our best models: 0.579 before the date against 0.553 for LDA, and 0.836 against 0.790 with the date ratings.</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Every result we show comes with an error bar, so here's how we compute it. The usual standard error assumes all 4,184 pairs are independent. Ours aren't: pairs at the same event share people and the same evening, so a model's errors tend to lean the same way within an event. Here's a toy example with six pairs at two events. At event A the model is too high for every pair; at event B it's too low for every pair. The usual formula squares each pair's error and adds them up, which gives 0.28. The clustered version first adds up each event's errors, then squares, which gives 0.72. Errors that lean together don't cancel within an event, so the variance is more than twice as big and the error bar about 1.6 times as wide. That's the formula on the right: sum within each event, square, add over our 21 events, with a small correction of G over G minus 1. Our intervals are the AUC plus or minus 1.72 standard errors, from a t distribution with 20 degrees of freedom, and the AUC's standard error uses the same idea, due to Obuchowski. Whenever errors lean together within an event, ignoring the events makes the error bars too narrow.</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transition spd="med">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8.png"/><Relationship Id="rId4" Type="http://schemas.openxmlformats.org/officeDocument/2006/relationships/image" Target="../media/image7.png"/><Relationship Id="rId5" Type="http://schemas.openxmlformats.org/officeDocument/2006/relationships/image" Target="../media/image2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10.png"/><Relationship Id="rId6"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19.png"/><Relationship Id="rId6"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4.png"/><Relationship Id="rId4"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12.png"/><Relationship Id="rId5" Type="http://schemas.openxmlformats.org/officeDocument/2006/relationships/image" Target="../media/image14.png"/><Relationship Id="rId6" Type="http://schemas.openxmlformats.org/officeDocument/2006/relationships/image" Target="../media/image17.png"/><Relationship Id="rId7" Type="http://schemas.openxmlformats.org/officeDocument/2006/relationships/image" Target="../media/image20.png"/><Relationship Id="rId8"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comments" Target="../comments/comment1.xml"/><Relationship Id="rId4" Type="http://schemas.openxmlformats.org/officeDocument/2006/relationships/image" Target="../media/image15.png"/><Relationship Id="rId5"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0.png"/><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3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5.png"/><Relationship Id="rId4" Type="http://schemas.openxmlformats.org/officeDocument/2006/relationships/image" Target="../media/image4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comments" Target="../comments/comment2.xml"/><Relationship Id="rId4" Type="http://schemas.openxmlformats.org/officeDocument/2006/relationships/image" Target="../media/image4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4.png"/><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comments" Target="../comments/commen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29.png"/><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29.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21.png"/><Relationship Id="rId4" Type="http://schemas.openxmlformats.org/officeDocument/2006/relationships/image" Target="../media/image29.png"/><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png"/><Relationship Id="rId3" Type="http://schemas.openxmlformats.org/officeDocument/2006/relationships/image" Target="../media/image34.png"/><Relationship Id="rId4" Type="http://schemas.openxmlformats.org/officeDocument/2006/relationships/image" Target="../media/image29.png"/><Relationship Id="rId5"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440"/>
        </a:solidFill>
      </p:bgPr>
    </p:bg>
    <p:spTree>
      <p:nvGrpSpPr>
        <p:cNvPr id="15" name="Shape 15"/>
        <p:cNvGrpSpPr/>
        <p:nvPr/>
      </p:nvGrpSpPr>
      <p:grpSpPr>
        <a:xfrm>
          <a:off x="0" y="0"/>
          <a:ext cx="0" cy="0"/>
          <a:chOff x="0" y="0"/>
          <a:chExt cx="0" cy="0"/>
        </a:xfrm>
      </p:grpSpPr>
      <p:sp>
        <p:nvSpPr>
          <p:cNvPr id="16" name="Google Shape;16;p3"/>
          <p:cNvSpPr/>
          <p:nvPr/>
        </p:nvSpPr>
        <p:spPr>
          <a:xfrm>
            <a:off x="812800" y="1825278"/>
            <a:ext cx="6252718"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7B5"/>
              </a:buClr>
              <a:buSzPts val="1200"/>
              <a:buFont typeface="Nunito Sans"/>
              <a:buNone/>
            </a:pPr>
            <a:r>
              <a:rPr b="1" i="0" lang="en-US" sz="1200" u="none" cap="none" strike="noStrike">
                <a:solidFill>
                  <a:srgbClr val="F2A7B5"/>
                </a:solidFill>
                <a:latin typeface="Nunito Sans"/>
                <a:ea typeface="Nunito Sans"/>
                <a:cs typeface="Nunito Sans"/>
                <a:sym typeface="Nunito Sans"/>
              </a:rPr>
              <a:t>MATH 195 CAPSTONE · MIDTERM PRESENTATION</a:t>
            </a:r>
            <a:endParaRPr b="0" i="0" sz="1200" u="none" cap="none" strike="noStrike">
              <a:solidFill>
                <a:schemeClr val="dk1"/>
              </a:solidFill>
              <a:latin typeface="Calibri"/>
              <a:ea typeface="Calibri"/>
              <a:cs typeface="Calibri"/>
              <a:sym typeface="Calibri"/>
            </a:endParaRPr>
          </a:p>
        </p:txBody>
      </p:sp>
      <p:sp>
        <p:nvSpPr>
          <p:cNvPr id="17" name="Google Shape;17;p3"/>
          <p:cNvSpPr/>
          <p:nvPr/>
        </p:nvSpPr>
        <p:spPr>
          <a:xfrm>
            <a:off x="812800" y="2267198"/>
            <a:ext cx="6252718" cy="1835894"/>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FBF7F2"/>
              </a:buClr>
              <a:buSzPts val="4400"/>
              <a:buFont typeface="Nunito"/>
              <a:buNone/>
            </a:pPr>
            <a:r>
              <a:rPr b="1" i="0" lang="en-US" sz="4400" u="none" cap="none" strike="noStrike">
                <a:solidFill>
                  <a:srgbClr val="FBF7F2"/>
                </a:solidFill>
                <a:latin typeface="Nunito"/>
                <a:ea typeface="Nunito"/>
                <a:cs typeface="Nunito"/>
                <a:sym typeface="Nunito"/>
              </a:rPr>
              <a:t>Can we predict a match before two strangers meet?</a:t>
            </a:r>
            <a:endParaRPr b="0" i="0" sz="4400" u="none" cap="none" strike="noStrike">
              <a:solidFill>
                <a:schemeClr val="dk1"/>
              </a:solidFill>
              <a:latin typeface="Calibri"/>
              <a:ea typeface="Calibri"/>
              <a:cs typeface="Calibri"/>
              <a:sym typeface="Calibri"/>
            </a:endParaRPr>
          </a:p>
        </p:txBody>
      </p:sp>
      <p:sp>
        <p:nvSpPr>
          <p:cNvPr id="18" name="Google Shape;18;p3"/>
          <p:cNvSpPr/>
          <p:nvPr/>
        </p:nvSpPr>
        <p:spPr>
          <a:xfrm>
            <a:off x="812800" y="4411567"/>
            <a:ext cx="6252600" cy="309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8E4DA"/>
              </a:buClr>
              <a:buSzPts val="1600"/>
              <a:buFont typeface="Nunito Sans"/>
              <a:buNone/>
            </a:pPr>
            <a:r>
              <a:rPr b="0" i="0" lang="en-US" sz="1600" u="none" cap="none" strike="noStrike">
                <a:solidFill>
                  <a:srgbClr val="E8E4DA"/>
                </a:solidFill>
                <a:latin typeface="Nunito Sans"/>
                <a:ea typeface="Nunito Sans"/>
                <a:cs typeface="Nunito Sans"/>
                <a:sym typeface="Nunito Sans"/>
              </a:rPr>
              <a:t>Sophia Qin · Jenna Yang · Abraham Yeung</a:t>
            </a:r>
            <a:endParaRPr b="0" i="0" sz="1600" u="none" cap="none" strike="noStrike">
              <a:solidFill>
                <a:schemeClr val="dk1"/>
              </a:solidFill>
              <a:latin typeface="Calibri"/>
              <a:ea typeface="Calibri"/>
              <a:cs typeface="Calibri"/>
              <a:sym typeface="Calibri"/>
            </a:endParaRPr>
          </a:p>
        </p:txBody>
      </p:sp>
      <p:sp>
        <p:nvSpPr>
          <p:cNvPr id="19" name="Google Shape;19;p3"/>
          <p:cNvSpPr/>
          <p:nvPr/>
        </p:nvSpPr>
        <p:spPr>
          <a:xfrm>
            <a:off x="812800" y="4819352"/>
            <a:ext cx="6252718"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FC6D4"/>
              </a:buClr>
              <a:buSzPts val="1200"/>
              <a:buFont typeface="Nunito Sans"/>
              <a:buNone/>
            </a:pPr>
            <a:r>
              <a:rPr b="0" i="0" lang="en-US" sz="1200" u="none" cap="none" strike="noStrike">
                <a:solidFill>
                  <a:srgbClr val="BFC6D4"/>
                </a:solidFill>
                <a:latin typeface="Nunito Sans"/>
                <a:ea typeface="Nunito Sans"/>
                <a:cs typeface="Nunito Sans"/>
                <a:sym typeface="Nunito Sans"/>
              </a:rPr>
              <a:t>Columbia speed-dating experiment · October 2026</a:t>
            </a:r>
            <a:endParaRPr b="0" i="0" sz="1200" u="none" cap="none" strike="noStrike">
              <a:solidFill>
                <a:schemeClr val="dk1"/>
              </a:solidFill>
              <a:latin typeface="Calibri"/>
              <a:ea typeface="Calibri"/>
              <a:cs typeface="Calibri"/>
              <a:sym typeface="Calibri"/>
            </a:endParaRPr>
          </a:p>
        </p:txBody>
      </p:sp>
      <p:pic>
        <p:nvPicPr>
          <p:cNvPr descr="Two people on a coffee date, with a speech bubble holding a heart and small hearts floating around them" id="20" name="Google Shape;20;p3"/>
          <p:cNvPicPr preferRelativeResize="0"/>
          <p:nvPr/>
        </p:nvPicPr>
        <p:blipFill rotWithShape="1">
          <a:blip r:embed="rId3">
            <a:alphaModFix/>
          </a:blip>
          <a:srcRect b="0" l="0" r="0" t="0"/>
          <a:stretch/>
        </p:blipFill>
        <p:spPr>
          <a:xfrm>
            <a:off x="7188200" y="1524000"/>
            <a:ext cx="4191000" cy="3810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25" name="Shape 25"/>
        <p:cNvGrpSpPr/>
        <p:nvPr/>
      </p:nvGrpSpPr>
      <p:grpSpPr>
        <a:xfrm>
          <a:off x="0" y="0"/>
          <a:ext cx="0" cy="0"/>
          <a:chOff x="0" y="0"/>
          <a:chExt cx="0" cy="0"/>
        </a:xfrm>
      </p:grpSpPr>
      <p:sp>
        <p:nvSpPr>
          <p:cNvPr id="26" name="Google Shape;26;p4"/>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OUTLINE</a:t>
            </a:r>
            <a:endParaRPr b="0" i="0" sz="1200" u="none" cap="none" strike="noStrike">
              <a:solidFill>
                <a:schemeClr val="dk1"/>
              </a:solidFill>
              <a:latin typeface="Calibri"/>
              <a:ea typeface="Calibri"/>
              <a:cs typeface="Calibri"/>
              <a:sym typeface="Calibri"/>
            </a:endParaRPr>
          </a:p>
        </p:txBody>
      </p:sp>
      <p:sp>
        <p:nvSpPr>
          <p:cNvPr id="27" name="Google Shape;27;p4"/>
          <p:cNvSpPr/>
          <p:nvPr/>
        </p:nvSpPr>
        <p:spPr>
          <a:xfrm>
            <a:off x="812800" y="12801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What we will cover</a:t>
            </a:r>
            <a:endParaRPr b="0" i="0" sz="3200" u="none" cap="none" strike="noStrike">
              <a:solidFill>
                <a:schemeClr val="dk1"/>
              </a:solidFill>
              <a:latin typeface="Calibri"/>
              <a:ea typeface="Calibri"/>
              <a:cs typeface="Calibri"/>
              <a:sym typeface="Calibri"/>
            </a:endParaRPr>
          </a:p>
        </p:txBody>
      </p:sp>
      <p:sp>
        <p:nvSpPr>
          <p:cNvPr id="28" name="Google Shape;28;p4"/>
          <p:cNvSpPr/>
          <p:nvPr/>
        </p:nvSpPr>
        <p:spPr>
          <a:xfrm>
            <a:off x="819150" y="1987500"/>
            <a:ext cx="10553700" cy="546100"/>
          </a:xfrm>
          <a:prstGeom prst="roundRect">
            <a:avLst>
              <a:gd fmla="val 22093"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29" name="Google Shape;29;p4"/>
          <p:cNvSpPr/>
          <p:nvPr/>
        </p:nvSpPr>
        <p:spPr>
          <a:xfrm>
            <a:off x="1003300" y="2082750"/>
            <a:ext cx="406400"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2000"/>
              <a:buFont typeface="Nunito"/>
              <a:buNone/>
            </a:pPr>
            <a:r>
              <a:rPr b="1" i="0" lang="en-US" sz="1800" u="none" cap="none" strike="noStrike">
                <a:solidFill>
                  <a:srgbClr val="B23A55"/>
                </a:solidFill>
                <a:latin typeface="Nunito"/>
                <a:ea typeface="Nunito"/>
                <a:cs typeface="Nunito"/>
                <a:sym typeface="Nunito"/>
              </a:rPr>
              <a:t>1</a:t>
            </a:r>
            <a:endParaRPr b="0" i="0" sz="1800" u="none" cap="none" strike="noStrike">
              <a:solidFill>
                <a:schemeClr val="dk1"/>
              </a:solidFill>
              <a:latin typeface="Calibri"/>
              <a:ea typeface="Calibri"/>
              <a:cs typeface="Calibri"/>
              <a:sym typeface="Calibri"/>
            </a:endParaRPr>
          </a:p>
        </p:txBody>
      </p:sp>
      <p:sp>
        <p:nvSpPr>
          <p:cNvPr id="30" name="Google Shape;30;p4"/>
          <p:cNvSpPr/>
          <p:nvPr/>
        </p:nvSpPr>
        <p:spPr>
          <a:xfrm>
            <a:off x="1536700" y="2136725"/>
            <a:ext cx="8581136"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B2440"/>
              </a:buClr>
              <a:buSzPts val="1500"/>
              <a:buFont typeface="Nunito Sans"/>
              <a:buNone/>
            </a:pPr>
            <a:r>
              <a:rPr b="1" i="0" lang="en-US" sz="1800" u="none" cap="none" strike="noStrike">
                <a:solidFill>
                  <a:srgbClr val="1B2440"/>
                </a:solidFill>
                <a:latin typeface="Nunito Sans"/>
                <a:ea typeface="Nunito Sans"/>
                <a:cs typeface="Nunito Sans"/>
                <a:sym typeface="Nunito Sans"/>
              </a:rPr>
              <a:t>The research question</a:t>
            </a:r>
            <a:r>
              <a:rPr b="0" i="0" lang="en-US" sz="1800" u="none" cap="none" strike="noStrike">
                <a:solidFill>
                  <a:srgbClr val="1B2440"/>
                </a:solidFill>
                <a:latin typeface="Nunito Sans"/>
                <a:ea typeface="Nunito Sans"/>
                <a:cs typeface="Nunito Sans"/>
                <a:sym typeface="Nunito Sans"/>
              </a:rPr>
              <a:t> and why it matters for dating apps</a:t>
            </a:r>
            <a:endParaRPr b="0" i="0" sz="1800" u="none" cap="none" strike="noStrike">
              <a:solidFill>
                <a:schemeClr val="dk1"/>
              </a:solidFill>
              <a:latin typeface="Calibri"/>
              <a:ea typeface="Calibri"/>
              <a:cs typeface="Calibri"/>
              <a:sym typeface="Calibri"/>
            </a:endParaRPr>
          </a:p>
        </p:txBody>
      </p:sp>
      <p:sp>
        <p:nvSpPr>
          <p:cNvPr id="31" name="Google Shape;31;p4"/>
          <p:cNvSpPr/>
          <p:nvPr/>
        </p:nvSpPr>
        <p:spPr>
          <a:xfrm>
            <a:off x="10045700" y="2115790"/>
            <a:ext cx="1143000" cy="289520"/>
          </a:xfrm>
          <a:custGeom>
            <a:rect b="b" l="l" r="r" t="t"/>
            <a:pathLst>
              <a:path extrusionOk="0" h="289520" w="1143000">
                <a:moveTo>
                  <a:pt x="144760" y="0"/>
                </a:moveTo>
                <a:lnTo>
                  <a:pt x="998240" y="0"/>
                </a:lnTo>
                <a:cubicBezTo>
                  <a:pt x="1036633" y="0"/>
                  <a:pt x="1073453" y="15251"/>
                  <a:pt x="1100601" y="42399"/>
                </a:cubicBezTo>
                <a:cubicBezTo>
                  <a:pt x="1127749" y="69547"/>
                  <a:pt x="1143000" y="106367"/>
                  <a:pt x="1143000" y="144760"/>
                </a:cubicBezTo>
                <a:lnTo>
                  <a:pt x="1143000" y="144760"/>
                </a:lnTo>
                <a:cubicBezTo>
                  <a:pt x="1143000" y="224709"/>
                  <a:pt x="1078189" y="289520"/>
                  <a:pt x="998240" y="289520"/>
                </a:cubicBezTo>
                <a:lnTo>
                  <a:pt x="144760" y="289520"/>
                </a:lnTo>
                <a:cubicBezTo>
                  <a:pt x="64811" y="289520"/>
                  <a:pt x="0" y="224709"/>
                  <a:pt x="0" y="144760"/>
                </a:cubicBezTo>
                <a:lnTo>
                  <a:pt x="0" y="144760"/>
                </a:lnTo>
                <a:cubicBezTo>
                  <a:pt x="0" y="64811"/>
                  <a:pt x="64811" y="0"/>
                  <a:pt x="144760" y="0"/>
                </a:cubicBezTo>
                <a:close/>
              </a:path>
            </a:pathLst>
          </a:custGeom>
          <a:solidFill>
            <a:srgbClr val="F9D9DF"/>
          </a:solidFill>
          <a:ln>
            <a:noFill/>
          </a:ln>
        </p:spPr>
        <p:txBody>
          <a:bodyPr anchorCtr="0" anchor="t" bIns="12700" lIns="76200" spcFirstLastPara="1" rIns="76200" wrap="square" tIns="3810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800" u="none" cap="none" strike="noStrike">
                <a:solidFill>
                  <a:srgbClr val="1B2440"/>
                </a:solidFill>
                <a:latin typeface="Nunito Sans"/>
                <a:ea typeface="Nunito Sans"/>
                <a:cs typeface="Nunito Sans"/>
                <a:sym typeface="Nunito Sans"/>
              </a:rPr>
              <a:t>Sophia</a:t>
            </a:r>
            <a:endParaRPr b="0" i="0" sz="1800" u="none" cap="none" strike="noStrike">
              <a:solidFill>
                <a:schemeClr val="dk1"/>
              </a:solidFill>
              <a:latin typeface="Calibri"/>
              <a:ea typeface="Calibri"/>
              <a:cs typeface="Calibri"/>
              <a:sym typeface="Calibri"/>
            </a:endParaRPr>
          </a:p>
        </p:txBody>
      </p:sp>
      <p:sp>
        <p:nvSpPr>
          <p:cNvPr id="32" name="Google Shape;32;p4"/>
          <p:cNvSpPr/>
          <p:nvPr/>
        </p:nvSpPr>
        <p:spPr>
          <a:xfrm>
            <a:off x="819150" y="2635200"/>
            <a:ext cx="10553700" cy="546100"/>
          </a:xfrm>
          <a:prstGeom prst="roundRect">
            <a:avLst>
              <a:gd fmla="val 22093"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33" name="Google Shape;33;p4"/>
          <p:cNvSpPr/>
          <p:nvPr/>
        </p:nvSpPr>
        <p:spPr>
          <a:xfrm>
            <a:off x="1003300" y="2730450"/>
            <a:ext cx="406400"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2000"/>
              <a:buFont typeface="Nunito"/>
              <a:buNone/>
            </a:pPr>
            <a:r>
              <a:rPr b="1" i="0" lang="en-US" sz="1800" u="none" cap="none" strike="noStrike">
                <a:solidFill>
                  <a:srgbClr val="B23A55"/>
                </a:solidFill>
                <a:latin typeface="Nunito"/>
                <a:ea typeface="Nunito"/>
                <a:cs typeface="Nunito"/>
                <a:sym typeface="Nunito"/>
              </a:rPr>
              <a:t>2</a:t>
            </a:r>
            <a:endParaRPr b="0" i="0" sz="1800" u="none" cap="none" strike="noStrike">
              <a:solidFill>
                <a:schemeClr val="dk1"/>
              </a:solidFill>
              <a:latin typeface="Calibri"/>
              <a:ea typeface="Calibri"/>
              <a:cs typeface="Calibri"/>
              <a:sym typeface="Calibri"/>
            </a:endParaRPr>
          </a:p>
        </p:txBody>
      </p:sp>
      <p:sp>
        <p:nvSpPr>
          <p:cNvPr id="34" name="Google Shape;34;p4"/>
          <p:cNvSpPr/>
          <p:nvPr/>
        </p:nvSpPr>
        <p:spPr>
          <a:xfrm>
            <a:off x="1536700" y="2784425"/>
            <a:ext cx="8581136"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B2440"/>
              </a:buClr>
              <a:buSzPts val="1500"/>
              <a:buFont typeface="Nunito Sans"/>
              <a:buNone/>
            </a:pPr>
            <a:r>
              <a:rPr b="1" i="0" lang="en-US" sz="1800" u="none" cap="none" strike="noStrike">
                <a:solidFill>
                  <a:srgbClr val="1B2440"/>
                </a:solidFill>
                <a:latin typeface="Nunito Sans"/>
                <a:ea typeface="Nunito Sans"/>
                <a:cs typeface="Nunito Sans"/>
                <a:sym typeface="Nunito Sans"/>
              </a:rPr>
              <a:t>The dataset:</a:t>
            </a:r>
            <a:r>
              <a:rPr b="0" i="0" lang="en-US" sz="1800" u="none" cap="none" strike="noStrike">
                <a:solidFill>
                  <a:srgbClr val="1B2440"/>
                </a:solidFill>
                <a:latin typeface="Nunito Sans"/>
                <a:ea typeface="Nunito Sans"/>
                <a:cs typeface="Nunito Sans"/>
                <a:sym typeface="Nunito Sans"/>
              </a:rPr>
              <a:t> the study, the raw data, cleaning and indicators</a:t>
            </a:r>
            <a:endParaRPr b="0" i="0" sz="1800" u="none" cap="none" strike="noStrike">
              <a:solidFill>
                <a:schemeClr val="dk1"/>
              </a:solidFill>
              <a:latin typeface="Calibri"/>
              <a:ea typeface="Calibri"/>
              <a:cs typeface="Calibri"/>
              <a:sym typeface="Calibri"/>
            </a:endParaRPr>
          </a:p>
        </p:txBody>
      </p:sp>
      <p:sp>
        <p:nvSpPr>
          <p:cNvPr id="35" name="Google Shape;35;p4"/>
          <p:cNvSpPr/>
          <p:nvPr/>
        </p:nvSpPr>
        <p:spPr>
          <a:xfrm>
            <a:off x="10045700" y="2763490"/>
            <a:ext cx="1143000" cy="289520"/>
          </a:xfrm>
          <a:custGeom>
            <a:rect b="b" l="l" r="r" t="t"/>
            <a:pathLst>
              <a:path extrusionOk="0" h="289520" w="1143000">
                <a:moveTo>
                  <a:pt x="144760" y="0"/>
                </a:moveTo>
                <a:lnTo>
                  <a:pt x="998240" y="0"/>
                </a:lnTo>
                <a:cubicBezTo>
                  <a:pt x="1036633" y="0"/>
                  <a:pt x="1073453" y="15251"/>
                  <a:pt x="1100601" y="42399"/>
                </a:cubicBezTo>
                <a:cubicBezTo>
                  <a:pt x="1127749" y="69547"/>
                  <a:pt x="1143000" y="106367"/>
                  <a:pt x="1143000" y="144760"/>
                </a:cubicBezTo>
                <a:lnTo>
                  <a:pt x="1143000" y="144760"/>
                </a:lnTo>
                <a:cubicBezTo>
                  <a:pt x="1143000" y="224709"/>
                  <a:pt x="1078189" y="289520"/>
                  <a:pt x="998240" y="289520"/>
                </a:cubicBezTo>
                <a:lnTo>
                  <a:pt x="144760" y="289520"/>
                </a:lnTo>
                <a:cubicBezTo>
                  <a:pt x="64811" y="289520"/>
                  <a:pt x="0" y="224709"/>
                  <a:pt x="0" y="144760"/>
                </a:cubicBezTo>
                <a:lnTo>
                  <a:pt x="0" y="144760"/>
                </a:lnTo>
                <a:cubicBezTo>
                  <a:pt x="0" y="64811"/>
                  <a:pt x="64811" y="0"/>
                  <a:pt x="144760" y="0"/>
                </a:cubicBezTo>
                <a:close/>
              </a:path>
            </a:pathLst>
          </a:custGeom>
          <a:solidFill>
            <a:srgbClr val="F9D9DF"/>
          </a:solidFill>
          <a:ln>
            <a:noFill/>
          </a:ln>
        </p:spPr>
        <p:txBody>
          <a:bodyPr anchorCtr="0" anchor="t" bIns="12700" lIns="76200" spcFirstLastPara="1" rIns="76200" wrap="square" tIns="3810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800" u="none" cap="none" strike="noStrike">
                <a:solidFill>
                  <a:srgbClr val="1B2440"/>
                </a:solidFill>
                <a:latin typeface="Nunito Sans"/>
                <a:ea typeface="Nunito Sans"/>
                <a:cs typeface="Nunito Sans"/>
                <a:sym typeface="Nunito Sans"/>
              </a:rPr>
              <a:t>Sophia</a:t>
            </a:r>
            <a:endParaRPr b="0" i="0" sz="1800" u="none" cap="none" strike="noStrike">
              <a:solidFill>
                <a:schemeClr val="dk1"/>
              </a:solidFill>
              <a:latin typeface="Calibri"/>
              <a:ea typeface="Calibri"/>
              <a:cs typeface="Calibri"/>
              <a:sym typeface="Calibri"/>
            </a:endParaRPr>
          </a:p>
        </p:txBody>
      </p:sp>
      <p:sp>
        <p:nvSpPr>
          <p:cNvPr id="36" name="Google Shape;36;p4"/>
          <p:cNvSpPr/>
          <p:nvPr/>
        </p:nvSpPr>
        <p:spPr>
          <a:xfrm>
            <a:off x="819150" y="3282900"/>
            <a:ext cx="10553700" cy="546100"/>
          </a:xfrm>
          <a:prstGeom prst="roundRect">
            <a:avLst>
              <a:gd fmla="val 22093"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37" name="Google Shape;37;p4"/>
          <p:cNvSpPr/>
          <p:nvPr/>
        </p:nvSpPr>
        <p:spPr>
          <a:xfrm>
            <a:off x="1003300" y="3378150"/>
            <a:ext cx="406400"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2000"/>
              <a:buFont typeface="Nunito"/>
              <a:buNone/>
            </a:pPr>
            <a:r>
              <a:rPr b="1" i="0" lang="en-US" sz="1800" u="none" cap="none" strike="noStrike">
                <a:solidFill>
                  <a:srgbClr val="B23A55"/>
                </a:solidFill>
                <a:latin typeface="Nunito"/>
                <a:ea typeface="Nunito"/>
                <a:cs typeface="Nunito"/>
                <a:sym typeface="Nunito"/>
              </a:rPr>
              <a:t>3</a:t>
            </a:r>
            <a:endParaRPr b="0" i="0" sz="1800" u="none" cap="none" strike="noStrike">
              <a:solidFill>
                <a:schemeClr val="dk1"/>
              </a:solidFill>
              <a:latin typeface="Calibri"/>
              <a:ea typeface="Calibri"/>
              <a:cs typeface="Calibri"/>
              <a:sym typeface="Calibri"/>
            </a:endParaRPr>
          </a:p>
        </p:txBody>
      </p:sp>
      <p:sp>
        <p:nvSpPr>
          <p:cNvPr id="38" name="Google Shape;38;p4"/>
          <p:cNvSpPr/>
          <p:nvPr/>
        </p:nvSpPr>
        <p:spPr>
          <a:xfrm>
            <a:off x="1536700" y="3432125"/>
            <a:ext cx="8581136"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B2440"/>
              </a:buClr>
              <a:buSzPts val="1500"/>
              <a:buFont typeface="Nunito Sans"/>
              <a:buNone/>
            </a:pPr>
            <a:r>
              <a:rPr b="1" i="0" lang="en-US" sz="1800" u="none" cap="none" strike="noStrike">
                <a:solidFill>
                  <a:srgbClr val="1B2440"/>
                </a:solidFill>
                <a:latin typeface="Nunito Sans"/>
                <a:ea typeface="Nunito Sans"/>
                <a:cs typeface="Nunito Sans"/>
                <a:sym typeface="Nunito Sans"/>
              </a:rPr>
              <a:t>Statistical concepts:</a:t>
            </a:r>
            <a:r>
              <a:rPr b="0" i="0" lang="en-US" sz="1800" u="none" cap="none" strike="noStrike">
                <a:solidFill>
                  <a:srgbClr val="1B2440"/>
                </a:solidFill>
                <a:latin typeface="Nunito Sans"/>
                <a:ea typeface="Nunito Sans"/>
                <a:cs typeface="Nunito Sans"/>
                <a:sym typeface="Nunito Sans"/>
              </a:rPr>
              <a:t> models, validation, trees, evaluation</a:t>
            </a:r>
            <a:endParaRPr b="0" i="0" sz="1800" u="none" cap="none" strike="noStrike">
              <a:solidFill>
                <a:schemeClr val="dk1"/>
              </a:solidFill>
              <a:latin typeface="Calibri"/>
              <a:ea typeface="Calibri"/>
              <a:cs typeface="Calibri"/>
              <a:sym typeface="Calibri"/>
            </a:endParaRPr>
          </a:p>
        </p:txBody>
      </p:sp>
      <p:sp>
        <p:nvSpPr>
          <p:cNvPr id="39" name="Google Shape;39;p4"/>
          <p:cNvSpPr/>
          <p:nvPr/>
        </p:nvSpPr>
        <p:spPr>
          <a:xfrm>
            <a:off x="10045700" y="3411190"/>
            <a:ext cx="1143000" cy="289520"/>
          </a:xfrm>
          <a:custGeom>
            <a:rect b="b" l="l" r="r" t="t"/>
            <a:pathLst>
              <a:path extrusionOk="0" h="289520" w="1143000">
                <a:moveTo>
                  <a:pt x="144760" y="0"/>
                </a:moveTo>
                <a:lnTo>
                  <a:pt x="998240" y="0"/>
                </a:lnTo>
                <a:cubicBezTo>
                  <a:pt x="1036633" y="0"/>
                  <a:pt x="1073453" y="15251"/>
                  <a:pt x="1100601" y="42399"/>
                </a:cubicBezTo>
                <a:cubicBezTo>
                  <a:pt x="1127749" y="69547"/>
                  <a:pt x="1143000" y="106367"/>
                  <a:pt x="1143000" y="144760"/>
                </a:cubicBezTo>
                <a:lnTo>
                  <a:pt x="1143000" y="144760"/>
                </a:lnTo>
                <a:cubicBezTo>
                  <a:pt x="1143000" y="224709"/>
                  <a:pt x="1078189" y="289520"/>
                  <a:pt x="998240" y="289520"/>
                </a:cubicBezTo>
                <a:lnTo>
                  <a:pt x="144760" y="289520"/>
                </a:lnTo>
                <a:cubicBezTo>
                  <a:pt x="64811" y="289520"/>
                  <a:pt x="0" y="224709"/>
                  <a:pt x="0" y="144760"/>
                </a:cubicBezTo>
                <a:lnTo>
                  <a:pt x="0" y="144760"/>
                </a:lnTo>
                <a:cubicBezTo>
                  <a:pt x="0" y="64811"/>
                  <a:pt x="64811" y="0"/>
                  <a:pt x="144760" y="0"/>
                </a:cubicBezTo>
                <a:close/>
              </a:path>
            </a:pathLst>
          </a:custGeom>
          <a:solidFill>
            <a:srgbClr val="DCE6F5"/>
          </a:solidFill>
          <a:ln>
            <a:noFill/>
          </a:ln>
        </p:spPr>
        <p:txBody>
          <a:bodyPr anchorCtr="0" anchor="t" bIns="12700" lIns="76200" spcFirstLastPara="1" rIns="76200" wrap="square" tIns="3810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800" u="none" cap="none" strike="noStrike">
                <a:solidFill>
                  <a:srgbClr val="1B2440"/>
                </a:solidFill>
                <a:latin typeface="Nunito Sans"/>
                <a:ea typeface="Nunito Sans"/>
                <a:cs typeface="Nunito Sans"/>
                <a:sym typeface="Nunito Sans"/>
              </a:rPr>
              <a:t>Jenna</a:t>
            </a:r>
            <a:endParaRPr b="0" i="0" sz="1800" u="none" cap="none" strike="noStrike">
              <a:solidFill>
                <a:schemeClr val="dk1"/>
              </a:solidFill>
              <a:latin typeface="Calibri"/>
              <a:ea typeface="Calibri"/>
              <a:cs typeface="Calibri"/>
              <a:sym typeface="Calibri"/>
            </a:endParaRPr>
          </a:p>
        </p:txBody>
      </p:sp>
      <p:sp>
        <p:nvSpPr>
          <p:cNvPr id="40" name="Google Shape;40;p4"/>
          <p:cNvSpPr/>
          <p:nvPr/>
        </p:nvSpPr>
        <p:spPr>
          <a:xfrm>
            <a:off x="819150" y="3930600"/>
            <a:ext cx="10553700" cy="546100"/>
          </a:xfrm>
          <a:prstGeom prst="roundRect">
            <a:avLst>
              <a:gd fmla="val 22093"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41" name="Google Shape;41;p4"/>
          <p:cNvSpPr/>
          <p:nvPr/>
        </p:nvSpPr>
        <p:spPr>
          <a:xfrm>
            <a:off x="1003300" y="4025850"/>
            <a:ext cx="406400"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2000"/>
              <a:buFont typeface="Nunito"/>
              <a:buNone/>
            </a:pPr>
            <a:r>
              <a:rPr b="1" i="0" lang="en-US" sz="1800" u="none" cap="none" strike="noStrike">
                <a:solidFill>
                  <a:srgbClr val="B23A55"/>
                </a:solidFill>
                <a:latin typeface="Nunito"/>
                <a:ea typeface="Nunito"/>
                <a:cs typeface="Nunito"/>
                <a:sym typeface="Nunito"/>
              </a:rPr>
              <a:t>4</a:t>
            </a:r>
            <a:endParaRPr b="0" i="0" sz="1800" u="none" cap="none" strike="noStrike">
              <a:solidFill>
                <a:schemeClr val="dk1"/>
              </a:solidFill>
              <a:latin typeface="Calibri"/>
              <a:ea typeface="Calibri"/>
              <a:cs typeface="Calibri"/>
              <a:sym typeface="Calibri"/>
            </a:endParaRPr>
          </a:p>
        </p:txBody>
      </p:sp>
      <p:sp>
        <p:nvSpPr>
          <p:cNvPr id="42" name="Google Shape;42;p4"/>
          <p:cNvSpPr/>
          <p:nvPr/>
        </p:nvSpPr>
        <p:spPr>
          <a:xfrm>
            <a:off x="1536700" y="4079825"/>
            <a:ext cx="8581136"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B2440"/>
              </a:buClr>
              <a:buSzPts val="1500"/>
              <a:buFont typeface="Nunito Sans"/>
              <a:buNone/>
            </a:pPr>
            <a:r>
              <a:rPr b="1" i="0" lang="en-US" sz="1800" u="none" cap="none" strike="noStrike">
                <a:solidFill>
                  <a:srgbClr val="1B2440"/>
                </a:solidFill>
                <a:latin typeface="Nunito Sans"/>
                <a:ea typeface="Nunito Sans"/>
                <a:cs typeface="Nunito Sans"/>
                <a:sym typeface="Nunito Sans"/>
              </a:rPr>
              <a:t>Technical implementation:</a:t>
            </a:r>
            <a:r>
              <a:rPr b="0" i="0" lang="en-US" sz="1800" u="none" cap="none" strike="noStrike">
                <a:solidFill>
                  <a:srgbClr val="1B2440"/>
                </a:solidFill>
                <a:latin typeface="Nunito Sans"/>
                <a:ea typeface="Nunito Sans"/>
                <a:cs typeface="Nunito Sans"/>
                <a:sym typeface="Nunito Sans"/>
              </a:rPr>
              <a:t> how we applied them to our data</a:t>
            </a:r>
            <a:endParaRPr b="0" i="0" sz="1800" u="none" cap="none" strike="noStrike">
              <a:solidFill>
                <a:schemeClr val="dk1"/>
              </a:solidFill>
              <a:latin typeface="Calibri"/>
              <a:ea typeface="Calibri"/>
              <a:cs typeface="Calibri"/>
              <a:sym typeface="Calibri"/>
            </a:endParaRPr>
          </a:p>
        </p:txBody>
      </p:sp>
      <p:sp>
        <p:nvSpPr>
          <p:cNvPr id="43" name="Google Shape;43;p4"/>
          <p:cNvSpPr/>
          <p:nvPr/>
        </p:nvSpPr>
        <p:spPr>
          <a:xfrm>
            <a:off x="10045700" y="4058890"/>
            <a:ext cx="1143000" cy="289520"/>
          </a:xfrm>
          <a:custGeom>
            <a:rect b="b" l="l" r="r" t="t"/>
            <a:pathLst>
              <a:path extrusionOk="0" h="289520" w="1143000">
                <a:moveTo>
                  <a:pt x="144760" y="0"/>
                </a:moveTo>
                <a:lnTo>
                  <a:pt x="998240" y="0"/>
                </a:lnTo>
                <a:cubicBezTo>
                  <a:pt x="1036633" y="0"/>
                  <a:pt x="1073453" y="15251"/>
                  <a:pt x="1100601" y="42399"/>
                </a:cubicBezTo>
                <a:cubicBezTo>
                  <a:pt x="1127749" y="69547"/>
                  <a:pt x="1143000" y="106367"/>
                  <a:pt x="1143000" y="144760"/>
                </a:cubicBezTo>
                <a:lnTo>
                  <a:pt x="1143000" y="144760"/>
                </a:lnTo>
                <a:cubicBezTo>
                  <a:pt x="1143000" y="224709"/>
                  <a:pt x="1078189" y="289520"/>
                  <a:pt x="998240" y="289520"/>
                </a:cubicBezTo>
                <a:lnTo>
                  <a:pt x="144760" y="289520"/>
                </a:lnTo>
                <a:cubicBezTo>
                  <a:pt x="64811" y="289520"/>
                  <a:pt x="0" y="224709"/>
                  <a:pt x="0" y="144760"/>
                </a:cubicBezTo>
                <a:lnTo>
                  <a:pt x="0" y="144760"/>
                </a:lnTo>
                <a:cubicBezTo>
                  <a:pt x="0" y="64811"/>
                  <a:pt x="64811" y="0"/>
                  <a:pt x="144760" y="0"/>
                </a:cubicBezTo>
                <a:close/>
              </a:path>
            </a:pathLst>
          </a:custGeom>
          <a:solidFill>
            <a:srgbClr val="E3EEDF"/>
          </a:solidFill>
          <a:ln>
            <a:noFill/>
          </a:ln>
        </p:spPr>
        <p:txBody>
          <a:bodyPr anchorCtr="0" anchor="t" bIns="12700" lIns="76200" spcFirstLastPara="1" rIns="76200" wrap="square" tIns="3810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800" u="none" cap="none" strike="noStrike">
                <a:solidFill>
                  <a:srgbClr val="1B2440"/>
                </a:solidFill>
                <a:latin typeface="Nunito Sans"/>
                <a:ea typeface="Nunito Sans"/>
                <a:cs typeface="Nunito Sans"/>
                <a:sym typeface="Nunito Sans"/>
              </a:rPr>
              <a:t>Abraham</a:t>
            </a:r>
            <a:endParaRPr b="0" i="0" sz="1800" u="none" cap="none" strike="noStrike">
              <a:solidFill>
                <a:schemeClr val="dk1"/>
              </a:solidFill>
              <a:latin typeface="Calibri"/>
              <a:ea typeface="Calibri"/>
              <a:cs typeface="Calibri"/>
              <a:sym typeface="Calibri"/>
            </a:endParaRPr>
          </a:p>
        </p:txBody>
      </p:sp>
      <p:sp>
        <p:nvSpPr>
          <p:cNvPr id="44" name="Google Shape;44;p4"/>
          <p:cNvSpPr/>
          <p:nvPr/>
        </p:nvSpPr>
        <p:spPr>
          <a:xfrm>
            <a:off x="819150" y="4578300"/>
            <a:ext cx="10553700" cy="546100"/>
          </a:xfrm>
          <a:prstGeom prst="roundRect">
            <a:avLst>
              <a:gd fmla="val 22093"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45" name="Google Shape;45;p4"/>
          <p:cNvSpPr/>
          <p:nvPr/>
        </p:nvSpPr>
        <p:spPr>
          <a:xfrm>
            <a:off x="1003300" y="4673550"/>
            <a:ext cx="406400"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2000"/>
              <a:buFont typeface="Nunito"/>
              <a:buNone/>
            </a:pPr>
            <a:r>
              <a:rPr b="1" i="0" lang="en-US" sz="1800" u="none" cap="none" strike="noStrike">
                <a:solidFill>
                  <a:srgbClr val="B23A55"/>
                </a:solidFill>
                <a:latin typeface="Nunito"/>
                <a:ea typeface="Nunito"/>
                <a:cs typeface="Nunito"/>
                <a:sym typeface="Nunito"/>
              </a:rPr>
              <a:t>5</a:t>
            </a:r>
            <a:endParaRPr b="0" i="0" sz="1800" u="none" cap="none" strike="noStrike">
              <a:solidFill>
                <a:schemeClr val="dk1"/>
              </a:solidFill>
              <a:latin typeface="Calibri"/>
              <a:ea typeface="Calibri"/>
              <a:cs typeface="Calibri"/>
              <a:sym typeface="Calibri"/>
            </a:endParaRPr>
          </a:p>
        </p:txBody>
      </p:sp>
      <p:sp>
        <p:nvSpPr>
          <p:cNvPr id="46" name="Google Shape;46;p4"/>
          <p:cNvSpPr/>
          <p:nvPr/>
        </p:nvSpPr>
        <p:spPr>
          <a:xfrm>
            <a:off x="1536700" y="4727525"/>
            <a:ext cx="8581136"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B2440"/>
              </a:buClr>
              <a:buSzPts val="1500"/>
              <a:buFont typeface="Nunito Sans"/>
              <a:buNone/>
            </a:pPr>
            <a:r>
              <a:rPr b="1" i="0" lang="en-US" sz="1800" u="none" cap="none" strike="noStrike">
                <a:solidFill>
                  <a:srgbClr val="1B2440"/>
                </a:solidFill>
                <a:latin typeface="Nunito Sans"/>
                <a:ea typeface="Nunito Sans"/>
                <a:cs typeface="Nunito Sans"/>
                <a:sym typeface="Nunito Sans"/>
              </a:rPr>
              <a:t>Results</a:t>
            </a:r>
            <a:r>
              <a:rPr b="0" i="0" lang="en-US" sz="1800" u="none" cap="none" strike="noStrike">
                <a:solidFill>
                  <a:srgbClr val="1B2440"/>
                </a:solidFill>
                <a:latin typeface="Nunito Sans"/>
                <a:ea typeface="Nunito Sans"/>
                <a:cs typeface="Nunito Sans"/>
                <a:sym typeface="Nunito Sans"/>
              </a:rPr>
              <a:t> and what they mean</a:t>
            </a:r>
            <a:endParaRPr b="0" i="0" sz="1800" u="none" cap="none" strike="noStrike">
              <a:solidFill>
                <a:schemeClr val="dk1"/>
              </a:solidFill>
              <a:latin typeface="Calibri"/>
              <a:ea typeface="Calibri"/>
              <a:cs typeface="Calibri"/>
              <a:sym typeface="Calibri"/>
            </a:endParaRPr>
          </a:p>
        </p:txBody>
      </p:sp>
      <p:sp>
        <p:nvSpPr>
          <p:cNvPr id="47" name="Google Shape;47;p4"/>
          <p:cNvSpPr/>
          <p:nvPr/>
        </p:nvSpPr>
        <p:spPr>
          <a:xfrm>
            <a:off x="10045700" y="4706590"/>
            <a:ext cx="1143000" cy="289520"/>
          </a:xfrm>
          <a:custGeom>
            <a:rect b="b" l="l" r="r" t="t"/>
            <a:pathLst>
              <a:path extrusionOk="0" h="289520" w="1143000">
                <a:moveTo>
                  <a:pt x="144760" y="0"/>
                </a:moveTo>
                <a:lnTo>
                  <a:pt x="998240" y="0"/>
                </a:lnTo>
                <a:cubicBezTo>
                  <a:pt x="1036633" y="0"/>
                  <a:pt x="1073453" y="15251"/>
                  <a:pt x="1100601" y="42399"/>
                </a:cubicBezTo>
                <a:cubicBezTo>
                  <a:pt x="1127749" y="69547"/>
                  <a:pt x="1143000" y="106367"/>
                  <a:pt x="1143000" y="144760"/>
                </a:cubicBezTo>
                <a:lnTo>
                  <a:pt x="1143000" y="144760"/>
                </a:lnTo>
                <a:cubicBezTo>
                  <a:pt x="1143000" y="224709"/>
                  <a:pt x="1078189" y="289520"/>
                  <a:pt x="998240" y="289520"/>
                </a:cubicBezTo>
                <a:lnTo>
                  <a:pt x="144760" y="289520"/>
                </a:lnTo>
                <a:cubicBezTo>
                  <a:pt x="64811" y="289520"/>
                  <a:pt x="0" y="224709"/>
                  <a:pt x="0" y="144760"/>
                </a:cubicBezTo>
                <a:lnTo>
                  <a:pt x="0" y="144760"/>
                </a:lnTo>
                <a:cubicBezTo>
                  <a:pt x="0" y="64811"/>
                  <a:pt x="64811" y="0"/>
                  <a:pt x="144760" y="0"/>
                </a:cubicBezTo>
                <a:close/>
              </a:path>
            </a:pathLst>
          </a:custGeom>
          <a:solidFill>
            <a:srgbClr val="DCE6F5"/>
          </a:solidFill>
          <a:ln>
            <a:noFill/>
          </a:ln>
        </p:spPr>
        <p:txBody>
          <a:bodyPr anchorCtr="0" anchor="t" bIns="12700" lIns="76200" spcFirstLastPara="1" rIns="76200" wrap="square" tIns="3810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800" u="none" cap="none" strike="noStrike">
                <a:solidFill>
                  <a:srgbClr val="1B2440"/>
                </a:solidFill>
                <a:latin typeface="Nunito Sans"/>
                <a:ea typeface="Nunito Sans"/>
                <a:cs typeface="Nunito Sans"/>
                <a:sym typeface="Nunito Sans"/>
              </a:rPr>
              <a:t>Jenna</a:t>
            </a:r>
            <a:endParaRPr b="0" i="0" sz="1800" u="none" cap="none" strike="noStrike">
              <a:solidFill>
                <a:schemeClr val="dk1"/>
              </a:solidFill>
              <a:latin typeface="Calibri"/>
              <a:ea typeface="Calibri"/>
              <a:cs typeface="Calibri"/>
              <a:sym typeface="Calibri"/>
            </a:endParaRPr>
          </a:p>
        </p:txBody>
      </p:sp>
      <p:sp>
        <p:nvSpPr>
          <p:cNvPr id="48" name="Google Shape;48;p4"/>
          <p:cNvSpPr/>
          <p:nvPr/>
        </p:nvSpPr>
        <p:spPr>
          <a:xfrm>
            <a:off x="819150" y="5226000"/>
            <a:ext cx="10553700" cy="546100"/>
          </a:xfrm>
          <a:prstGeom prst="roundRect">
            <a:avLst>
              <a:gd fmla="val 22093"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49" name="Google Shape;49;p4"/>
          <p:cNvSpPr/>
          <p:nvPr/>
        </p:nvSpPr>
        <p:spPr>
          <a:xfrm>
            <a:off x="1003300" y="5321250"/>
            <a:ext cx="406400"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2000"/>
              <a:buFont typeface="Nunito"/>
              <a:buNone/>
            </a:pPr>
            <a:r>
              <a:rPr b="1" i="0" lang="en-US" sz="1800" u="none" cap="none" strike="noStrike">
                <a:solidFill>
                  <a:srgbClr val="B23A55"/>
                </a:solidFill>
                <a:latin typeface="Nunito"/>
                <a:ea typeface="Nunito"/>
                <a:cs typeface="Nunito"/>
                <a:sym typeface="Nunito"/>
              </a:rPr>
              <a:t>6</a:t>
            </a:r>
            <a:endParaRPr b="0" i="0" sz="1800" u="none" cap="none" strike="noStrike">
              <a:solidFill>
                <a:schemeClr val="dk1"/>
              </a:solidFill>
              <a:latin typeface="Calibri"/>
              <a:ea typeface="Calibri"/>
              <a:cs typeface="Calibri"/>
              <a:sym typeface="Calibri"/>
            </a:endParaRPr>
          </a:p>
        </p:txBody>
      </p:sp>
      <p:sp>
        <p:nvSpPr>
          <p:cNvPr id="50" name="Google Shape;50;p4"/>
          <p:cNvSpPr/>
          <p:nvPr/>
        </p:nvSpPr>
        <p:spPr>
          <a:xfrm>
            <a:off x="1536700" y="5375225"/>
            <a:ext cx="8581136"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B2440"/>
              </a:buClr>
              <a:buSzPts val="1500"/>
              <a:buFont typeface="Nunito Sans"/>
              <a:buNone/>
            </a:pPr>
            <a:r>
              <a:rPr b="1" i="0" lang="en-US" sz="1800" u="none" cap="none" strike="noStrike">
                <a:solidFill>
                  <a:srgbClr val="1B2440"/>
                </a:solidFill>
                <a:latin typeface="Nunito Sans"/>
                <a:ea typeface="Nunito Sans"/>
                <a:cs typeface="Nunito Sans"/>
                <a:sym typeface="Nunito Sans"/>
              </a:rPr>
              <a:t>Next steps</a:t>
            </a:r>
            <a:r>
              <a:rPr b="0" i="0" lang="en-US" sz="1800" u="none" cap="none" strike="noStrike">
                <a:solidFill>
                  <a:srgbClr val="1B2440"/>
                </a:solidFill>
                <a:latin typeface="Nunito Sans"/>
                <a:ea typeface="Nunito Sans"/>
                <a:cs typeface="Nunito Sans"/>
                <a:sym typeface="Nunito Sans"/>
              </a:rPr>
              <a:t> for the coming weeks</a:t>
            </a:r>
            <a:endParaRPr b="0" i="0" sz="1800" u="none" cap="none" strike="noStrike">
              <a:solidFill>
                <a:schemeClr val="dk1"/>
              </a:solidFill>
              <a:latin typeface="Calibri"/>
              <a:ea typeface="Calibri"/>
              <a:cs typeface="Calibri"/>
              <a:sym typeface="Calibri"/>
            </a:endParaRPr>
          </a:p>
        </p:txBody>
      </p:sp>
      <p:sp>
        <p:nvSpPr>
          <p:cNvPr id="51" name="Google Shape;51;p4"/>
          <p:cNvSpPr/>
          <p:nvPr/>
        </p:nvSpPr>
        <p:spPr>
          <a:xfrm>
            <a:off x="10045700" y="5354290"/>
            <a:ext cx="1143000" cy="289520"/>
          </a:xfrm>
          <a:custGeom>
            <a:rect b="b" l="l" r="r" t="t"/>
            <a:pathLst>
              <a:path extrusionOk="0" h="289520" w="1143000">
                <a:moveTo>
                  <a:pt x="144760" y="0"/>
                </a:moveTo>
                <a:lnTo>
                  <a:pt x="998240" y="0"/>
                </a:lnTo>
                <a:cubicBezTo>
                  <a:pt x="1036633" y="0"/>
                  <a:pt x="1073453" y="15251"/>
                  <a:pt x="1100601" y="42399"/>
                </a:cubicBezTo>
                <a:cubicBezTo>
                  <a:pt x="1127749" y="69547"/>
                  <a:pt x="1143000" y="106367"/>
                  <a:pt x="1143000" y="144760"/>
                </a:cubicBezTo>
                <a:lnTo>
                  <a:pt x="1143000" y="144760"/>
                </a:lnTo>
                <a:cubicBezTo>
                  <a:pt x="1143000" y="224709"/>
                  <a:pt x="1078189" y="289520"/>
                  <a:pt x="998240" y="289520"/>
                </a:cubicBezTo>
                <a:lnTo>
                  <a:pt x="144760" y="289520"/>
                </a:lnTo>
                <a:cubicBezTo>
                  <a:pt x="64811" y="289520"/>
                  <a:pt x="0" y="224709"/>
                  <a:pt x="0" y="144760"/>
                </a:cubicBezTo>
                <a:lnTo>
                  <a:pt x="0" y="144760"/>
                </a:lnTo>
                <a:cubicBezTo>
                  <a:pt x="0" y="64811"/>
                  <a:pt x="64811" y="0"/>
                  <a:pt x="144760" y="0"/>
                </a:cubicBezTo>
                <a:close/>
              </a:path>
            </a:pathLst>
          </a:custGeom>
          <a:solidFill>
            <a:srgbClr val="E3EEDF"/>
          </a:solidFill>
          <a:ln>
            <a:noFill/>
          </a:ln>
        </p:spPr>
        <p:txBody>
          <a:bodyPr anchorCtr="0" anchor="t" bIns="12700" lIns="76200" spcFirstLastPara="1" rIns="76200" wrap="square" tIns="3810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800" u="none" cap="none" strike="noStrike">
                <a:solidFill>
                  <a:srgbClr val="1B2440"/>
                </a:solidFill>
                <a:latin typeface="Nunito Sans"/>
                <a:ea typeface="Nunito Sans"/>
                <a:cs typeface="Nunito Sans"/>
                <a:sym typeface="Nunito Sans"/>
              </a:rPr>
              <a:t>Abraham</a:t>
            </a:r>
            <a:endParaRPr b="0" i="0" sz="1800" u="none" cap="none" strike="noStrike">
              <a:solidFill>
                <a:schemeClr val="dk1"/>
              </a:solidFill>
              <a:latin typeface="Calibri"/>
              <a:ea typeface="Calibri"/>
              <a:cs typeface="Calibri"/>
              <a:sym typeface="Calibri"/>
            </a:endParaRPr>
          </a:p>
        </p:txBody>
      </p:sp>
      <p:sp>
        <p:nvSpPr>
          <p:cNvPr id="52" name="Google Shape;52;p4"/>
          <p:cNvSpPr/>
          <p:nvPr/>
        </p:nvSpPr>
        <p:spPr>
          <a:xfrm>
            <a:off x="812800" y="62890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2</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57" name="Shape 57"/>
        <p:cNvGrpSpPr/>
        <p:nvPr/>
      </p:nvGrpSpPr>
      <p:grpSpPr>
        <a:xfrm>
          <a:off x="0" y="0"/>
          <a:ext cx="0" cy="0"/>
          <a:chOff x="0" y="0"/>
          <a:chExt cx="0" cy="0"/>
        </a:xfrm>
      </p:grpSpPr>
      <p:sp>
        <p:nvSpPr>
          <p:cNvPr id="58" name="Google Shape;58;p5"/>
          <p:cNvSpPr/>
          <p:nvPr/>
        </p:nvSpPr>
        <p:spPr>
          <a:xfrm>
            <a:off x="812800" y="920899"/>
            <a:ext cx="761314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1 · THE QUESTION</a:t>
            </a:r>
            <a:endParaRPr b="0" i="0" sz="1200" u="none" cap="none" strike="noStrike">
              <a:solidFill>
                <a:schemeClr val="dk1"/>
              </a:solidFill>
              <a:latin typeface="Calibri"/>
              <a:ea typeface="Calibri"/>
              <a:cs typeface="Calibri"/>
              <a:sym typeface="Calibri"/>
            </a:endParaRPr>
          </a:p>
        </p:txBody>
      </p:sp>
      <p:sp>
        <p:nvSpPr>
          <p:cNvPr id="59" name="Google Shape;59;p5"/>
          <p:cNvSpPr/>
          <p:nvPr/>
        </p:nvSpPr>
        <p:spPr>
          <a:xfrm>
            <a:off x="812800" y="1343353"/>
            <a:ext cx="7378800" cy="1365300"/>
          </a:xfrm>
          <a:prstGeom prst="roundRect">
            <a:avLst>
              <a:gd fmla="val 11643"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60" name="Google Shape;60;p5"/>
          <p:cNvSpPr/>
          <p:nvPr/>
        </p:nvSpPr>
        <p:spPr>
          <a:xfrm>
            <a:off x="1022350" y="1552514"/>
            <a:ext cx="7168500" cy="314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800" u="none" cap="none" strike="noStrike">
                <a:solidFill>
                  <a:srgbClr val="B23A55"/>
                </a:solidFill>
                <a:latin typeface="Nunito Sans"/>
                <a:ea typeface="Nunito Sans"/>
                <a:cs typeface="Nunito Sans"/>
                <a:sym typeface="Nunito Sans"/>
              </a:rPr>
              <a:t>Main question</a:t>
            </a:r>
            <a:endParaRPr b="0" i="0" sz="1800" u="none" cap="none" strike="noStrike">
              <a:solidFill>
                <a:schemeClr val="dk1"/>
              </a:solidFill>
              <a:latin typeface="Calibri"/>
              <a:ea typeface="Calibri"/>
              <a:cs typeface="Calibri"/>
              <a:sym typeface="Calibri"/>
            </a:endParaRPr>
          </a:p>
        </p:txBody>
      </p:sp>
      <p:sp>
        <p:nvSpPr>
          <p:cNvPr id="61" name="Google Shape;61;p5"/>
          <p:cNvSpPr/>
          <p:nvPr/>
        </p:nvSpPr>
        <p:spPr>
          <a:xfrm>
            <a:off x="1022350" y="1867042"/>
            <a:ext cx="7077600" cy="6660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B2440"/>
              </a:buClr>
              <a:buSzPts val="1400"/>
              <a:buFont typeface="Nunito Sans"/>
              <a:buNone/>
            </a:pPr>
            <a:r>
              <a:rPr b="0" i="0" lang="en-US" sz="1800" u="none" cap="none" strike="noStrike">
                <a:solidFill>
                  <a:srgbClr val="1B2440"/>
                </a:solidFill>
                <a:latin typeface="Nunito Sans"/>
                <a:ea typeface="Nunito Sans"/>
                <a:cs typeface="Nunito Sans"/>
                <a:sym typeface="Nunito Sans"/>
              </a:rPr>
              <a:t>Using only what is known before they meet, how well can we predict whether two people will both say yes to meeting again?</a:t>
            </a:r>
            <a:endParaRPr b="0" i="0" sz="1800" u="none" cap="none" strike="noStrike">
              <a:solidFill>
                <a:schemeClr val="dk1"/>
              </a:solidFill>
              <a:latin typeface="Calibri"/>
              <a:ea typeface="Calibri"/>
              <a:cs typeface="Calibri"/>
              <a:sym typeface="Calibri"/>
            </a:endParaRPr>
          </a:p>
        </p:txBody>
      </p:sp>
      <p:sp>
        <p:nvSpPr>
          <p:cNvPr id="62" name="Google Shape;62;p5"/>
          <p:cNvSpPr/>
          <p:nvPr/>
        </p:nvSpPr>
        <p:spPr>
          <a:xfrm>
            <a:off x="812800" y="2859253"/>
            <a:ext cx="7378800" cy="1365300"/>
          </a:xfrm>
          <a:prstGeom prst="roundRect">
            <a:avLst>
              <a:gd fmla="val 11643"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63" name="Google Shape;63;p5"/>
          <p:cNvSpPr/>
          <p:nvPr/>
        </p:nvSpPr>
        <p:spPr>
          <a:xfrm>
            <a:off x="1022350" y="3068415"/>
            <a:ext cx="7168500" cy="314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800" u="none" cap="none" strike="noStrike">
                <a:solidFill>
                  <a:srgbClr val="B23A55"/>
                </a:solidFill>
                <a:latin typeface="Nunito Sans"/>
                <a:ea typeface="Nunito Sans"/>
                <a:cs typeface="Nunito Sans"/>
                <a:sym typeface="Nunito Sans"/>
              </a:rPr>
              <a:t>Compatibility</a:t>
            </a:r>
            <a:endParaRPr b="0" i="0" sz="1800" u="none" cap="none" strike="noStrike">
              <a:solidFill>
                <a:schemeClr val="dk1"/>
              </a:solidFill>
              <a:latin typeface="Calibri"/>
              <a:ea typeface="Calibri"/>
              <a:cs typeface="Calibri"/>
              <a:sym typeface="Calibri"/>
            </a:endParaRPr>
          </a:p>
        </p:txBody>
      </p:sp>
      <p:sp>
        <p:nvSpPr>
          <p:cNvPr id="64" name="Google Shape;64;p5"/>
          <p:cNvSpPr/>
          <p:nvPr/>
        </p:nvSpPr>
        <p:spPr>
          <a:xfrm>
            <a:off x="1022350" y="3382941"/>
            <a:ext cx="7168500" cy="6660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B2440"/>
              </a:buClr>
              <a:buSzPts val="1400"/>
              <a:buFont typeface="Nunito Sans"/>
              <a:buNone/>
            </a:pPr>
            <a:r>
              <a:rPr b="0" i="0" lang="en-US" sz="1800" u="none" cap="none" strike="noStrike">
                <a:solidFill>
                  <a:srgbClr val="1B2440"/>
                </a:solidFill>
                <a:latin typeface="Nunito Sans"/>
                <a:ea typeface="Nunito Sans"/>
                <a:cs typeface="Nunito Sans"/>
                <a:sym typeface="Nunito Sans"/>
              </a:rPr>
              <a:t>Do pair-level compatibility measures improve predictions beyond each person's own characteristics?</a:t>
            </a:r>
            <a:endParaRPr b="0" i="0" sz="1800" u="none" cap="none" strike="noStrike">
              <a:solidFill>
                <a:schemeClr val="dk1"/>
              </a:solidFill>
              <a:latin typeface="Calibri"/>
              <a:ea typeface="Calibri"/>
              <a:cs typeface="Calibri"/>
              <a:sym typeface="Calibri"/>
            </a:endParaRPr>
          </a:p>
        </p:txBody>
      </p:sp>
      <p:sp>
        <p:nvSpPr>
          <p:cNvPr id="65" name="Google Shape;65;p5"/>
          <p:cNvSpPr/>
          <p:nvPr/>
        </p:nvSpPr>
        <p:spPr>
          <a:xfrm>
            <a:off x="812800" y="4375153"/>
            <a:ext cx="7378800" cy="1365300"/>
          </a:xfrm>
          <a:prstGeom prst="roundRect">
            <a:avLst>
              <a:gd fmla="val 11643"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66" name="Google Shape;66;p5"/>
          <p:cNvSpPr/>
          <p:nvPr/>
        </p:nvSpPr>
        <p:spPr>
          <a:xfrm>
            <a:off x="1022350" y="4584315"/>
            <a:ext cx="7168500" cy="314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800" u="none" cap="none" strike="noStrike">
                <a:solidFill>
                  <a:srgbClr val="B23A55"/>
                </a:solidFill>
                <a:latin typeface="Nunito Sans"/>
                <a:ea typeface="Nunito Sans"/>
                <a:cs typeface="Nunito Sans"/>
                <a:sym typeface="Nunito Sans"/>
              </a:rPr>
              <a:t>After meeting</a:t>
            </a:r>
            <a:endParaRPr b="0" i="0" sz="1800" u="none" cap="none" strike="noStrike">
              <a:solidFill>
                <a:schemeClr val="dk1"/>
              </a:solidFill>
              <a:latin typeface="Calibri"/>
              <a:ea typeface="Calibri"/>
              <a:cs typeface="Calibri"/>
              <a:sym typeface="Calibri"/>
            </a:endParaRPr>
          </a:p>
        </p:txBody>
      </p:sp>
      <p:sp>
        <p:nvSpPr>
          <p:cNvPr id="67" name="Google Shape;67;p5"/>
          <p:cNvSpPr/>
          <p:nvPr/>
        </p:nvSpPr>
        <p:spPr>
          <a:xfrm>
            <a:off x="1022350" y="4898841"/>
            <a:ext cx="7168500" cy="6660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B2440"/>
              </a:buClr>
              <a:buSzPts val="1400"/>
              <a:buFont typeface="Nunito Sans"/>
              <a:buNone/>
            </a:pPr>
            <a:r>
              <a:rPr b="0" i="0" lang="en-US" sz="1800" u="none" cap="none" strike="noStrike">
                <a:solidFill>
                  <a:srgbClr val="1B2440"/>
                </a:solidFill>
                <a:latin typeface="Nunito Sans"/>
                <a:ea typeface="Nunito Sans"/>
                <a:cs typeface="Nunito Sans"/>
                <a:sym typeface="Nunito Sans"/>
              </a:rPr>
              <a:t>How much more predictive information appears once the two people have actually met?</a:t>
            </a:r>
            <a:endParaRPr b="0" i="0" sz="1800" u="none" cap="none" strike="noStrike">
              <a:solidFill>
                <a:schemeClr val="dk1"/>
              </a:solidFill>
              <a:latin typeface="Calibri"/>
              <a:ea typeface="Calibri"/>
              <a:cs typeface="Calibri"/>
              <a:sym typeface="Calibri"/>
            </a:endParaRPr>
          </a:p>
        </p:txBody>
      </p:sp>
      <p:pic>
        <p:nvPicPr>
          <p:cNvPr descr="A phone showing a dating profile card with a skip button and a heart button" id="68" name="Google Shape;68;p5"/>
          <p:cNvPicPr preferRelativeResize="0"/>
          <p:nvPr/>
        </p:nvPicPr>
        <p:blipFill rotWithShape="1">
          <a:blip r:embed="rId3">
            <a:alphaModFix/>
          </a:blip>
          <a:srcRect b="0" l="0" r="0" t="0"/>
          <a:stretch/>
        </p:blipFill>
        <p:spPr>
          <a:xfrm>
            <a:off x="8712200" y="1113861"/>
            <a:ext cx="2667000" cy="4826000"/>
          </a:xfrm>
          <a:prstGeom prst="rect">
            <a:avLst/>
          </a:prstGeom>
          <a:noFill/>
          <a:ln>
            <a:noFill/>
          </a:ln>
        </p:spPr>
      </p:pic>
      <p:sp>
        <p:nvSpPr>
          <p:cNvPr id="69" name="Google Shape;69;p5"/>
          <p:cNvSpPr/>
          <p:nvPr/>
        </p:nvSpPr>
        <p:spPr>
          <a:xfrm>
            <a:off x="812800" y="6289080"/>
            <a:ext cx="65405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3</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74" name="Shape 74"/>
        <p:cNvGrpSpPr/>
        <p:nvPr/>
      </p:nvGrpSpPr>
      <p:grpSpPr>
        <a:xfrm>
          <a:off x="0" y="0"/>
          <a:ext cx="0" cy="0"/>
          <a:chOff x="0" y="0"/>
          <a:chExt cx="0" cy="0"/>
        </a:xfrm>
      </p:grpSpPr>
      <p:sp>
        <p:nvSpPr>
          <p:cNvPr id="75" name="Google Shape;75;p6"/>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1 · WHY IT MATTERS</a:t>
            </a:r>
            <a:endParaRPr b="0" i="0" sz="1200" u="none" cap="none" strike="noStrike">
              <a:solidFill>
                <a:schemeClr val="dk1"/>
              </a:solidFill>
              <a:latin typeface="Calibri"/>
              <a:ea typeface="Calibri"/>
              <a:cs typeface="Calibri"/>
              <a:sym typeface="Calibri"/>
            </a:endParaRPr>
          </a:p>
        </p:txBody>
      </p:sp>
      <p:sp>
        <p:nvSpPr>
          <p:cNvPr id="76" name="Google Shape;76;p6"/>
          <p:cNvSpPr/>
          <p:nvPr/>
        </p:nvSpPr>
        <p:spPr>
          <a:xfrm>
            <a:off x="819100" y="1263750"/>
            <a:ext cx="3373800" cy="4814700"/>
          </a:xfrm>
          <a:prstGeom prst="roundRect">
            <a:avLst>
              <a:gd fmla="val 5048"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arch" id="77" name="Google Shape;77;p6"/>
          <p:cNvPicPr preferRelativeResize="0"/>
          <p:nvPr/>
        </p:nvPicPr>
        <p:blipFill rotWithShape="1">
          <a:blip r:embed="rId3">
            <a:alphaModFix/>
          </a:blip>
          <a:srcRect b="0" l="0" r="0" t="0"/>
          <a:stretch/>
        </p:blipFill>
        <p:spPr>
          <a:xfrm>
            <a:off x="1028638" y="1473300"/>
            <a:ext cx="330200" cy="330200"/>
          </a:xfrm>
          <a:prstGeom prst="rect">
            <a:avLst/>
          </a:prstGeom>
          <a:noFill/>
          <a:ln>
            <a:noFill/>
          </a:ln>
        </p:spPr>
      </p:pic>
      <p:sp>
        <p:nvSpPr>
          <p:cNvPr id="78" name="Google Shape;78;p6"/>
          <p:cNvSpPr/>
          <p:nvPr/>
        </p:nvSpPr>
        <p:spPr>
          <a:xfrm>
            <a:off x="1028650" y="1892400"/>
            <a:ext cx="3043500" cy="606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700"/>
              <a:buFont typeface="Nunito"/>
              <a:buNone/>
            </a:pPr>
            <a:r>
              <a:rPr b="1" i="0" lang="en-US" sz="2200" u="none" cap="none" strike="noStrike">
                <a:solidFill>
                  <a:srgbClr val="1B2440"/>
                </a:solidFill>
                <a:latin typeface="Nunito"/>
                <a:ea typeface="Nunito"/>
                <a:cs typeface="Nunito"/>
                <a:sym typeface="Nunito"/>
              </a:rPr>
              <a:t>Prior research</a:t>
            </a:r>
            <a:endParaRPr b="0" i="0" sz="2200" u="none" cap="none" strike="noStrike">
              <a:solidFill>
                <a:schemeClr val="dk1"/>
              </a:solidFill>
              <a:latin typeface="Calibri"/>
              <a:ea typeface="Calibri"/>
              <a:cs typeface="Calibri"/>
              <a:sym typeface="Calibri"/>
            </a:endParaRPr>
          </a:p>
        </p:txBody>
      </p:sp>
      <p:sp>
        <p:nvSpPr>
          <p:cNvPr id="79" name="Google Shape;79;p6"/>
          <p:cNvSpPr/>
          <p:nvPr/>
        </p:nvSpPr>
        <p:spPr>
          <a:xfrm>
            <a:off x="940100" y="2632843"/>
            <a:ext cx="3043500" cy="2826900"/>
          </a:xfrm>
          <a:prstGeom prst="rect">
            <a:avLst/>
          </a:prstGeom>
          <a:noFill/>
          <a:ln>
            <a:noFill/>
          </a:ln>
        </p:spPr>
        <p:txBody>
          <a:bodyPr anchorCtr="0" anchor="t" bIns="0" lIns="0" spcFirstLastPara="1" rIns="0" wrap="square" tIns="0">
            <a:noAutofit/>
          </a:bodyPr>
          <a:lstStyle/>
          <a:p>
            <a:pPr indent="-361950" lvl="0" marL="457200" marR="0" rtl="0" algn="l">
              <a:lnSpc>
                <a:spcPct val="140000"/>
              </a:lnSpc>
              <a:spcBef>
                <a:spcPts val="0"/>
              </a:spcBef>
              <a:spcAft>
                <a:spcPts val="0"/>
              </a:spcAft>
              <a:buClr>
                <a:schemeClr val="dk1"/>
              </a:buClr>
              <a:buSzPts val="2100"/>
              <a:buFont typeface="Calibri"/>
              <a:buChar char="-"/>
            </a:pPr>
            <a:r>
              <a:rPr lang="en-US" sz="2100">
                <a:solidFill>
                  <a:srgbClr val="4A5163"/>
                </a:solidFill>
                <a:latin typeface="Nunito Sans"/>
                <a:ea typeface="Nunito Sans"/>
                <a:cs typeface="Nunito Sans"/>
                <a:sym typeface="Nunito Sans"/>
              </a:rPr>
              <a:t>Fisman et al.: gender differences in choosing partners</a:t>
            </a:r>
            <a:endParaRPr sz="2100">
              <a:solidFill>
                <a:srgbClr val="4A5163"/>
              </a:solidFill>
              <a:latin typeface="Nunito Sans"/>
              <a:ea typeface="Nunito Sans"/>
              <a:cs typeface="Nunito Sans"/>
              <a:sym typeface="Nunito Sans"/>
            </a:endParaRPr>
          </a:p>
          <a:p>
            <a:pPr indent="-361950" lvl="0" marL="457200" marR="0" rtl="0" algn="l">
              <a:lnSpc>
                <a:spcPct val="140000"/>
              </a:lnSpc>
              <a:spcBef>
                <a:spcPts val="0"/>
              </a:spcBef>
              <a:spcAft>
                <a:spcPts val="0"/>
              </a:spcAft>
              <a:buClr>
                <a:srgbClr val="4A5163"/>
              </a:buClr>
              <a:buSzPts val="2100"/>
              <a:buFont typeface="Nunito Sans"/>
              <a:buChar char="-"/>
            </a:pPr>
            <a:r>
              <a:rPr lang="en-US" sz="2100">
                <a:solidFill>
                  <a:srgbClr val="4A5163"/>
                </a:solidFill>
                <a:latin typeface="Nunito Sans"/>
                <a:ea typeface="Nunito Sans"/>
                <a:cs typeface="Nunito Sans"/>
                <a:sym typeface="Nunito Sans"/>
              </a:rPr>
              <a:t>Joel et al.: pre-date info not necessarily informed pair match</a:t>
            </a:r>
            <a:endParaRPr sz="2100">
              <a:solidFill>
                <a:srgbClr val="4A5163"/>
              </a:solidFill>
              <a:latin typeface="Nunito Sans"/>
              <a:ea typeface="Nunito Sans"/>
              <a:cs typeface="Nunito Sans"/>
              <a:sym typeface="Nunito Sans"/>
            </a:endParaRPr>
          </a:p>
        </p:txBody>
      </p:sp>
      <p:sp>
        <p:nvSpPr>
          <p:cNvPr id="80" name="Google Shape;80;p6"/>
          <p:cNvSpPr/>
          <p:nvPr/>
        </p:nvSpPr>
        <p:spPr>
          <a:xfrm>
            <a:off x="4408925" y="1263750"/>
            <a:ext cx="3374100" cy="4814700"/>
          </a:xfrm>
          <a:prstGeom prst="roundRect">
            <a:avLst>
              <a:gd fmla="val 5048"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sers" id="81" name="Google Shape;81;p6"/>
          <p:cNvPicPr preferRelativeResize="0"/>
          <p:nvPr/>
        </p:nvPicPr>
        <p:blipFill rotWithShape="1">
          <a:blip r:embed="rId4">
            <a:alphaModFix/>
          </a:blip>
          <a:srcRect b="0" l="0" r="0" t="0"/>
          <a:stretch/>
        </p:blipFill>
        <p:spPr>
          <a:xfrm>
            <a:off x="4618472" y="1473300"/>
            <a:ext cx="330200" cy="330200"/>
          </a:xfrm>
          <a:prstGeom prst="rect">
            <a:avLst/>
          </a:prstGeom>
          <a:noFill/>
          <a:ln>
            <a:noFill/>
          </a:ln>
        </p:spPr>
      </p:pic>
      <p:sp>
        <p:nvSpPr>
          <p:cNvPr id="82" name="Google Shape;82;p6"/>
          <p:cNvSpPr/>
          <p:nvPr/>
        </p:nvSpPr>
        <p:spPr>
          <a:xfrm>
            <a:off x="4618472" y="1892400"/>
            <a:ext cx="3043500" cy="28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700"/>
              <a:buFont typeface="Nunito"/>
              <a:buNone/>
            </a:pPr>
            <a:r>
              <a:rPr b="1" i="0" lang="en-US" sz="2200" u="none" cap="none" strike="noStrike">
                <a:solidFill>
                  <a:srgbClr val="1B2440"/>
                </a:solidFill>
                <a:latin typeface="Nunito"/>
                <a:ea typeface="Nunito"/>
                <a:cs typeface="Nunito"/>
                <a:sym typeface="Nunito"/>
              </a:rPr>
              <a:t>Our contribution</a:t>
            </a:r>
            <a:endParaRPr b="0" i="0" sz="2200" u="none" cap="none" strike="noStrike">
              <a:solidFill>
                <a:schemeClr val="dk1"/>
              </a:solidFill>
              <a:latin typeface="Calibri"/>
              <a:ea typeface="Calibri"/>
              <a:cs typeface="Calibri"/>
              <a:sym typeface="Calibri"/>
            </a:endParaRPr>
          </a:p>
        </p:txBody>
      </p:sp>
      <p:sp>
        <p:nvSpPr>
          <p:cNvPr id="83" name="Google Shape;83;p6"/>
          <p:cNvSpPr/>
          <p:nvPr/>
        </p:nvSpPr>
        <p:spPr>
          <a:xfrm>
            <a:off x="4618500" y="2632853"/>
            <a:ext cx="3043500" cy="2610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2100" u="none" cap="none" strike="noStrike">
                <a:solidFill>
                  <a:srgbClr val="4A5163"/>
                </a:solidFill>
                <a:latin typeface="Nunito Sans"/>
                <a:ea typeface="Nunito Sans"/>
                <a:cs typeface="Nunito Sans"/>
                <a:sym typeface="Nunito Sans"/>
              </a:rPr>
              <a:t>We predict the pair: will </a:t>
            </a:r>
            <a:r>
              <a:rPr b="1" i="0" lang="en-US" sz="2100" u="none" cap="none" strike="noStrike">
                <a:solidFill>
                  <a:srgbClr val="4A5163"/>
                </a:solidFill>
                <a:latin typeface="Nunito Sans"/>
                <a:ea typeface="Nunito Sans"/>
                <a:cs typeface="Nunito Sans"/>
                <a:sym typeface="Nunito Sans"/>
              </a:rPr>
              <a:t>both</a:t>
            </a:r>
            <a:r>
              <a:rPr b="0" i="0" lang="en-US" sz="2100" u="none" cap="none" strike="noStrike">
                <a:solidFill>
                  <a:srgbClr val="4A5163"/>
                </a:solidFill>
                <a:latin typeface="Nunito Sans"/>
                <a:ea typeface="Nunito Sans"/>
                <a:cs typeface="Nunito Sans"/>
                <a:sym typeface="Nunito Sans"/>
              </a:rPr>
              <a:t> say yes? </a:t>
            </a:r>
            <a:endParaRPr b="0" i="0" sz="2100" u="none" cap="none" strike="noStrike">
              <a:solidFill>
                <a:srgbClr val="4A5163"/>
              </a:solidFill>
              <a:latin typeface="Nunito Sans"/>
              <a:ea typeface="Nunito Sans"/>
              <a:cs typeface="Nunito Sans"/>
              <a:sym typeface="Nunito Sans"/>
            </a:endParaRPr>
          </a:p>
          <a:p>
            <a:pPr indent="0" lvl="0" marL="0" marR="0" rtl="0" algn="l">
              <a:lnSpc>
                <a:spcPct val="140000"/>
              </a:lnSpc>
              <a:spcBef>
                <a:spcPts val="0"/>
              </a:spcBef>
              <a:spcAft>
                <a:spcPts val="0"/>
              </a:spcAft>
              <a:buClr>
                <a:srgbClr val="4A5163"/>
              </a:buClr>
              <a:buSzPts val="1300"/>
              <a:buFont typeface="Nunito Sans"/>
              <a:buNone/>
            </a:pPr>
            <a:r>
              <a:t/>
            </a:r>
            <a:endParaRPr sz="2100">
              <a:solidFill>
                <a:srgbClr val="4A5163"/>
              </a:solidFill>
              <a:latin typeface="Nunito Sans"/>
              <a:ea typeface="Nunito Sans"/>
              <a:cs typeface="Nunito Sans"/>
              <a:sym typeface="Nunito Sans"/>
            </a:endParaRPr>
          </a:p>
          <a:p>
            <a:pPr indent="0" lvl="0" marL="0" marR="0" rtl="0" algn="l">
              <a:lnSpc>
                <a:spcPct val="140000"/>
              </a:lnSpc>
              <a:spcBef>
                <a:spcPts val="0"/>
              </a:spcBef>
              <a:spcAft>
                <a:spcPts val="0"/>
              </a:spcAft>
              <a:buClr>
                <a:srgbClr val="4A5163"/>
              </a:buClr>
              <a:buSzPts val="1300"/>
              <a:buFont typeface="Nunito Sans"/>
              <a:buNone/>
            </a:pPr>
            <a:r>
              <a:t/>
            </a:r>
            <a:endParaRPr sz="2100">
              <a:solidFill>
                <a:srgbClr val="4A5163"/>
              </a:solidFill>
              <a:latin typeface="Nunito Sans"/>
              <a:ea typeface="Nunito Sans"/>
              <a:cs typeface="Nunito Sans"/>
              <a:sym typeface="Nunito Sans"/>
            </a:endParaRPr>
          </a:p>
        </p:txBody>
      </p:sp>
      <p:sp>
        <p:nvSpPr>
          <p:cNvPr id="84" name="Google Shape;84;p6"/>
          <p:cNvSpPr/>
          <p:nvPr/>
        </p:nvSpPr>
        <p:spPr>
          <a:xfrm>
            <a:off x="7998825" y="1263750"/>
            <a:ext cx="3374100" cy="4814700"/>
          </a:xfrm>
          <a:prstGeom prst="roundRect">
            <a:avLst>
              <a:gd fmla="val 5048" name="adj"/>
            </a:avLst>
          </a:prstGeom>
          <a:solidFill>
            <a:srgbClr val="F6ECE9"/>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ightbulb" id="85" name="Google Shape;85;p6"/>
          <p:cNvPicPr preferRelativeResize="0"/>
          <p:nvPr/>
        </p:nvPicPr>
        <p:blipFill rotWithShape="1">
          <a:blip r:embed="rId5">
            <a:alphaModFix/>
          </a:blip>
          <a:srcRect b="0" l="0" r="0" t="0"/>
          <a:stretch/>
        </p:blipFill>
        <p:spPr>
          <a:xfrm>
            <a:off x="8208355" y="1473300"/>
            <a:ext cx="330200" cy="330200"/>
          </a:xfrm>
          <a:prstGeom prst="rect">
            <a:avLst/>
          </a:prstGeom>
          <a:noFill/>
          <a:ln>
            <a:noFill/>
          </a:ln>
        </p:spPr>
      </p:pic>
      <p:sp>
        <p:nvSpPr>
          <p:cNvPr id="86" name="Google Shape;86;p6"/>
          <p:cNvSpPr/>
          <p:nvPr/>
        </p:nvSpPr>
        <p:spPr>
          <a:xfrm>
            <a:off x="8208355" y="1892400"/>
            <a:ext cx="3043500" cy="28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700"/>
              <a:buFont typeface="Nunito"/>
              <a:buNone/>
            </a:pPr>
            <a:r>
              <a:rPr b="1" i="0" lang="en-US" sz="2200" u="none" cap="none" strike="noStrike">
                <a:solidFill>
                  <a:srgbClr val="1B2440"/>
                </a:solidFill>
                <a:latin typeface="Nunito"/>
                <a:ea typeface="Nunito"/>
                <a:cs typeface="Nunito"/>
                <a:sym typeface="Nunito"/>
              </a:rPr>
              <a:t>Why it matters</a:t>
            </a:r>
            <a:endParaRPr b="0" i="0" sz="2200" u="none" cap="none" strike="noStrike">
              <a:solidFill>
                <a:schemeClr val="dk1"/>
              </a:solidFill>
              <a:latin typeface="Calibri"/>
              <a:ea typeface="Calibri"/>
              <a:cs typeface="Calibri"/>
              <a:sym typeface="Calibri"/>
            </a:endParaRPr>
          </a:p>
        </p:txBody>
      </p:sp>
      <p:sp>
        <p:nvSpPr>
          <p:cNvPr id="87" name="Google Shape;87;p6"/>
          <p:cNvSpPr/>
          <p:nvPr/>
        </p:nvSpPr>
        <p:spPr>
          <a:xfrm>
            <a:off x="8208350" y="2542992"/>
            <a:ext cx="3043500" cy="2790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2100" u="none" cap="none" strike="noStrike">
                <a:solidFill>
                  <a:srgbClr val="4A5163"/>
                </a:solidFill>
                <a:latin typeface="Nunito Sans"/>
                <a:ea typeface="Nunito Sans"/>
                <a:cs typeface="Nunito Sans"/>
                <a:sym typeface="Nunito Sans"/>
              </a:rPr>
              <a:t>Dating apps and matchmakers r</a:t>
            </a:r>
            <a:r>
              <a:rPr lang="en-US" sz="2100">
                <a:solidFill>
                  <a:srgbClr val="4A5163"/>
                </a:solidFill>
                <a:latin typeface="Nunito Sans"/>
                <a:ea typeface="Nunito Sans"/>
                <a:cs typeface="Nunito Sans"/>
                <a:sym typeface="Nunito Sans"/>
              </a:rPr>
              <a:t>ely on users’ </a:t>
            </a:r>
            <a:r>
              <a:rPr b="0" i="0" lang="en-US" sz="2100" u="none" cap="none" strike="noStrike">
                <a:solidFill>
                  <a:srgbClr val="4A5163"/>
                </a:solidFill>
                <a:latin typeface="Nunito Sans"/>
                <a:ea typeface="Nunito Sans"/>
                <a:cs typeface="Nunito Sans"/>
                <a:sym typeface="Nunito Sans"/>
              </a:rPr>
              <a:t>profiles: potential and limitations?</a:t>
            </a:r>
            <a:endParaRPr b="0" i="0" sz="2100" u="none" cap="none" strike="noStrike">
              <a:solidFill>
                <a:schemeClr val="dk1"/>
              </a:solidFill>
              <a:latin typeface="Calibri"/>
              <a:ea typeface="Calibri"/>
              <a:cs typeface="Calibri"/>
              <a:sym typeface="Calibri"/>
            </a:endParaRPr>
          </a:p>
        </p:txBody>
      </p:sp>
      <p:sp>
        <p:nvSpPr>
          <p:cNvPr id="88" name="Google Shape;88;p6"/>
          <p:cNvSpPr/>
          <p:nvPr/>
        </p:nvSpPr>
        <p:spPr>
          <a:xfrm>
            <a:off x="812800" y="62890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4 · Fisman et al. (2006), Quarterly Journal of Economics · Joel, Eastwick &amp; Finkel (2017), Psychological Science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93" name="Shape 93"/>
        <p:cNvGrpSpPr/>
        <p:nvPr/>
      </p:nvGrpSpPr>
      <p:grpSpPr>
        <a:xfrm>
          <a:off x="0" y="0"/>
          <a:ext cx="0" cy="0"/>
          <a:chOff x="0" y="0"/>
          <a:chExt cx="0" cy="0"/>
        </a:xfrm>
      </p:grpSpPr>
      <p:sp>
        <p:nvSpPr>
          <p:cNvPr id="94" name="Google Shape;94;p7"/>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2 · THE DATASET</a:t>
            </a:r>
            <a:endParaRPr b="0" i="0" sz="1200" u="none" cap="none" strike="noStrike">
              <a:solidFill>
                <a:schemeClr val="dk1"/>
              </a:solidFill>
              <a:latin typeface="Calibri"/>
              <a:ea typeface="Calibri"/>
              <a:cs typeface="Calibri"/>
              <a:sym typeface="Calibri"/>
            </a:endParaRPr>
          </a:p>
        </p:txBody>
      </p:sp>
      <p:sp>
        <p:nvSpPr>
          <p:cNvPr id="95" name="Google Shape;95;p7"/>
          <p:cNvSpPr/>
          <p:nvPr/>
        </p:nvSpPr>
        <p:spPr>
          <a:xfrm>
            <a:off x="812800" y="1229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lang="en-US" sz="3200">
                <a:solidFill>
                  <a:srgbClr val="1B2440"/>
                </a:solidFill>
                <a:latin typeface="Nunito"/>
                <a:ea typeface="Nunito"/>
                <a:cs typeface="Nunito"/>
                <a:sym typeface="Nunito"/>
              </a:rPr>
              <a:t>Where does our data come from?</a:t>
            </a:r>
            <a:endParaRPr b="0" i="0" sz="3200" u="none" cap="none" strike="noStrike">
              <a:solidFill>
                <a:schemeClr val="dk1"/>
              </a:solidFill>
              <a:latin typeface="Calibri"/>
              <a:ea typeface="Calibri"/>
              <a:cs typeface="Calibri"/>
              <a:sym typeface="Calibri"/>
            </a:endParaRPr>
          </a:p>
        </p:txBody>
      </p:sp>
      <p:sp>
        <p:nvSpPr>
          <p:cNvPr id="96" name="Google Shape;96;p7"/>
          <p:cNvSpPr/>
          <p:nvPr/>
        </p:nvSpPr>
        <p:spPr>
          <a:xfrm>
            <a:off x="812800" y="1879550"/>
            <a:ext cx="11379200" cy="301625"/>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4A5163"/>
              </a:buClr>
              <a:buSzPts val="1500"/>
              <a:buFont typeface="Nunito Sans"/>
              <a:buNone/>
            </a:pPr>
            <a:r>
              <a:rPr b="0" i="0" lang="en-US" sz="1500" u="none" cap="none" strike="noStrike">
                <a:solidFill>
                  <a:srgbClr val="4A5163"/>
                </a:solidFill>
                <a:latin typeface="Nunito Sans"/>
                <a:ea typeface="Nunito Sans"/>
                <a:cs typeface="Nunito Sans"/>
                <a:sym typeface="Nunito Sans"/>
              </a:rPr>
              <a:t>21 </a:t>
            </a:r>
            <a:r>
              <a:rPr lang="en-US" sz="1500">
                <a:solidFill>
                  <a:srgbClr val="4A5163"/>
                </a:solidFill>
                <a:latin typeface="Nunito Sans"/>
                <a:ea typeface="Nunito Sans"/>
                <a:cs typeface="Nunito Sans"/>
                <a:sym typeface="Nunito Sans"/>
              </a:rPr>
              <a:t>speed-dating e</a:t>
            </a:r>
            <a:r>
              <a:rPr b="0" i="0" lang="en-US" sz="1500" u="none" cap="none" strike="noStrike">
                <a:solidFill>
                  <a:srgbClr val="4A5163"/>
                </a:solidFill>
                <a:latin typeface="Nunito Sans"/>
                <a:ea typeface="Nunito Sans"/>
                <a:cs typeface="Nunito Sans"/>
                <a:sym typeface="Nunito Sans"/>
              </a:rPr>
              <a:t>vents (waves) at Columbia University, 2002 to 2004</a:t>
            </a:r>
            <a:endParaRPr b="0" i="0" sz="1500" u="none" cap="none" strike="noStrike">
              <a:solidFill>
                <a:schemeClr val="dk1"/>
              </a:solidFill>
              <a:latin typeface="Calibri"/>
              <a:ea typeface="Calibri"/>
              <a:cs typeface="Calibri"/>
              <a:sym typeface="Calibri"/>
            </a:endParaRPr>
          </a:p>
        </p:txBody>
      </p:sp>
      <p:sp>
        <p:nvSpPr>
          <p:cNvPr id="97" name="Google Shape;97;p7"/>
          <p:cNvSpPr/>
          <p:nvPr/>
        </p:nvSpPr>
        <p:spPr>
          <a:xfrm>
            <a:off x="819150" y="2365325"/>
            <a:ext cx="3187800" cy="3590400"/>
          </a:xfrm>
          <a:prstGeom prst="roundRect">
            <a:avLst>
              <a:gd fmla="val 692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GraduationCap" id="98" name="Google Shape;98;p7"/>
          <p:cNvPicPr preferRelativeResize="0"/>
          <p:nvPr/>
        </p:nvPicPr>
        <p:blipFill rotWithShape="1">
          <a:blip r:embed="rId3">
            <a:alphaModFix/>
          </a:blip>
          <a:srcRect b="0" l="0" r="0" t="0"/>
          <a:stretch/>
        </p:blipFill>
        <p:spPr>
          <a:xfrm>
            <a:off x="1028700" y="2574875"/>
            <a:ext cx="330200" cy="330200"/>
          </a:xfrm>
          <a:prstGeom prst="rect">
            <a:avLst/>
          </a:prstGeom>
          <a:noFill/>
          <a:ln>
            <a:noFill/>
          </a:ln>
        </p:spPr>
      </p:pic>
      <p:sp>
        <p:nvSpPr>
          <p:cNvPr id="99" name="Google Shape;99;p7"/>
          <p:cNvSpPr/>
          <p:nvPr/>
        </p:nvSpPr>
        <p:spPr>
          <a:xfrm>
            <a:off x="1028700" y="2993975"/>
            <a:ext cx="2851658" cy="2844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700"/>
              <a:buFont typeface="Nunito"/>
              <a:buNone/>
            </a:pPr>
            <a:r>
              <a:rPr b="1" i="0" lang="en-US" sz="2000" u="none" cap="none" strike="noStrike">
                <a:solidFill>
                  <a:srgbClr val="1B2440"/>
                </a:solidFill>
                <a:latin typeface="Nunito"/>
                <a:ea typeface="Nunito"/>
                <a:cs typeface="Nunito"/>
                <a:sym typeface="Nunito"/>
              </a:rPr>
              <a:t>Before the event</a:t>
            </a:r>
            <a:endParaRPr b="0" i="0" sz="2000" u="none" cap="none" strike="noStrike">
              <a:solidFill>
                <a:schemeClr val="dk1"/>
              </a:solidFill>
              <a:latin typeface="Calibri"/>
              <a:ea typeface="Calibri"/>
              <a:cs typeface="Calibri"/>
              <a:sym typeface="Calibri"/>
            </a:endParaRPr>
          </a:p>
        </p:txBody>
      </p:sp>
      <p:sp>
        <p:nvSpPr>
          <p:cNvPr id="100" name="Google Shape;100;p7"/>
          <p:cNvSpPr/>
          <p:nvPr/>
        </p:nvSpPr>
        <p:spPr>
          <a:xfrm>
            <a:off x="994538" y="3459490"/>
            <a:ext cx="2851500" cy="2502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900" u="none" cap="none" strike="noStrike">
                <a:solidFill>
                  <a:srgbClr val="4A5163"/>
                </a:solidFill>
                <a:latin typeface="Nunito Sans"/>
                <a:ea typeface="Nunito Sans"/>
                <a:cs typeface="Nunito Sans"/>
                <a:sym typeface="Nunito Sans"/>
              </a:rPr>
              <a:t>A sign-up questionnaire: age, field, career, goals, dating habits, 17 interests, self-ratings, and what they want in a partner</a:t>
            </a:r>
            <a:endParaRPr b="0" i="0" sz="1900" u="none" cap="none" strike="noStrike">
              <a:solidFill>
                <a:schemeClr val="dk1"/>
              </a:solidFill>
              <a:latin typeface="Calibri"/>
              <a:ea typeface="Calibri"/>
              <a:cs typeface="Calibri"/>
              <a:sym typeface="Calibri"/>
            </a:endParaRPr>
          </a:p>
        </p:txBody>
      </p:sp>
      <p:pic>
        <p:nvPicPr>
          <p:cNvPr descr="arrow-right" id="101" name="Google Shape;101;p7"/>
          <p:cNvPicPr preferRelativeResize="0"/>
          <p:nvPr/>
        </p:nvPicPr>
        <p:blipFill rotWithShape="1">
          <a:blip r:embed="rId4">
            <a:alphaModFix/>
          </a:blip>
          <a:srcRect b="0" l="0" r="0" t="0"/>
          <a:stretch/>
        </p:blipFill>
        <p:spPr>
          <a:xfrm>
            <a:off x="4114850" y="3906504"/>
            <a:ext cx="279400" cy="177800"/>
          </a:xfrm>
          <a:prstGeom prst="rect">
            <a:avLst/>
          </a:prstGeom>
          <a:noFill/>
          <a:ln>
            <a:noFill/>
          </a:ln>
        </p:spPr>
      </p:pic>
      <p:sp>
        <p:nvSpPr>
          <p:cNvPr id="102" name="Google Shape;102;p7"/>
          <p:cNvSpPr/>
          <p:nvPr/>
        </p:nvSpPr>
        <p:spPr>
          <a:xfrm>
            <a:off x="4502150" y="2365325"/>
            <a:ext cx="3187800" cy="3590400"/>
          </a:xfrm>
          <a:prstGeom prst="roundRect">
            <a:avLst>
              <a:gd fmla="val 692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at" id="103" name="Google Shape;103;p7"/>
          <p:cNvPicPr preferRelativeResize="0"/>
          <p:nvPr/>
        </p:nvPicPr>
        <p:blipFill rotWithShape="1">
          <a:blip r:embed="rId5">
            <a:alphaModFix/>
          </a:blip>
          <a:srcRect b="0" l="0" r="0" t="0"/>
          <a:stretch/>
        </p:blipFill>
        <p:spPr>
          <a:xfrm>
            <a:off x="4711700" y="2574875"/>
            <a:ext cx="330200" cy="330200"/>
          </a:xfrm>
          <a:prstGeom prst="rect">
            <a:avLst/>
          </a:prstGeom>
          <a:noFill/>
          <a:ln>
            <a:noFill/>
          </a:ln>
        </p:spPr>
      </p:pic>
      <p:sp>
        <p:nvSpPr>
          <p:cNvPr id="104" name="Google Shape;104;p7"/>
          <p:cNvSpPr/>
          <p:nvPr/>
        </p:nvSpPr>
        <p:spPr>
          <a:xfrm>
            <a:off x="4711700" y="2993975"/>
            <a:ext cx="2851658" cy="2844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700"/>
              <a:buFont typeface="Nunito"/>
              <a:buNone/>
            </a:pPr>
            <a:r>
              <a:rPr b="1" i="0" lang="en-US" sz="2000" u="none" cap="none" strike="noStrike">
                <a:solidFill>
                  <a:srgbClr val="1B2440"/>
                </a:solidFill>
                <a:latin typeface="Nunito"/>
                <a:ea typeface="Nunito"/>
                <a:cs typeface="Nunito"/>
                <a:sym typeface="Nunito"/>
              </a:rPr>
              <a:t>During</a:t>
            </a:r>
            <a:endParaRPr b="0" i="0" sz="2000" u="none" cap="none" strike="noStrike">
              <a:solidFill>
                <a:schemeClr val="dk1"/>
              </a:solidFill>
              <a:latin typeface="Calibri"/>
              <a:ea typeface="Calibri"/>
              <a:cs typeface="Calibri"/>
              <a:sym typeface="Calibri"/>
            </a:endParaRPr>
          </a:p>
        </p:txBody>
      </p:sp>
      <p:sp>
        <p:nvSpPr>
          <p:cNvPr id="105" name="Google Shape;105;p7"/>
          <p:cNvSpPr/>
          <p:nvPr/>
        </p:nvSpPr>
        <p:spPr>
          <a:xfrm>
            <a:off x="4711700" y="3478227"/>
            <a:ext cx="2851500" cy="2237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900" u="none" cap="none" strike="noStrike">
                <a:solidFill>
                  <a:srgbClr val="4A5163"/>
                </a:solidFill>
                <a:latin typeface="Nunito Sans"/>
                <a:ea typeface="Nunito Sans"/>
                <a:cs typeface="Nunito Sans"/>
                <a:sym typeface="Nunito Sans"/>
              </a:rPr>
              <a:t>A four-minute date with each participant of the opposite sex at the event</a:t>
            </a:r>
            <a:endParaRPr b="0" i="0" sz="1900" u="none" cap="none" strike="noStrike">
              <a:solidFill>
                <a:schemeClr val="dk1"/>
              </a:solidFill>
              <a:latin typeface="Calibri"/>
              <a:ea typeface="Calibri"/>
              <a:cs typeface="Calibri"/>
              <a:sym typeface="Calibri"/>
            </a:endParaRPr>
          </a:p>
        </p:txBody>
      </p:sp>
      <p:pic>
        <p:nvPicPr>
          <p:cNvPr descr="arrow-right" id="106" name="Google Shape;106;p7"/>
          <p:cNvPicPr preferRelativeResize="0"/>
          <p:nvPr/>
        </p:nvPicPr>
        <p:blipFill rotWithShape="1">
          <a:blip r:embed="rId4">
            <a:alphaModFix/>
          </a:blip>
          <a:srcRect b="0" l="0" r="0" t="0"/>
          <a:stretch/>
        </p:blipFill>
        <p:spPr>
          <a:xfrm>
            <a:off x="7797850" y="3936582"/>
            <a:ext cx="279400" cy="177800"/>
          </a:xfrm>
          <a:prstGeom prst="rect">
            <a:avLst/>
          </a:prstGeom>
          <a:noFill/>
          <a:ln>
            <a:noFill/>
          </a:ln>
        </p:spPr>
      </p:pic>
      <p:sp>
        <p:nvSpPr>
          <p:cNvPr id="107" name="Google Shape;107;p7"/>
          <p:cNvSpPr/>
          <p:nvPr/>
        </p:nvSpPr>
        <p:spPr>
          <a:xfrm>
            <a:off x="8185150" y="2365325"/>
            <a:ext cx="3187800" cy="3590400"/>
          </a:xfrm>
          <a:prstGeom prst="roundRect">
            <a:avLst>
              <a:gd fmla="val 6920" name="adj"/>
            </a:avLst>
          </a:prstGeom>
          <a:solidFill>
            <a:srgbClr val="F6ECE9"/>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eck" id="108" name="Google Shape;108;p7"/>
          <p:cNvPicPr preferRelativeResize="0"/>
          <p:nvPr/>
        </p:nvPicPr>
        <p:blipFill rotWithShape="1">
          <a:blip r:embed="rId6">
            <a:alphaModFix/>
          </a:blip>
          <a:srcRect b="0" l="0" r="0" t="0"/>
          <a:stretch/>
        </p:blipFill>
        <p:spPr>
          <a:xfrm>
            <a:off x="8394700" y="2574875"/>
            <a:ext cx="330200" cy="330200"/>
          </a:xfrm>
          <a:prstGeom prst="rect">
            <a:avLst/>
          </a:prstGeom>
          <a:noFill/>
          <a:ln>
            <a:noFill/>
          </a:ln>
        </p:spPr>
      </p:pic>
      <p:sp>
        <p:nvSpPr>
          <p:cNvPr id="109" name="Google Shape;109;p7"/>
          <p:cNvSpPr/>
          <p:nvPr/>
        </p:nvSpPr>
        <p:spPr>
          <a:xfrm>
            <a:off x="8394700" y="2993975"/>
            <a:ext cx="2851658" cy="2844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700"/>
              <a:buFont typeface="Nunito"/>
              <a:buNone/>
            </a:pPr>
            <a:r>
              <a:rPr b="1" i="0" lang="en-US" sz="2000" u="none" cap="none" strike="noStrike">
                <a:solidFill>
                  <a:srgbClr val="1B2440"/>
                </a:solidFill>
                <a:latin typeface="Nunito"/>
                <a:ea typeface="Nunito"/>
                <a:cs typeface="Nunito"/>
                <a:sym typeface="Nunito"/>
              </a:rPr>
              <a:t>After each date</a:t>
            </a:r>
            <a:endParaRPr b="0" i="0" sz="2000" u="none" cap="none" strike="noStrike">
              <a:solidFill>
                <a:schemeClr val="dk1"/>
              </a:solidFill>
              <a:latin typeface="Calibri"/>
              <a:ea typeface="Calibri"/>
              <a:cs typeface="Calibri"/>
              <a:sym typeface="Calibri"/>
            </a:endParaRPr>
          </a:p>
        </p:txBody>
      </p:sp>
      <p:sp>
        <p:nvSpPr>
          <p:cNvPr id="110" name="Google Shape;110;p7"/>
          <p:cNvSpPr/>
          <p:nvPr/>
        </p:nvSpPr>
        <p:spPr>
          <a:xfrm>
            <a:off x="8311900" y="3478235"/>
            <a:ext cx="2851500" cy="2237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900" u="none" cap="none" strike="noStrike">
                <a:solidFill>
                  <a:srgbClr val="4A5163"/>
                </a:solidFill>
                <a:latin typeface="Nunito Sans"/>
                <a:ea typeface="Nunito Sans"/>
                <a:cs typeface="Nunito Sans"/>
                <a:sym typeface="Nunito Sans"/>
              </a:rPr>
              <a:t>A private yes or no, ratings of the partner on six traits, overall liking, and a guess of whether the partner would say yes</a:t>
            </a:r>
            <a:endParaRPr b="0" i="0" sz="1900" u="none" cap="none" strike="noStrike">
              <a:solidFill>
                <a:schemeClr val="dk1"/>
              </a:solidFill>
              <a:latin typeface="Calibri"/>
              <a:ea typeface="Calibri"/>
              <a:cs typeface="Calibri"/>
              <a:sym typeface="Calibri"/>
            </a:endParaRPr>
          </a:p>
        </p:txBody>
      </p:sp>
      <p:sp>
        <p:nvSpPr>
          <p:cNvPr id="111" name="Google Shape;111;p7"/>
          <p:cNvSpPr/>
          <p:nvPr/>
        </p:nvSpPr>
        <p:spPr>
          <a:xfrm>
            <a:off x="812800" y="62890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5 · Fisman, Iyengar, Kamenica &amp; Simonson (2006), Quarterly Journal of Economics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116" name="Shape 116"/>
        <p:cNvGrpSpPr/>
        <p:nvPr/>
      </p:nvGrpSpPr>
      <p:grpSpPr>
        <a:xfrm>
          <a:off x="0" y="0"/>
          <a:ext cx="0" cy="0"/>
          <a:chOff x="0" y="0"/>
          <a:chExt cx="0" cy="0"/>
        </a:xfrm>
      </p:grpSpPr>
      <p:sp>
        <p:nvSpPr>
          <p:cNvPr id="117" name="Google Shape;117;p8"/>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2 · THE DATASET</a:t>
            </a:r>
            <a:endParaRPr b="0" i="0" sz="1200" u="none" cap="none" strike="noStrike">
              <a:solidFill>
                <a:schemeClr val="dk1"/>
              </a:solidFill>
              <a:latin typeface="Calibri"/>
              <a:ea typeface="Calibri"/>
              <a:cs typeface="Calibri"/>
              <a:sym typeface="Calibri"/>
            </a:endParaRPr>
          </a:p>
        </p:txBody>
      </p:sp>
      <p:sp>
        <p:nvSpPr>
          <p:cNvPr id="118" name="Google Shape;118;p8"/>
          <p:cNvSpPr/>
          <p:nvPr/>
        </p:nvSpPr>
        <p:spPr>
          <a:xfrm>
            <a:off x="812800" y="12039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What the raw data look like</a:t>
            </a:r>
            <a:endParaRPr b="0" i="0" sz="3200" u="none" cap="none" strike="noStrike">
              <a:solidFill>
                <a:schemeClr val="dk1"/>
              </a:solidFill>
              <a:latin typeface="Calibri"/>
              <a:ea typeface="Calibri"/>
              <a:cs typeface="Calibri"/>
              <a:sym typeface="Calibri"/>
            </a:endParaRPr>
          </a:p>
        </p:txBody>
      </p:sp>
      <p:sp>
        <p:nvSpPr>
          <p:cNvPr id="119" name="Google Shape;119;p8"/>
          <p:cNvSpPr/>
          <p:nvPr/>
        </p:nvSpPr>
        <p:spPr>
          <a:xfrm>
            <a:off x="812800" y="1828750"/>
            <a:ext cx="10883392" cy="28317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4A5163"/>
              </a:buClr>
              <a:buSzPts val="1400"/>
              <a:buFont typeface="Nunito Sans"/>
              <a:buNone/>
            </a:pPr>
            <a:r>
              <a:rPr b="0" i="0" lang="en-US" sz="1400" u="none" cap="none" strike="noStrike">
                <a:solidFill>
                  <a:srgbClr val="4A5163"/>
                </a:solidFill>
                <a:latin typeface="Nunito Sans"/>
                <a:ea typeface="Nunito Sans"/>
                <a:cs typeface="Nunito Sans"/>
                <a:sym typeface="Nunito Sans"/>
              </a:rPr>
              <a:t>8,378 rows, 195 columns: one row per date, from one person's side.</a:t>
            </a:r>
            <a:endParaRPr b="0" i="0" sz="1400" u="none" cap="none" strike="noStrike">
              <a:solidFill>
                <a:schemeClr val="dk1"/>
              </a:solidFill>
              <a:latin typeface="Calibri"/>
              <a:ea typeface="Calibri"/>
              <a:cs typeface="Calibri"/>
              <a:sym typeface="Calibri"/>
            </a:endParaRPr>
          </a:p>
        </p:txBody>
      </p:sp>
      <p:graphicFrame>
        <p:nvGraphicFramePr>
          <p:cNvPr id="120" name="Google Shape;120;p8"/>
          <p:cNvGraphicFramePr/>
          <p:nvPr/>
        </p:nvGraphicFramePr>
        <p:xfrm>
          <a:off x="825500" y="2277021"/>
          <a:ext cx="3000000" cy="3000000"/>
        </p:xfrm>
        <a:graphic>
          <a:graphicData uri="http://schemas.openxmlformats.org/drawingml/2006/table">
            <a:tbl>
              <a:tblPr>
                <a:noFill/>
                <a:tableStyleId>{6CCA55A4-D3DC-4CAC-BE45-3B316C1AA8E1}</a:tableStyleId>
              </a:tblPr>
              <a:tblGrid>
                <a:gridCol w="879475"/>
                <a:gridCol w="879475"/>
                <a:gridCol w="879475"/>
                <a:gridCol w="879475"/>
                <a:gridCol w="879475"/>
                <a:gridCol w="879475"/>
                <a:gridCol w="879475"/>
                <a:gridCol w="879475"/>
                <a:gridCol w="879475"/>
                <a:gridCol w="879475"/>
                <a:gridCol w="879475"/>
                <a:gridCol w="879475"/>
              </a:tblGrid>
              <a:tr h="359325">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u="none" cap="none" strike="noStrike">
                          <a:solidFill>
                            <a:srgbClr val="1B2440"/>
                          </a:solidFill>
                          <a:latin typeface="Nunito Sans"/>
                          <a:ea typeface="Nunito Sans"/>
                          <a:cs typeface="Nunito Sans"/>
                          <a:sym typeface="Nunito Sans"/>
                        </a:rPr>
                        <a:t>iid</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u="none" cap="none" strike="noStrike">
                          <a:solidFill>
                            <a:srgbClr val="1B2440"/>
                          </a:solidFill>
                          <a:latin typeface="Nunito Sans"/>
                          <a:ea typeface="Nunito Sans"/>
                          <a:cs typeface="Nunito Sans"/>
                          <a:sym typeface="Nunito Sans"/>
                        </a:rPr>
                        <a:t>pid</a:t>
                      </a:r>
                      <a:endParaRPr sz="1300" u="none" cap="none" strike="noStrike">
                        <a:latin typeface="Nunito Sans"/>
                        <a:ea typeface="Nunito Sans"/>
                        <a:cs typeface="Nunito Sans"/>
                        <a:sym typeface="Nunito Sans"/>
                      </a:endParaRPr>
                    </a:p>
                  </a:txBody>
                  <a:tcPr marT="57775" marB="57775" marR="57775" marL="57775">
                    <a:lnL cap="flat" cmpd="sng" w="12700">
                      <a:solidFill>
                        <a:srgbClr val="BAB7B3"/>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u="none" cap="none" strike="noStrike">
                          <a:solidFill>
                            <a:srgbClr val="1B2440"/>
                          </a:solidFill>
                          <a:latin typeface="Nunito Sans"/>
                          <a:ea typeface="Nunito Sans"/>
                          <a:cs typeface="Nunito Sans"/>
                          <a:sym typeface="Nunito Sans"/>
                        </a:rPr>
                        <a:t>wave</a:t>
                      </a:r>
                      <a:endParaRPr sz="1300" u="none" cap="none" strike="noStrike">
                        <a:latin typeface="Nunito Sans"/>
                        <a:ea typeface="Nunito Sans"/>
                        <a:cs typeface="Nunito Sans"/>
                        <a:sym typeface="Nunito Sans"/>
                      </a:endParaRPr>
                    </a:p>
                  </a:txBody>
                  <a:tcPr marT="57775" marB="57775" marR="57775" marL="57775">
                    <a:lnL cap="flat" cmpd="sng" w="12700">
                      <a:solidFill>
                        <a:srgbClr val="BAB7B3"/>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u="none" cap="none" strike="noStrike">
                          <a:solidFill>
                            <a:srgbClr val="E0607E"/>
                          </a:solidFill>
                          <a:latin typeface="Nunito Sans"/>
                          <a:ea typeface="Nunito Sans"/>
                          <a:cs typeface="Nunito Sans"/>
                          <a:sym typeface="Nunito Sans"/>
                        </a:rPr>
                        <a:t>gender</a:t>
                      </a:r>
                      <a:endParaRPr sz="1300" u="none" cap="none" strike="noStrike">
                        <a:solidFill>
                          <a:srgbClr val="E0607E"/>
                        </a:solidFill>
                        <a:latin typeface="Nunito Sans"/>
                        <a:ea typeface="Nunito Sans"/>
                        <a:cs typeface="Nunito Sans"/>
                        <a:sym typeface="Nunito Sans"/>
                      </a:endParaRPr>
                    </a:p>
                  </a:txBody>
                  <a:tcPr marT="57775" marB="57775" marR="57775" marL="57775">
                    <a:lnL cap="flat" cmpd="sng" w="12700">
                      <a:solidFill>
                        <a:srgbClr val="BAB7B3"/>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u="none" cap="none" strike="noStrike">
                          <a:solidFill>
                            <a:srgbClr val="E0607E"/>
                          </a:solidFill>
                          <a:latin typeface="Nunito Sans"/>
                          <a:ea typeface="Nunito Sans"/>
                          <a:cs typeface="Nunito Sans"/>
                          <a:sym typeface="Nunito Sans"/>
                        </a:rPr>
                        <a:t>age</a:t>
                      </a:r>
                      <a:endParaRPr sz="1300" u="none" cap="none" strike="noStrike">
                        <a:solidFill>
                          <a:srgbClr val="E0607E"/>
                        </a:solidFill>
                        <a:latin typeface="Nunito Sans"/>
                        <a:ea typeface="Nunito Sans"/>
                        <a:cs typeface="Nunito Sans"/>
                        <a:sym typeface="Nunito Sans"/>
                      </a:endParaRPr>
                    </a:p>
                  </a:txBody>
                  <a:tcPr marT="57775" marB="57775" marR="57775" marL="57775">
                    <a:lnL cap="flat" cmpd="sng" w="12700">
                      <a:solidFill>
                        <a:srgbClr val="BAB7B3"/>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u="none" cap="none" strike="noStrike">
                          <a:solidFill>
                            <a:srgbClr val="E0607E"/>
                          </a:solidFill>
                          <a:latin typeface="Nunito Sans"/>
                          <a:ea typeface="Nunito Sans"/>
                          <a:cs typeface="Nunito Sans"/>
                          <a:sym typeface="Nunito Sans"/>
                        </a:rPr>
                        <a:t>field</a:t>
                      </a:r>
                      <a:endParaRPr sz="1300" u="none" cap="none" strike="noStrike">
                        <a:solidFill>
                          <a:srgbClr val="E0607E"/>
                        </a:solidFill>
                        <a:latin typeface="Nunito Sans"/>
                        <a:ea typeface="Nunito Sans"/>
                        <a:cs typeface="Nunito Sans"/>
                        <a:sym typeface="Nunito Sans"/>
                      </a:endParaRPr>
                    </a:p>
                  </a:txBody>
                  <a:tcPr marT="57775" marB="57775" marR="57775" marL="57775">
                    <a:lnL cap="flat" cmpd="sng" w="12700">
                      <a:solidFill>
                        <a:srgbClr val="BAB7B3"/>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u="none" cap="none" strike="noStrike">
                          <a:solidFill>
                            <a:srgbClr val="E0607E"/>
                          </a:solidFill>
                          <a:latin typeface="Nunito Sans"/>
                          <a:ea typeface="Nunito Sans"/>
                          <a:cs typeface="Nunito Sans"/>
                          <a:sym typeface="Nunito Sans"/>
                        </a:rPr>
                        <a:t>attr1_1</a:t>
                      </a:r>
                      <a:endParaRPr sz="1300" u="none" cap="none" strike="noStrike">
                        <a:solidFill>
                          <a:srgbClr val="E0607E"/>
                        </a:solidFill>
                        <a:latin typeface="Nunito Sans"/>
                        <a:ea typeface="Nunito Sans"/>
                        <a:cs typeface="Nunito Sans"/>
                        <a:sym typeface="Nunito Sans"/>
                      </a:endParaRPr>
                    </a:p>
                  </a:txBody>
                  <a:tcPr marT="57775" marB="57775" marR="57775" marL="57775">
                    <a:lnL cap="flat" cmpd="sng" w="12700">
                      <a:solidFill>
                        <a:srgbClr val="BAB7B3"/>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u="none" cap="none" strike="noStrike">
                          <a:solidFill>
                            <a:srgbClr val="1F5FA8"/>
                          </a:solidFill>
                          <a:latin typeface="Nunito Sans"/>
                          <a:ea typeface="Nunito Sans"/>
                          <a:cs typeface="Nunito Sans"/>
                          <a:sym typeface="Nunito Sans"/>
                        </a:rPr>
                        <a:t>attr</a:t>
                      </a:r>
                      <a:endParaRPr sz="1300" u="none" cap="none" strike="noStrike">
                        <a:solidFill>
                          <a:srgbClr val="1F5FA8"/>
                        </a:solidFill>
                        <a:latin typeface="Nunito Sans"/>
                        <a:ea typeface="Nunito Sans"/>
                        <a:cs typeface="Nunito Sans"/>
                        <a:sym typeface="Nunito Sans"/>
                      </a:endParaRPr>
                    </a:p>
                  </a:txBody>
                  <a:tcPr marT="57775" marB="57775" marR="57775" marL="57775">
                    <a:lnL cap="flat" cmpd="sng" w="12700">
                      <a:solidFill>
                        <a:srgbClr val="BAB7B3"/>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u="none" cap="none" strike="noStrike">
                          <a:solidFill>
                            <a:srgbClr val="1F5FA8"/>
                          </a:solidFill>
                          <a:latin typeface="Nunito Sans"/>
                          <a:ea typeface="Nunito Sans"/>
                          <a:cs typeface="Nunito Sans"/>
                          <a:sym typeface="Nunito Sans"/>
                        </a:rPr>
                        <a:t>like</a:t>
                      </a:r>
                      <a:endParaRPr sz="1300" u="none" cap="none" strike="noStrike">
                        <a:solidFill>
                          <a:srgbClr val="1F5FA8"/>
                        </a:solidFill>
                        <a:latin typeface="Nunito Sans"/>
                        <a:ea typeface="Nunito Sans"/>
                        <a:cs typeface="Nunito Sans"/>
                        <a:sym typeface="Nunito Sans"/>
                      </a:endParaRPr>
                    </a:p>
                  </a:txBody>
                  <a:tcPr marT="57775" marB="57775" marR="57775" marL="57775">
                    <a:lnL cap="flat" cmpd="sng" w="12700">
                      <a:solidFill>
                        <a:srgbClr val="BAB7B3"/>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u="none" cap="none" strike="noStrike">
                          <a:solidFill>
                            <a:srgbClr val="1F5FA8"/>
                          </a:solidFill>
                          <a:latin typeface="Nunito Sans"/>
                          <a:ea typeface="Nunito Sans"/>
                          <a:cs typeface="Nunito Sans"/>
                          <a:sym typeface="Nunito Sans"/>
                        </a:rPr>
                        <a:t>dec</a:t>
                      </a:r>
                      <a:endParaRPr sz="1300" u="none" cap="none" strike="noStrike">
                        <a:solidFill>
                          <a:srgbClr val="1F5FA8"/>
                        </a:solidFill>
                        <a:latin typeface="Nunito Sans"/>
                        <a:ea typeface="Nunito Sans"/>
                        <a:cs typeface="Nunito Sans"/>
                        <a:sym typeface="Nunito Sans"/>
                      </a:endParaRPr>
                    </a:p>
                  </a:txBody>
                  <a:tcPr marT="57775" marB="57775" marR="57775" marL="57775">
                    <a:lnL cap="flat" cmpd="sng" w="12700">
                      <a:solidFill>
                        <a:srgbClr val="BAB7B3"/>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u="none" cap="none" strike="noStrike">
                          <a:solidFill>
                            <a:srgbClr val="1F5FA8"/>
                          </a:solidFill>
                          <a:latin typeface="Nunito Sans"/>
                          <a:ea typeface="Nunito Sans"/>
                          <a:cs typeface="Nunito Sans"/>
                          <a:sym typeface="Nunito Sans"/>
                        </a:rPr>
                        <a:t>dec_o</a:t>
                      </a:r>
                      <a:endParaRPr sz="1300" u="none" cap="none" strike="noStrike">
                        <a:solidFill>
                          <a:srgbClr val="1F5FA8"/>
                        </a:solidFill>
                        <a:latin typeface="Nunito Sans"/>
                        <a:ea typeface="Nunito Sans"/>
                        <a:cs typeface="Nunito Sans"/>
                        <a:sym typeface="Nunito Sans"/>
                      </a:endParaRPr>
                    </a:p>
                  </a:txBody>
                  <a:tcPr marT="57775" marB="57775" marR="57775" marL="57775">
                    <a:lnL cap="flat" cmpd="sng" w="12700">
                      <a:solidFill>
                        <a:srgbClr val="BAB7B3"/>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u="none" cap="none" strike="noStrike">
                          <a:solidFill>
                            <a:srgbClr val="2F7D5B"/>
                          </a:solidFill>
                          <a:latin typeface="Nunito Sans"/>
                          <a:ea typeface="Nunito Sans"/>
                          <a:cs typeface="Nunito Sans"/>
                          <a:sym typeface="Nunito Sans"/>
                        </a:rPr>
                        <a:t>match</a:t>
                      </a:r>
                      <a:endParaRPr sz="1300" u="none" cap="none" strike="noStrike">
                        <a:solidFill>
                          <a:srgbClr val="2F7D5B"/>
                        </a:solidFill>
                        <a:latin typeface="Nunito Sans"/>
                        <a:ea typeface="Nunito Sans"/>
                        <a:cs typeface="Nunito Sans"/>
                        <a:sym typeface="Nunito Sans"/>
                      </a:endParaRPr>
                    </a:p>
                  </a:txBody>
                  <a:tcPr marT="57775" marB="57775" marR="57775" marL="57775">
                    <a:lnL cap="flat" cmpd="sng" w="12700">
                      <a:solidFill>
                        <a:srgbClr val="BAB7B3"/>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0</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21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Law</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15</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6</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7</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0</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0</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12</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0</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21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Law</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15</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7</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7</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0</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0</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13</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0</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21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Law</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15</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5</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7</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14</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0</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21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Law</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15</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7</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7</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15</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0</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21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Law</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15</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5</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6</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16</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0</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21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Law</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15</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4</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6</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0</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0</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r>
            </a:tbl>
          </a:graphicData>
        </a:graphic>
      </p:graphicFrame>
      <p:sp>
        <p:nvSpPr>
          <p:cNvPr id="121" name="Google Shape;121;p8"/>
          <p:cNvSpPr/>
          <p:nvPr/>
        </p:nvSpPr>
        <p:spPr>
          <a:xfrm>
            <a:off x="812800" y="4970083"/>
            <a:ext cx="10883400" cy="131910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1B2440"/>
              </a:buClr>
              <a:buSzPts val="1200"/>
              <a:buFont typeface="Nunito Sans"/>
              <a:buNone/>
            </a:pPr>
            <a:r>
              <a:rPr b="1" i="0" lang="en-US" sz="1500" u="none" cap="none" strike="noStrike">
                <a:solidFill>
                  <a:srgbClr val="1B2440"/>
                </a:solidFill>
                <a:latin typeface="Nunito Sans"/>
                <a:ea typeface="Nunito Sans"/>
                <a:cs typeface="Nunito Sans"/>
                <a:sym typeface="Nunito Sans"/>
              </a:rPr>
              <a:t>Who</a:t>
            </a:r>
            <a:r>
              <a:rPr b="0" i="0" lang="en-US" sz="1500" u="none" cap="none" strike="noStrike">
                <a:solidFill>
                  <a:srgbClr val="4A5163"/>
                </a:solidFill>
                <a:latin typeface="Nunito Sans"/>
                <a:ea typeface="Nunito Sans"/>
                <a:cs typeface="Nunito Sans"/>
                <a:sym typeface="Nunito Sans"/>
              </a:rPr>
              <a:t> (grey): iid the rater, pid the partner, wave the event. </a:t>
            </a:r>
            <a:r>
              <a:rPr b="1" i="0" lang="en-US" sz="1500" u="none" cap="none" strike="noStrike">
                <a:solidFill>
                  <a:srgbClr val="B23A55"/>
                </a:solidFill>
                <a:latin typeface="Nunito Sans"/>
                <a:ea typeface="Nunito Sans"/>
                <a:cs typeface="Nunito Sans"/>
                <a:sym typeface="Nunito Sans"/>
              </a:rPr>
              <a:t>Before the date</a:t>
            </a:r>
            <a:r>
              <a:rPr b="0" i="0" lang="en-US" sz="1500" u="none" cap="none" strike="noStrike">
                <a:solidFill>
                  <a:srgbClr val="4A5163"/>
                </a:solidFill>
                <a:latin typeface="Nunito Sans"/>
                <a:ea typeface="Nunito Sans"/>
                <a:cs typeface="Nunito Sans"/>
                <a:sym typeface="Nunito Sans"/>
              </a:rPr>
              <a:t> (pink): gender (0 = woman), age, field, attr1_1 = points out of 100 </a:t>
            </a:r>
            <a:r>
              <a:rPr lang="en-US" sz="1500">
                <a:solidFill>
                  <a:srgbClr val="4A5163"/>
                </a:solidFill>
                <a:latin typeface="Nunito Sans"/>
                <a:ea typeface="Nunito Sans"/>
                <a:cs typeface="Nunito Sans"/>
                <a:sym typeface="Nunito Sans"/>
              </a:rPr>
              <a:t>rater</a:t>
            </a:r>
            <a:r>
              <a:rPr b="0" i="0" lang="en-US" sz="1500" u="none" cap="none" strike="noStrike">
                <a:solidFill>
                  <a:srgbClr val="4A5163"/>
                </a:solidFill>
                <a:latin typeface="Nunito Sans"/>
                <a:ea typeface="Nunito Sans"/>
                <a:cs typeface="Nunito Sans"/>
                <a:sym typeface="Nunito Sans"/>
              </a:rPr>
              <a:t> gave attractiveness. </a:t>
            </a:r>
            <a:r>
              <a:rPr b="1" i="0" lang="en-US" sz="1500" u="none" cap="none" strike="noStrike">
                <a:solidFill>
                  <a:srgbClr val="1F5FA8"/>
                </a:solidFill>
                <a:latin typeface="Nunito Sans"/>
                <a:ea typeface="Nunito Sans"/>
                <a:cs typeface="Nunito Sans"/>
                <a:sym typeface="Nunito Sans"/>
              </a:rPr>
              <a:t>After the date</a:t>
            </a:r>
            <a:r>
              <a:rPr b="0" i="0" lang="en-US" sz="1500" u="none" cap="none" strike="noStrike">
                <a:solidFill>
                  <a:srgbClr val="4A5163"/>
                </a:solidFill>
                <a:latin typeface="Nunito Sans"/>
                <a:ea typeface="Nunito Sans"/>
                <a:cs typeface="Nunito Sans"/>
                <a:sym typeface="Nunito Sans"/>
              </a:rPr>
              <a:t> (blue): attr = </a:t>
            </a:r>
            <a:r>
              <a:rPr lang="en-US" sz="1500">
                <a:solidFill>
                  <a:srgbClr val="4A5163"/>
                </a:solidFill>
                <a:latin typeface="Nunito Sans"/>
                <a:ea typeface="Nunito Sans"/>
                <a:cs typeface="Nunito Sans"/>
                <a:sym typeface="Nunito Sans"/>
              </a:rPr>
              <a:t>rating of partner’s looks</a:t>
            </a:r>
            <a:r>
              <a:rPr b="0" i="0" lang="en-US" sz="1500" u="none" cap="none" strike="noStrike">
                <a:solidFill>
                  <a:srgbClr val="4A5163"/>
                </a:solidFill>
                <a:latin typeface="Nunito Sans"/>
                <a:ea typeface="Nunito Sans"/>
                <a:cs typeface="Nunito Sans"/>
                <a:sym typeface="Nunito Sans"/>
              </a:rPr>
              <a:t>, like = overall liking (both 1 to 10), dec = </a:t>
            </a:r>
            <a:r>
              <a:rPr lang="en-US" sz="1500">
                <a:solidFill>
                  <a:srgbClr val="4A5163"/>
                </a:solidFill>
                <a:latin typeface="Nunito Sans"/>
                <a:ea typeface="Nunito Sans"/>
                <a:cs typeface="Nunito Sans"/>
                <a:sym typeface="Nunito Sans"/>
              </a:rPr>
              <a:t>rater’s</a:t>
            </a:r>
            <a:r>
              <a:rPr b="0" i="0" lang="en-US" sz="1500" u="none" cap="none" strike="noStrike">
                <a:solidFill>
                  <a:srgbClr val="4A5163"/>
                </a:solidFill>
                <a:latin typeface="Nunito Sans"/>
                <a:ea typeface="Nunito Sans"/>
                <a:cs typeface="Nunito Sans"/>
                <a:sym typeface="Nunito Sans"/>
              </a:rPr>
              <a:t> </a:t>
            </a:r>
            <a:r>
              <a:rPr lang="en-US" sz="1500">
                <a:solidFill>
                  <a:srgbClr val="4A5163"/>
                </a:solidFill>
                <a:latin typeface="Nunito Sans"/>
                <a:ea typeface="Nunito Sans"/>
                <a:cs typeface="Nunito Sans"/>
                <a:sym typeface="Nunito Sans"/>
              </a:rPr>
              <a:t>decision</a:t>
            </a:r>
            <a:r>
              <a:rPr b="0" i="0" lang="en-US" sz="1500" u="none" cap="none" strike="noStrike">
                <a:solidFill>
                  <a:srgbClr val="4A5163"/>
                </a:solidFill>
                <a:latin typeface="Nunito Sans"/>
                <a:ea typeface="Nunito Sans"/>
                <a:cs typeface="Nunito Sans"/>
                <a:sym typeface="Nunito Sans"/>
              </a:rPr>
              <a:t>, dec_o = </a:t>
            </a:r>
            <a:r>
              <a:rPr lang="en-US" sz="1500">
                <a:solidFill>
                  <a:srgbClr val="4A5163"/>
                </a:solidFill>
                <a:latin typeface="Nunito Sans"/>
                <a:ea typeface="Nunito Sans"/>
                <a:cs typeface="Nunito Sans"/>
                <a:sym typeface="Nunito Sans"/>
              </a:rPr>
              <a:t>partner’s decision</a:t>
            </a:r>
            <a:r>
              <a:rPr b="0" i="0" lang="en-US" sz="1500" u="none" cap="none" strike="noStrike">
                <a:solidFill>
                  <a:srgbClr val="4A5163"/>
                </a:solidFill>
                <a:latin typeface="Nunito Sans"/>
                <a:ea typeface="Nunito Sans"/>
                <a:cs typeface="Nunito Sans"/>
                <a:sym typeface="Nunito Sans"/>
              </a:rPr>
              <a:t>. </a:t>
            </a:r>
            <a:r>
              <a:rPr b="1" i="0" lang="en-US" sz="1500" u="none" cap="none" strike="noStrike">
                <a:solidFill>
                  <a:srgbClr val="2F7D5B"/>
                </a:solidFill>
                <a:latin typeface="Nunito Sans"/>
                <a:ea typeface="Nunito Sans"/>
                <a:cs typeface="Nunito Sans"/>
                <a:sym typeface="Nunito Sans"/>
              </a:rPr>
              <a:t>Outcome</a:t>
            </a:r>
            <a:r>
              <a:rPr b="0" i="0" lang="en-US" sz="1500" u="none" cap="none" strike="noStrike">
                <a:solidFill>
                  <a:srgbClr val="4A5163"/>
                </a:solidFill>
                <a:latin typeface="Nunito Sans"/>
                <a:ea typeface="Nunito Sans"/>
                <a:cs typeface="Nunito Sans"/>
                <a:sym typeface="Nunito Sans"/>
              </a:rPr>
              <a:t> (green): match = both said yes.</a:t>
            </a:r>
            <a:endParaRPr b="0" i="0" sz="1500" u="none" cap="none" strike="noStrike">
              <a:solidFill>
                <a:schemeClr val="dk1"/>
              </a:solidFill>
              <a:latin typeface="Calibri"/>
              <a:ea typeface="Calibri"/>
              <a:cs typeface="Calibri"/>
              <a:sym typeface="Calibri"/>
            </a:endParaRPr>
          </a:p>
        </p:txBody>
      </p:sp>
      <p:sp>
        <p:nvSpPr>
          <p:cNvPr id="122" name="Google Shape;122;p8"/>
          <p:cNvSpPr/>
          <p:nvPr/>
        </p:nvSpPr>
        <p:spPr>
          <a:xfrm>
            <a:off x="812800" y="62890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6 · Kaggle release of the Columbia data (speed_dating.csv) and its codebook</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440"/>
        </a:solidFill>
      </p:bgPr>
    </p:bg>
    <p:spTree>
      <p:nvGrpSpPr>
        <p:cNvPr id="127" name="Shape 127"/>
        <p:cNvGrpSpPr/>
        <p:nvPr/>
      </p:nvGrpSpPr>
      <p:grpSpPr>
        <a:xfrm>
          <a:off x="0" y="0"/>
          <a:ext cx="0" cy="0"/>
          <a:chOff x="0" y="0"/>
          <a:chExt cx="0" cy="0"/>
        </a:xfrm>
      </p:grpSpPr>
      <p:sp>
        <p:nvSpPr>
          <p:cNvPr id="128" name="Google Shape;128;p9"/>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7B5"/>
              </a:buClr>
              <a:buSzPts val="1200"/>
              <a:buFont typeface="Nunito Sans"/>
              <a:buNone/>
            </a:pPr>
            <a:r>
              <a:rPr b="1" i="0" lang="en-US" sz="1200" u="none" cap="none" strike="noStrike">
                <a:solidFill>
                  <a:srgbClr val="F2A7B5"/>
                </a:solidFill>
                <a:latin typeface="Nunito Sans"/>
                <a:ea typeface="Nunito Sans"/>
                <a:cs typeface="Nunito Sans"/>
                <a:sym typeface="Nunito Sans"/>
              </a:rPr>
              <a:t>QUICK GUESS</a:t>
            </a:r>
            <a:endParaRPr b="0" i="0" sz="1200" u="none" cap="none" strike="noStrike">
              <a:solidFill>
                <a:schemeClr val="dk1"/>
              </a:solidFill>
              <a:latin typeface="Calibri"/>
              <a:ea typeface="Calibri"/>
              <a:cs typeface="Calibri"/>
              <a:sym typeface="Calibri"/>
            </a:endParaRPr>
          </a:p>
        </p:txBody>
      </p:sp>
      <p:sp>
        <p:nvSpPr>
          <p:cNvPr id="129" name="Google Shape;129;p9"/>
          <p:cNvSpPr txBox="1"/>
          <p:nvPr/>
        </p:nvSpPr>
        <p:spPr>
          <a:xfrm>
            <a:off x="812902" y="1600200"/>
            <a:ext cx="5760600" cy="31089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000000"/>
              </a:buClr>
              <a:buSzPts val="4000"/>
              <a:buFont typeface="Arial"/>
              <a:buNone/>
            </a:pPr>
            <a:r>
              <a:rPr b="1" i="0" lang="en-US" sz="4000" u="none" cap="none" strike="noStrike">
                <a:solidFill>
                  <a:srgbClr val="FBF7F2"/>
                </a:solidFill>
                <a:latin typeface="Nunito"/>
                <a:ea typeface="Nunito"/>
                <a:cs typeface="Nunito"/>
                <a:sym typeface="Nunito"/>
              </a:rPr>
              <a:t>Out of 100 speed dates, how many ended with both people saying yes?</a:t>
            </a:r>
            <a:endParaRPr/>
          </a:p>
        </p:txBody>
      </p:sp>
      <p:sp>
        <p:nvSpPr>
          <p:cNvPr id="130" name="Google Shape;130;p9"/>
          <p:cNvSpPr txBox="1"/>
          <p:nvPr/>
        </p:nvSpPr>
        <p:spPr>
          <a:xfrm>
            <a:off x="812902" y="5166360"/>
            <a:ext cx="5760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F2A7B5"/>
                </a:solidFill>
                <a:latin typeface="Nunito"/>
                <a:ea typeface="Nunito"/>
                <a:cs typeface="Nunito"/>
                <a:sym typeface="Nunito"/>
              </a:rPr>
              <a:t>Take a guess.</a:t>
            </a:r>
            <a:endParaRPr/>
          </a:p>
        </p:txBody>
      </p:sp>
      <p:sp>
        <p:nvSpPr>
          <p:cNvPr id="131" name="Google Shape;131;p9"/>
          <p:cNvSpPr/>
          <p:nvPr/>
        </p:nvSpPr>
        <p:spPr>
          <a:xfrm>
            <a:off x="6903720" y="1417320"/>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2" name="Google Shape;132;p9"/>
          <p:cNvSpPr/>
          <p:nvPr/>
        </p:nvSpPr>
        <p:spPr>
          <a:xfrm>
            <a:off x="7333488" y="1417320"/>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3" name="Google Shape;133;p9"/>
          <p:cNvSpPr/>
          <p:nvPr/>
        </p:nvSpPr>
        <p:spPr>
          <a:xfrm>
            <a:off x="7763256" y="1417320"/>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4" name="Google Shape;134;p9"/>
          <p:cNvSpPr/>
          <p:nvPr/>
        </p:nvSpPr>
        <p:spPr>
          <a:xfrm>
            <a:off x="8193024" y="1417320"/>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5" name="Google Shape;135;p9"/>
          <p:cNvSpPr/>
          <p:nvPr/>
        </p:nvSpPr>
        <p:spPr>
          <a:xfrm>
            <a:off x="8622792" y="1417320"/>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6" name="Google Shape;136;p9"/>
          <p:cNvSpPr/>
          <p:nvPr/>
        </p:nvSpPr>
        <p:spPr>
          <a:xfrm>
            <a:off x="9052560" y="1417320"/>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7" name="Google Shape;137;p9"/>
          <p:cNvSpPr/>
          <p:nvPr/>
        </p:nvSpPr>
        <p:spPr>
          <a:xfrm>
            <a:off x="9482328" y="1417320"/>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8" name="Google Shape;138;p9"/>
          <p:cNvSpPr/>
          <p:nvPr/>
        </p:nvSpPr>
        <p:spPr>
          <a:xfrm>
            <a:off x="9912096" y="1417320"/>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9" name="Google Shape;139;p9"/>
          <p:cNvSpPr/>
          <p:nvPr/>
        </p:nvSpPr>
        <p:spPr>
          <a:xfrm>
            <a:off x="10341864" y="1417320"/>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0" name="Google Shape;140;p9"/>
          <p:cNvSpPr/>
          <p:nvPr/>
        </p:nvSpPr>
        <p:spPr>
          <a:xfrm>
            <a:off x="10771632" y="1417320"/>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1" name="Google Shape;141;p9"/>
          <p:cNvSpPr/>
          <p:nvPr/>
        </p:nvSpPr>
        <p:spPr>
          <a:xfrm>
            <a:off x="6903720" y="1847088"/>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2" name="Google Shape;142;p9"/>
          <p:cNvSpPr/>
          <p:nvPr/>
        </p:nvSpPr>
        <p:spPr>
          <a:xfrm>
            <a:off x="7333488" y="1847088"/>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3" name="Google Shape;143;p9"/>
          <p:cNvSpPr/>
          <p:nvPr/>
        </p:nvSpPr>
        <p:spPr>
          <a:xfrm>
            <a:off x="7763256" y="1847088"/>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4" name="Google Shape;144;p9"/>
          <p:cNvSpPr/>
          <p:nvPr/>
        </p:nvSpPr>
        <p:spPr>
          <a:xfrm>
            <a:off x="8193024" y="1847088"/>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5" name="Google Shape;145;p9"/>
          <p:cNvSpPr/>
          <p:nvPr/>
        </p:nvSpPr>
        <p:spPr>
          <a:xfrm>
            <a:off x="8622792" y="1847088"/>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6" name="Google Shape;146;p9"/>
          <p:cNvSpPr/>
          <p:nvPr/>
        </p:nvSpPr>
        <p:spPr>
          <a:xfrm>
            <a:off x="9052560" y="1847088"/>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7" name="Google Shape;147;p9"/>
          <p:cNvSpPr/>
          <p:nvPr/>
        </p:nvSpPr>
        <p:spPr>
          <a:xfrm>
            <a:off x="9482328" y="1847088"/>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8" name="Google Shape;148;p9"/>
          <p:cNvSpPr/>
          <p:nvPr/>
        </p:nvSpPr>
        <p:spPr>
          <a:xfrm>
            <a:off x="9912096" y="1847088"/>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9" name="Google Shape;149;p9"/>
          <p:cNvSpPr/>
          <p:nvPr/>
        </p:nvSpPr>
        <p:spPr>
          <a:xfrm>
            <a:off x="10341864" y="1847088"/>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0" name="Google Shape;150;p9"/>
          <p:cNvSpPr/>
          <p:nvPr/>
        </p:nvSpPr>
        <p:spPr>
          <a:xfrm>
            <a:off x="10771632" y="1847088"/>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1" name="Google Shape;151;p9"/>
          <p:cNvSpPr/>
          <p:nvPr/>
        </p:nvSpPr>
        <p:spPr>
          <a:xfrm>
            <a:off x="6903720" y="2276856"/>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2" name="Google Shape;152;p9"/>
          <p:cNvSpPr/>
          <p:nvPr/>
        </p:nvSpPr>
        <p:spPr>
          <a:xfrm>
            <a:off x="7333488" y="2276856"/>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3" name="Google Shape;153;p9"/>
          <p:cNvSpPr/>
          <p:nvPr/>
        </p:nvSpPr>
        <p:spPr>
          <a:xfrm>
            <a:off x="7763256" y="2276856"/>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4" name="Google Shape;154;p9"/>
          <p:cNvSpPr/>
          <p:nvPr/>
        </p:nvSpPr>
        <p:spPr>
          <a:xfrm>
            <a:off x="8193024" y="2276856"/>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5" name="Google Shape;155;p9"/>
          <p:cNvSpPr/>
          <p:nvPr/>
        </p:nvSpPr>
        <p:spPr>
          <a:xfrm>
            <a:off x="8622792" y="2276856"/>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6" name="Google Shape;156;p9"/>
          <p:cNvSpPr/>
          <p:nvPr/>
        </p:nvSpPr>
        <p:spPr>
          <a:xfrm>
            <a:off x="9052560" y="2276856"/>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7" name="Google Shape;157;p9"/>
          <p:cNvSpPr/>
          <p:nvPr/>
        </p:nvSpPr>
        <p:spPr>
          <a:xfrm>
            <a:off x="9482328" y="2276856"/>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8" name="Google Shape;158;p9"/>
          <p:cNvSpPr/>
          <p:nvPr/>
        </p:nvSpPr>
        <p:spPr>
          <a:xfrm>
            <a:off x="9912096" y="2276856"/>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9" name="Google Shape;159;p9"/>
          <p:cNvSpPr/>
          <p:nvPr/>
        </p:nvSpPr>
        <p:spPr>
          <a:xfrm>
            <a:off x="10341864" y="2276856"/>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0" name="Google Shape;160;p9"/>
          <p:cNvSpPr/>
          <p:nvPr/>
        </p:nvSpPr>
        <p:spPr>
          <a:xfrm>
            <a:off x="10771632" y="2276856"/>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1" name="Google Shape;161;p9"/>
          <p:cNvSpPr/>
          <p:nvPr/>
        </p:nvSpPr>
        <p:spPr>
          <a:xfrm>
            <a:off x="6903720" y="2706624"/>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2" name="Google Shape;162;p9"/>
          <p:cNvSpPr/>
          <p:nvPr/>
        </p:nvSpPr>
        <p:spPr>
          <a:xfrm>
            <a:off x="7333488" y="2706624"/>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3" name="Google Shape;163;p9"/>
          <p:cNvSpPr/>
          <p:nvPr/>
        </p:nvSpPr>
        <p:spPr>
          <a:xfrm>
            <a:off x="7763256" y="2706624"/>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4" name="Google Shape;164;p9"/>
          <p:cNvSpPr/>
          <p:nvPr/>
        </p:nvSpPr>
        <p:spPr>
          <a:xfrm>
            <a:off x="8193024" y="2706624"/>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5" name="Google Shape;165;p9"/>
          <p:cNvSpPr/>
          <p:nvPr/>
        </p:nvSpPr>
        <p:spPr>
          <a:xfrm>
            <a:off x="8622792" y="2706624"/>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6" name="Google Shape;166;p9"/>
          <p:cNvSpPr/>
          <p:nvPr/>
        </p:nvSpPr>
        <p:spPr>
          <a:xfrm>
            <a:off x="9052560" y="2706624"/>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7" name="Google Shape;167;p9"/>
          <p:cNvSpPr/>
          <p:nvPr/>
        </p:nvSpPr>
        <p:spPr>
          <a:xfrm>
            <a:off x="9482328" y="2706624"/>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8" name="Google Shape;168;p9"/>
          <p:cNvSpPr/>
          <p:nvPr/>
        </p:nvSpPr>
        <p:spPr>
          <a:xfrm>
            <a:off x="9912096" y="2706624"/>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9" name="Google Shape;169;p9"/>
          <p:cNvSpPr/>
          <p:nvPr/>
        </p:nvSpPr>
        <p:spPr>
          <a:xfrm>
            <a:off x="10341864" y="2706624"/>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0" name="Google Shape;170;p9"/>
          <p:cNvSpPr/>
          <p:nvPr/>
        </p:nvSpPr>
        <p:spPr>
          <a:xfrm>
            <a:off x="10771632" y="2706624"/>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1" name="Google Shape;171;p9"/>
          <p:cNvSpPr/>
          <p:nvPr/>
        </p:nvSpPr>
        <p:spPr>
          <a:xfrm>
            <a:off x="6903720" y="3136392"/>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2" name="Google Shape;172;p9"/>
          <p:cNvSpPr/>
          <p:nvPr/>
        </p:nvSpPr>
        <p:spPr>
          <a:xfrm>
            <a:off x="7333488" y="3136392"/>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3" name="Google Shape;173;p9"/>
          <p:cNvSpPr/>
          <p:nvPr/>
        </p:nvSpPr>
        <p:spPr>
          <a:xfrm>
            <a:off x="7763256" y="3136392"/>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4" name="Google Shape;174;p9"/>
          <p:cNvSpPr/>
          <p:nvPr/>
        </p:nvSpPr>
        <p:spPr>
          <a:xfrm>
            <a:off x="8193024" y="3136392"/>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5" name="Google Shape;175;p9"/>
          <p:cNvSpPr/>
          <p:nvPr/>
        </p:nvSpPr>
        <p:spPr>
          <a:xfrm>
            <a:off x="8622792" y="3136392"/>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6" name="Google Shape;176;p9"/>
          <p:cNvSpPr/>
          <p:nvPr/>
        </p:nvSpPr>
        <p:spPr>
          <a:xfrm>
            <a:off x="9052560" y="3136392"/>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7" name="Google Shape;177;p9"/>
          <p:cNvSpPr/>
          <p:nvPr/>
        </p:nvSpPr>
        <p:spPr>
          <a:xfrm>
            <a:off x="9482328" y="3136392"/>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8" name="Google Shape;178;p9"/>
          <p:cNvSpPr/>
          <p:nvPr/>
        </p:nvSpPr>
        <p:spPr>
          <a:xfrm>
            <a:off x="9912096" y="3136392"/>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9" name="Google Shape;179;p9"/>
          <p:cNvSpPr/>
          <p:nvPr/>
        </p:nvSpPr>
        <p:spPr>
          <a:xfrm>
            <a:off x="10341864" y="3136392"/>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0" name="Google Shape;180;p9"/>
          <p:cNvSpPr/>
          <p:nvPr/>
        </p:nvSpPr>
        <p:spPr>
          <a:xfrm>
            <a:off x="10771632" y="3136392"/>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1" name="Google Shape;181;p9"/>
          <p:cNvSpPr/>
          <p:nvPr/>
        </p:nvSpPr>
        <p:spPr>
          <a:xfrm>
            <a:off x="6903720" y="3566160"/>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2" name="Google Shape;182;p9"/>
          <p:cNvSpPr/>
          <p:nvPr/>
        </p:nvSpPr>
        <p:spPr>
          <a:xfrm>
            <a:off x="7333488" y="3566160"/>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3" name="Google Shape;183;p9"/>
          <p:cNvSpPr/>
          <p:nvPr/>
        </p:nvSpPr>
        <p:spPr>
          <a:xfrm>
            <a:off x="7763256" y="3566160"/>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4" name="Google Shape;184;p9"/>
          <p:cNvSpPr/>
          <p:nvPr/>
        </p:nvSpPr>
        <p:spPr>
          <a:xfrm>
            <a:off x="8193024" y="3566160"/>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5" name="Google Shape;185;p9"/>
          <p:cNvSpPr/>
          <p:nvPr/>
        </p:nvSpPr>
        <p:spPr>
          <a:xfrm>
            <a:off x="8622792" y="3566160"/>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6" name="Google Shape;186;p9"/>
          <p:cNvSpPr/>
          <p:nvPr/>
        </p:nvSpPr>
        <p:spPr>
          <a:xfrm>
            <a:off x="9052560" y="3566160"/>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7" name="Google Shape;187;p9"/>
          <p:cNvSpPr/>
          <p:nvPr/>
        </p:nvSpPr>
        <p:spPr>
          <a:xfrm>
            <a:off x="9482328" y="3566160"/>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8" name="Google Shape;188;p9"/>
          <p:cNvSpPr/>
          <p:nvPr/>
        </p:nvSpPr>
        <p:spPr>
          <a:xfrm>
            <a:off x="9912096" y="3566160"/>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9" name="Google Shape;189;p9"/>
          <p:cNvSpPr/>
          <p:nvPr/>
        </p:nvSpPr>
        <p:spPr>
          <a:xfrm>
            <a:off x="10341864" y="3566160"/>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0" name="Google Shape;190;p9"/>
          <p:cNvSpPr/>
          <p:nvPr/>
        </p:nvSpPr>
        <p:spPr>
          <a:xfrm>
            <a:off x="10771632" y="3566160"/>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1" name="Google Shape;191;p9"/>
          <p:cNvSpPr/>
          <p:nvPr/>
        </p:nvSpPr>
        <p:spPr>
          <a:xfrm>
            <a:off x="6903720" y="3995928"/>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2" name="Google Shape;192;p9"/>
          <p:cNvSpPr/>
          <p:nvPr/>
        </p:nvSpPr>
        <p:spPr>
          <a:xfrm>
            <a:off x="7333488" y="3995928"/>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3" name="Google Shape;193;p9"/>
          <p:cNvSpPr/>
          <p:nvPr/>
        </p:nvSpPr>
        <p:spPr>
          <a:xfrm>
            <a:off x="7763256" y="3995928"/>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4" name="Google Shape;194;p9"/>
          <p:cNvSpPr/>
          <p:nvPr/>
        </p:nvSpPr>
        <p:spPr>
          <a:xfrm>
            <a:off x="8193024" y="3995928"/>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5" name="Google Shape;195;p9"/>
          <p:cNvSpPr/>
          <p:nvPr/>
        </p:nvSpPr>
        <p:spPr>
          <a:xfrm>
            <a:off x="8622792" y="3995928"/>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6" name="Google Shape;196;p9"/>
          <p:cNvSpPr/>
          <p:nvPr/>
        </p:nvSpPr>
        <p:spPr>
          <a:xfrm>
            <a:off x="9052560" y="3995928"/>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7" name="Google Shape;197;p9"/>
          <p:cNvSpPr/>
          <p:nvPr/>
        </p:nvSpPr>
        <p:spPr>
          <a:xfrm>
            <a:off x="9482328" y="3995928"/>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8" name="Google Shape;198;p9"/>
          <p:cNvSpPr/>
          <p:nvPr/>
        </p:nvSpPr>
        <p:spPr>
          <a:xfrm>
            <a:off x="9912096" y="3995928"/>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9" name="Google Shape;199;p9"/>
          <p:cNvSpPr/>
          <p:nvPr/>
        </p:nvSpPr>
        <p:spPr>
          <a:xfrm>
            <a:off x="10341864" y="3995928"/>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0" name="Google Shape;200;p9"/>
          <p:cNvSpPr/>
          <p:nvPr/>
        </p:nvSpPr>
        <p:spPr>
          <a:xfrm>
            <a:off x="10771632" y="3995928"/>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1" name="Google Shape;201;p9"/>
          <p:cNvSpPr/>
          <p:nvPr/>
        </p:nvSpPr>
        <p:spPr>
          <a:xfrm>
            <a:off x="6903720" y="4425696"/>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2" name="Google Shape;202;p9"/>
          <p:cNvSpPr/>
          <p:nvPr/>
        </p:nvSpPr>
        <p:spPr>
          <a:xfrm>
            <a:off x="7333488" y="4425696"/>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3" name="Google Shape;203;p9"/>
          <p:cNvSpPr/>
          <p:nvPr/>
        </p:nvSpPr>
        <p:spPr>
          <a:xfrm>
            <a:off x="7763256" y="4425696"/>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4" name="Google Shape;204;p9"/>
          <p:cNvSpPr/>
          <p:nvPr/>
        </p:nvSpPr>
        <p:spPr>
          <a:xfrm>
            <a:off x="8193024" y="4425696"/>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5" name="Google Shape;205;p9"/>
          <p:cNvSpPr/>
          <p:nvPr/>
        </p:nvSpPr>
        <p:spPr>
          <a:xfrm>
            <a:off x="8622792" y="4425696"/>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6" name="Google Shape;206;p9"/>
          <p:cNvSpPr/>
          <p:nvPr/>
        </p:nvSpPr>
        <p:spPr>
          <a:xfrm>
            <a:off x="9052560" y="4425696"/>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7" name="Google Shape;207;p9"/>
          <p:cNvSpPr/>
          <p:nvPr/>
        </p:nvSpPr>
        <p:spPr>
          <a:xfrm>
            <a:off x="9482328" y="4425696"/>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8" name="Google Shape;208;p9"/>
          <p:cNvSpPr/>
          <p:nvPr/>
        </p:nvSpPr>
        <p:spPr>
          <a:xfrm>
            <a:off x="9912096" y="4425696"/>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9" name="Google Shape;209;p9"/>
          <p:cNvSpPr/>
          <p:nvPr/>
        </p:nvSpPr>
        <p:spPr>
          <a:xfrm>
            <a:off x="10341864" y="4425696"/>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0" name="Google Shape;210;p9"/>
          <p:cNvSpPr/>
          <p:nvPr/>
        </p:nvSpPr>
        <p:spPr>
          <a:xfrm>
            <a:off x="10771632" y="4425696"/>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1" name="Google Shape;211;p9"/>
          <p:cNvSpPr/>
          <p:nvPr/>
        </p:nvSpPr>
        <p:spPr>
          <a:xfrm>
            <a:off x="6903720" y="4855464"/>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2" name="Google Shape;212;p9"/>
          <p:cNvSpPr/>
          <p:nvPr/>
        </p:nvSpPr>
        <p:spPr>
          <a:xfrm>
            <a:off x="7333488" y="4855464"/>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3" name="Google Shape;213;p9"/>
          <p:cNvSpPr/>
          <p:nvPr/>
        </p:nvSpPr>
        <p:spPr>
          <a:xfrm>
            <a:off x="7763256" y="4855464"/>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4" name="Google Shape;214;p9"/>
          <p:cNvSpPr/>
          <p:nvPr/>
        </p:nvSpPr>
        <p:spPr>
          <a:xfrm>
            <a:off x="8193024" y="4855464"/>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5" name="Google Shape;215;p9"/>
          <p:cNvSpPr/>
          <p:nvPr/>
        </p:nvSpPr>
        <p:spPr>
          <a:xfrm>
            <a:off x="8622792" y="4855464"/>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6" name="Google Shape;216;p9"/>
          <p:cNvSpPr/>
          <p:nvPr/>
        </p:nvSpPr>
        <p:spPr>
          <a:xfrm>
            <a:off x="9052560" y="4855464"/>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7" name="Google Shape;217;p9"/>
          <p:cNvSpPr/>
          <p:nvPr/>
        </p:nvSpPr>
        <p:spPr>
          <a:xfrm>
            <a:off x="9482328" y="4855464"/>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8" name="Google Shape;218;p9"/>
          <p:cNvSpPr/>
          <p:nvPr/>
        </p:nvSpPr>
        <p:spPr>
          <a:xfrm>
            <a:off x="9912096" y="4855464"/>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9" name="Google Shape;219;p9"/>
          <p:cNvSpPr/>
          <p:nvPr/>
        </p:nvSpPr>
        <p:spPr>
          <a:xfrm>
            <a:off x="10341864" y="4855464"/>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0" name="Google Shape;220;p9"/>
          <p:cNvSpPr/>
          <p:nvPr/>
        </p:nvSpPr>
        <p:spPr>
          <a:xfrm>
            <a:off x="10771632" y="4855464"/>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1" name="Google Shape;221;p9"/>
          <p:cNvSpPr/>
          <p:nvPr/>
        </p:nvSpPr>
        <p:spPr>
          <a:xfrm>
            <a:off x="6903720" y="5285232"/>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2" name="Google Shape;222;p9"/>
          <p:cNvSpPr/>
          <p:nvPr/>
        </p:nvSpPr>
        <p:spPr>
          <a:xfrm>
            <a:off x="7333488" y="5285232"/>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3" name="Google Shape;223;p9"/>
          <p:cNvSpPr/>
          <p:nvPr/>
        </p:nvSpPr>
        <p:spPr>
          <a:xfrm>
            <a:off x="7763256" y="5285232"/>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4" name="Google Shape;224;p9"/>
          <p:cNvSpPr/>
          <p:nvPr/>
        </p:nvSpPr>
        <p:spPr>
          <a:xfrm>
            <a:off x="8193024" y="5285232"/>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5" name="Google Shape;225;p9"/>
          <p:cNvSpPr/>
          <p:nvPr/>
        </p:nvSpPr>
        <p:spPr>
          <a:xfrm>
            <a:off x="8622792" y="5285232"/>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6" name="Google Shape;226;p9"/>
          <p:cNvSpPr/>
          <p:nvPr/>
        </p:nvSpPr>
        <p:spPr>
          <a:xfrm>
            <a:off x="9052560" y="5285232"/>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7" name="Google Shape;227;p9"/>
          <p:cNvSpPr/>
          <p:nvPr/>
        </p:nvSpPr>
        <p:spPr>
          <a:xfrm>
            <a:off x="9482328" y="5285232"/>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8" name="Google Shape;228;p9"/>
          <p:cNvSpPr/>
          <p:nvPr/>
        </p:nvSpPr>
        <p:spPr>
          <a:xfrm>
            <a:off x="9912096" y="5285232"/>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9" name="Google Shape;229;p9"/>
          <p:cNvSpPr/>
          <p:nvPr/>
        </p:nvSpPr>
        <p:spPr>
          <a:xfrm>
            <a:off x="10341864" y="5285232"/>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0" name="Google Shape;230;p9"/>
          <p:cNvSpPr/>
          <p:nvPr/>
        </p:nvSpPr>
        <p:spPr>
          <a:xfrm>
            <a:off x="10771632" y="5285232"/>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1" name="Google Shape;231;p9"/>
          <p:cNvSpPr txBox="1"/>
          <p:nvPr/>
        </p:nvSpPr>
        <p:spPr>
          <a:xfrm>
            <a:off x="6903720" y="5760720"/>
            <a:ext cx="42063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2A7B5"/>
                </a:solidFill>
                <a:latin typeface="Nunito Sans"/>
                <a:ea typeface="Nunito Sans"/>
                <a:cs typeface="Nunito Sans"/>
                <a:sym typeface="Nunito Sans"/>
              </a:rPr>
              <a:t>Each dot is one date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236" name="Shape 236"/>
        <p:cNvGrpSpPr/>
        <p:nvPr/>
      </p:nvGrpSpPr>
      <p:grpSpPr>
        <a:xfrm>
          <a:off x="0" y="0"/>
          <a:ext cx="0" cy="0"/>
          <a:chOff x="0" y="0"/>
          <a:chExt cx="0" cy="0"/>
        </a:xfrm>
      </p:grpSpPr>
      <p:sp>
        <p:nvSpPr>
          <p:cNvPr id="237" name="Google Shape;237;p10"/>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THE ANSWER</a:t>
            </a:r>
            <a:endParaRPr b="0" i="0" sz="1200" u="none" cap="none" strike="noStrike">
              <a:solidFill>
                <a:schemeClr val="dk1"/>
              </a:solidFill>
              <a:latin typeface="Calibri"/>
              <a:ea typeface="Calibri"/>
              <a:cs typeface="Calibri"/>
              <a:sym typeface="Calibri"/>
            </a:endParaRPr>
          </a:p>
        </p:txBody>
      </p:sp>
      <p:sp>
        <p:nvSpPr>
          <p:cNvPr id="238" name="Google Shape;238;p10"/>
          <p:cNvSpPr/>
          <p:nvPr/>
        </p:nvSpPr>
        <p:spPr>
          <a:xfrm>
            <a:off x="812800" y="1254720"/>
            <a:ext cx="108834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Only 16 of every 100 dates ended in a match</a:t>
            </a:r>
            <a:endParaRPr b="0" i="0" sz="3200" u="none" cap="none" strike="noStrike">
              <a:solidFill>
                <a:schemeClr val="dk1"/>
              </a:solidFill>
              <a:latin typeface="Calibri"/>
              <a:ea typeface="Calibri"/>
              <a:cs typeface="Calibri"/>
              <a:sym typeface="Calibri"/>
            </a:endParaRPr>
          </a:p>
        </p:txBody>
      </p:sp>
      <p:sp>
        <p:nvSpPr>
          <p:cNvPr id="239" name="Google Shape;239;p10"/>
          <p:cNvSpPr/>
          <p:nvPr/>
        </p:nvSpPr>
        <p:spPr>
          <a:xfrm>
            <a:off x="812902" y="1965960"/>
            <a:ext cx="4023300" cy="3895200"/>
          </a:xfrm>
          <a:prstGeom prst="roundRect">
            <a:avLst>
              <a:gd fmla="val 4200" name="adj"/>
            </a:avLst>
          </a:prstGeom>
          <a:solidFill>
            <a:srgbClr val="FFFFFF"/>
          </a:solidFill>
          <a:ln cap="rnd" cmpd="sng" w="12700">
            <a:solidFill>
              <a:srgbClr val="EADFD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0" name="Google Shape;240;p10"/>
          <p:cNvSpPr/>
          <p:nvPr/>
        </p:nvSpPr>
        <p:spPr>
          <a:xfrm>
            <a:off x="996696" y="2084832"/>
            <a:ext cx="283500" cy="283500"/>
          </a:xfrm>
          <a:prstGeom prst="ellipse">
            <a:avLst/>
          </a:prstGeom>
          <a:solidFill>
            <a:srgbClr val="E0607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1" name="Google Shape;241;p10"/>
          <p:cNvSpPr/>
          <p:nvPr/>
        </p:nvSpPr>
        <p:spPr>
          <a:xfrm>
            <a:off x="1371600" y="2084832"/>
            <a:ext cx="283500" cy="283500"/>
          </a:xfrm>
          <a:prstGeom prst="ellipse">
            <a:avLst/>
          </a:prstGeom>
          <a:solidFill>
            <a:srgbClr val="E0607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2" name="Google Shape;242;p10"/>
          <p:cNvSpPr/>
          <p:nvPr/>
        </p:nvSpPr>
        <p:spPr>
          <a:xfrm>
            <a:off x="1746504" y="2084832"/>
            <a:ext cx="283500" cy="283500"/>
          </a:xfrm>
          <a:prstGeom prst="ellipse">
            <a:avLst/>
          </a:prstGeom>
          <a:solidFill>
            <a:srgbClr val="E0607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3" name="Google Shape;243;p10"/>
          <p:cNvSpPr/>
          <p:nvPr/>
        </p:nvSpPr>
        <p:spPr>
          <a:xfrm>
            <a:off x="2121408" y="2084832"/>
            <a:ext cx="283500" cy="283500"/>
          </a:xfrm>
          <a:prstGeom prst="ellipse">
            <a:avLst/>
          </a:prstGeom>
          <a:solidFill>
            <a:srgbClr val="E0607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4" name="Google Shape;244;p10"/>
          <p:cNvSpPr/>
          <p:nvPr/>
        </p:nvSpPr>
        <p:spPr>
          <a:xfrm>
            <a:off x="2496312" y="2084832"/>
            <a:ext cx="283500" cy="283500"/>
          </a:xfrm>
          <a:prstGeom prst="ellipse">
            <a:avLst/>
          </a:prstGeom>
          <a:solidFill>
            <a:srgbClr val="E0607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5" name="Google Shape;245;p10"/>
          <p:cNvSpPr/>
          <p:nvPr/>
        </p:nvSpPr>
        <p:spPr>
          <a:xfrm>
            <a:off x="2871216" y="2084832"/>
            <a:ext cx="283500" cy="283500"/>
          </a:xfrm>
          <a:prstGeom prst="ellipse">
            <a:avLst/>
          </a:prstGeom>
          <a:solidFill>
            <a:srgbClr val="E0607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6" name="Google Shape;246;p10"/>
          <p:cNvSpPr/>
          <p:nvPr/>
        </p:nvSpPr>
        <p:spPr>
          <a:xfrm>
            <a:off x="3246120" y="2084832"/>
            <a:ext cx="283500" cy="283500"/>
          </a:xfrm>
          <a:prstGeom prst="ellipse">
            <a:avLst/>
          </a:prstGeom>
          <a:solidFill>
            <a:srgbClr val="E0607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7" name="Google Shape;247;p10"/>
          <p:cNvSpPr/>
          <p:nvPr/>
        </p:nvSpPr>
        <p:spPr>
          <a:xfrm>
            <a:off x="3621024" y="2084832"/>
            <a:ext cx="283500" cy="283500"/>
          </a:xfrm>
          <a:prstGeom prst="ellipse">
            <a:avLst/>
          </a:prstGeom>
          <a:solidFill>
            <a:srgbClr val="E0607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8" name="Google Shape;248;p10"/>
          <p:cNvSpPr/>
          <p:nvPr/>
        </p:nvSpPr>
        <p:spPr>
          <a:xfrm>
            <a:off x="3995928" y="2084832"/>
            <a:ext cx="283500" cy="283500"/>
          </a:xfrm>
          <a:prstGeom prst="ellipse">
            <a:avLst/>
          </a:prstGeom>
          <a:solidFill>
            <a:srgbClr val="E0607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9" name="Google Shape;249;p10"/>
          <p:cNvSpPr/>
          <p:nvPr/>
        </p:nvSpPr>
        <p:spPr>
          <a:xfrm>
            <a:off x="4370832" y="2084832"/>
            <a:ext cx="283500" cy="283500"/>
          </a:xfrm>
          <a:prstGeom prst="ellipse">
            <a:avLst/>
          </a:prstGeom>
          <a:solidFill>
            <a:srgbClr val="E0607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0" name="Google Shape;250;p10"/>
          <p:cNvSpPr/>
          <p:nvPr/>
        </p:nvSpPr>
        <p:spPr>
          <a:xfrm>
            <a:off x="996696" y="2459736"/>
            <a:ext cx="283500" cy="283500"/>
          </a:xfrm>
          <a:prstGeom prst="ellipse">
            <a:avLst/>
          </a:prstGeom>
          <a:solidFill>
            <a:srgbClr val="E0607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1" name="Google Shape;251;p10"/>
          <p:cNvSpPr/>
          <p:nvPr/>
        </p:nvSpPr>
        <p:spPr>
          <a:xfrm>
            <a:off x="1371600" y="2459736"/>
            <a:ext cx="283500" cy="283500"/>
          </a:xfrm>
          <a:prstGeom prst="ellipse">
            <a:avLst/>
          </a:prstGeom>
          <a:solidFill>
            <a:srgbClr val="E0607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2" name="Google Shape;252;p10"/>
          <p:cNvSpPr/>
          <p:nvPr/>
        </p:nvSpPr>
        <p:spPr>
          <a:xfrm>
            <a:off x="1746504" y="2459736"/>
            <a:ext cx="283500" cy="283500"/>
          </a:xfrm>
          <a:prstGeom prst="ellipse">
            <a:avLst/>
          </a:prstGeom>
          <a:solidFill>
            <a:srgbClr val="E0607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3" name="Google Shape;253;p10"/>
          <p:cNvSpPr/>
          <p:nvPr/>
        </p:nvSpPr>
        <p:spPr>
          <a:xfrm>
            <a:off x="2121408" y="2459736"/>
            <a:ext cx="283500" cy="283500"/>
          </a:xfrm>
          <a:prstGeom prst="ellipse">
            <a:avLst/>
          </a:prstGeom>
          <a:solidFill>
            <a:srgbClr val="E0607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4" name="Google Shape;254;p10"/>
          <p:cNvSpPr/>
          <p:nvPr/>
        </p:nvSpPr>
        <p:spPr>
          <a:xfrm>
            <a:off x="2496312" y="2459736"/>
            <a:ext cx="283500" cy="283500"/>
          </a:xfrm>
          <a:prstGeom prst="ellipse">
            <a:avLst/>
          </a:prstGeom>
          <a:solidFill>
            <a:srgbClr val="E0607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5" name="Google Shape;255;p10"/>
          <p:cNvSpPr/>
          <p:nvPr/>
        </p:nvSpPr>
        <p:spPr>
          <a:xfrm>
            <a:off x="2871216" y="2459736"/>
            <a:ext cx="283500" cy="283500"/>
          </a:xfrm>
          <a:prstGeom prst="ellipse">
            <a:avLst/>
          </a:prstGeom>
          <a:solidFill>
            <a:srgbClr val="E0607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6" name="Google Shape;256;p10"/>
          <p:cNvSpPr/>
          <p:nvPr/>
        </p:nvSpPr>
        <p:spPr>
          <a:xfrm>
            <a:off x="3246120" y="2459736"/>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7" name="Google Shape;257;p10"/>
          <p:cNvSpPr/>
          <p:nvPr/>
        </p:nvSpPr>
        <p:spPr>
          <a:xfrm>
            <a:off x="3621024" y="2459736"/>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8" name="Google Shape;258;p10"/>
          <p:cNvSpPr/>
          <p:nvPr/>
        </p:nvSpPr>
        <p:spPr>
          <a:xfrm>
            <a:off x="3995928" y="2459736"/>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9" name="Google Shape;259;p10"/>
          <p:cNvSpPr/>
          <p:nvPr/>
        </p:nvSpPr>
        <p:spPr>
          <a:xfrm>
            <a:off x="4370832" y="2459736"/>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0" name="Google Shape;260;p10"/>
          <p:cNvSpPr/>
          <p:nvPr/>
        </p:nvSpPr>
        <p:spPr>
          <a:xfrm>
            <a:off x="996696" y="2834640"/>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1" name="Google Shape;261;p10"/>
          <p:cNvSpPr/>
          <p:nvPr/>
        </p:nvSpPr>
        <p:spPr>
          <a:xfrm>
            <a:off x="1371600" y="2834640"/>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10"/>
          <p:cNvSpPr/>
          <p:nvPr/>
        </p:nvSpPr>
        <p:spPr>
          <a:xfrm>
            <a:off x="1746504" y="2834640"/>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10"/>
          <p:cNvSpPr/>
          <p:nvPr/>
        </p:nvSpPr>
        <p:spPr>
          <a:xfrm>
            <a:off x="2121408" y="2834640"/>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4" name="Google Shape;264;p10"/>
          <p:cNvSpPr/>
          <p:nvPr/>
        </p:nvSpPr>
        <p:spPr>
          <a:xfrm>
            <a:off x="2496312" y="2834640"/>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5" name="Google Shape;265;p10"/>
          <p:cNvSpPr/>
          <p:nvPr/>
        </p:nvSpPr>
        <p:spPr>
          <a:xfrm>
            <a:off x="2871216" y="2834640"/>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10"/>
          <p:cNvSpPr/>
          <p:nvPr/>
        </p:nvSpPr>
        <p:spPr>
          <a:xfrm>
            <a:off x="3246120" y="2834640"/>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7" name="Google Shape;267;p10"/>
          <p:cNvSpPr/>
          <p:nvPr/>
        </p:nvSpPr>
        <p:spPr>
          <a:xfrm>
            <a:off x="3621024" y="2834640"/>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8" name="Google Shape;268;p10"/>
          <p:cNvSpPr/>
          <p:nvPr/>
        </p:nvSpPr>
        <p:spPr>
          <a:xfrm>
            <a:off x="3995928" y="2834640"/>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9" name="Google Shape;269;p10"/>
          <p:cNvSpPr/>
          <p:nvPr/>
        </p:nvSpPr>
        <p:spPr>
          <a:xfrm>
            <a:off x="4370832" y="2834640"/>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10"/>
          <p:cNvSpPr/>
          <p:nvPr/>
        </p:nvSpPr>
        <p:spPr>
          <a:xfrm>
            <a:off x="996696" y="3209544"/>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10"/>
          <p:cNvSpPr/>
          <p:nvPr/>
        </p:nvSpPr>
        <p:spPr>
          <a:xfrm>
            <a:off x="1371600" y="3209544"/>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2" name="Google Shape;272;p10"/>
          <p:cNvSpPr/>
          <p:nvPr/>
        </p:nvSpPr>
        <p:spPr>
          <a:xfrm>
            <a:off x="1746504" y="3209544"/>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3" name="Google Shape;273;p10"/>
          <p:cNvSpPr/>
          <p:nvPr/>
        </p:nvSpPr>
        <p:spPr>
          <a:xfrm>
            <a:off x="2121408" y="3209544"/>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10"/>
          <p:cNvSpPr/>
          <p:nvPr/>
        </p:nvSpPr>
        <p:spPr>
          <a:xfrm>
            <a:off x="2496312" y="3209544"/>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5" name="Google Shape;275;p10"/>
          <p:cNvSpPr/>
          <p:nvPr/>
        </p:nvSpPr>
        <p:spPr>
          <a:xfrm>
            <a:off x="2871216" y="3209544"/>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6" name="Google Shape;276;p10"/>
          <p:cNvSpPr/>
          <p:nvPr/>
        </p:nvSpPr>
        <p:spPr>
          <a:xfrm>
            <a:off x="3246120" y="3209544"/>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10"/>
          <p:cNvSpPr/>
          <p:nvPr/>
        </p:nvSpPr>
        <p:spPr>
          <a:xfrm>
            <a:off x="3621024" y="3209544"/>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8" name="Google Shape;278;p10"/>
          <p:cNvSpPr/>
          <p:nvPr/>
        </p:nvSpPr>
        <p:spPr>
          <a:xfrm>
            <a:off x="3995928" y="3209544"/>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9" name="Google Shape;279;p10"/>
          <p:cNvSpPr/>
          <p:nvPr/>
        </p:nvSpPr>
        <p:spPr>
          <a:xfrm>
            <a:off x="4370832" y="3209544"/>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10"/>
          <p:cNvSpPr/>
          <p:nvPr/>
        </p:nvSpPr>
        <p:spPr>
          <a:xfrm>
            <a:off x="996696" y="3584448"/>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1" name="Google Shape;281;p10"/>
          <p:cNvSpPr/>
          <p:nvPr/>
        </p:nvSpPr>
        <p:spPr>
          <a:xfrm>
            <a:off x="1371600" y="3584448"/>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2" name="Google Shape;282;p10"/>
          <p:cNvSpPr/>
          <p:nvPr/>
        </p:nvSpPr>
        <p:spPr>
          <a:xfrm>
            <a:off x="1746504" y="3584448"/>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10"/>
          <p:cNvSpPr/>
          <p:nvPr/>
        </p:nvSpPr>
        <p:spPr>
          <a:xfrm>
            <a:off x="2121408" y="3584448"/>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4" name="Google Shape;284;p10"/>
          <p:cNvSpPr/>
          <p:nvPr/>
        </p:nvSpPr>
        <p:spPr>
          <a:xfrm>
            <a:off x="2496312" y="3584448"/>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5" name="Google Shape;285;p10"/>
          <p:cNvSpPr/>
          <p:nvPr/>
        </p:nvSpPr>
        <p:spPr>
          <a:xfrm>
            <a:off x="2871216" y="3584448"/>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10"/>
          <p:cNvSpPr/>
          <p:nvPr/>
        </p:nvSpPr>
        <p:spPr>
          <a:xfrm>
            <a:off x="3246120" y="3584448"/>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10"/>
          <p:cNvSpPr/>
          <p:nvPr/>
        </p:nvSpPr>
        <p:spPr>
          <a:xfrm>
            <a:off x="3621024" y="3584448"/>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8" name="Google Shape;288;p10"/>
          <p:cNvSpPr/>
          <p:nvPr/>
        </p:nvSpPr>
        <p:spPr>
          <a:xfrm>
            <a:off x="3995928" y="3584448"/>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9" name="Google Shape;289;p10"/>
          <p:cNvSpPr/>
          <p:nvPr/>
        </p:nvSpPr>
        <p:spPr>
          <a:xfrm>
            <a:off x="4370832" y="3584448"/>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10"/>
          <p:cNvSpPr/>
          <p:nvPr/>
        </p:nvSpPr>
        <p:spPr>
          <a:xfrm>
            <a:off x="996696" y="3959352"/>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1" name="Google Shape;291;p10"/>
          <p:cNvSpPr/>
          <p:nvPr/>
        </p:nvSpPr>
        <p:spPr>
          <a:xfrm>
            <a:off x="1371600" y="3959352"/>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2" name="Google Shape;292;p10"/>
          <p:cNvSpPr/>
          <p:nvPr/>
        </p:nvSpPr>
        <p:spPr>
          <a:xfrm>
            <a:off x="1746504" y="3959352"/>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10"/>
          <p:cNvSpPr/>
          <p:nvPr/>
        </p:nvSpPr>
        <p:spPr>
          <a:xfrm>
            <a:off x="2121408" y="3959352"/>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4" name="Google Shape;294;p10"/>
          <p:cNvSpPr/>
          <p:nvPr/>
        </p:nvSpPr>
        <p:spPr>
          <a:xfrm>
            <a:off x="2496312" y="3959352"/>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5" name="Google Shape;295;p10"/>
          <p:cNvSpPr/>
          <p:nvPr/>
        </p:nvSpPr>
        <p:spPr>
          <a:xfrm>
            <a:off x="2871216" y="3959352"/>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10"/>
          <p:cNvSpPr/>
          <p:nvPr/>
        </p:nvSpPr>
        <p:spPr>
          <a:xfrm>
            <a:off x="3246120" y="3959352"/>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7" name="Google Shape;297;p10"/>
          <p:cNvSpPr/>
          <p:nvPr/>
        </p:nvSpPr>
        <p:spPr>
          <a:xfrm>
            <a:off x="3621024" y="3959352"/>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8" name="Google Shape;298;p10"/>
          <p:cNvSpPr/>
          <p:nvPr/>
        </p:nvSpPr>
        <p:spPr>
          <a:xfrm>
            <a:off x="3995928" y="3959352"/>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10"/>
          <p:cNvSpPr/>
          <p:nvPr/>
        </p:nvSpPr>
        <p:spPr>
          <a:xfrm>
            <a:off x="4370832" y="3959352"/>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0" name="Google Shape;300;p10"/>
          <p:cNvSpPr/>
          <p:nvPr/>
        </p:nvSpPr>
        <p:spPr>
          <a:xfrm>
            <a:off x="996696" y="4334256"/>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1" name="Google Shape;301;p10"/>
          <p:cNvSpPr/>
          <p:nvPr/>
        </p:nvSpPr>
        <p:spPr>
          <a:xfrm>
            <a:off x="1371600" y="4334256"/>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10"/>
          <p:cNvSpPr/>
          <p:nvPr/>
        </p:nvSpPr>
        <p:spPr>
          <a:xfrm>
            <a:off x="1746504" y="4334256"/>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10"/>
          <p:cNvSpPr/>
          <p:nvPr/>
        </p:nvSpPr>
        <p:spPr>
          <a:xfrm>
            <a:off x="2121408" y="4334256"/>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4" name="Google Shape;304;p10"/>
          <p:cNvSpPr/>
          <p:nvPr/>
        </p:nvSpPr>
        <p:spPr>
          <a:xfrm>
            <a:off x="2496312" y="4334256"/>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5" name="Google Shape;305;p10"/>
          <p:cNvSpPr/>
          <p:nvPr/>
        </p:nvSpPr>
        <p:spPr>
          <a:xfrm>
            <a:off x="2871216" y="4334256"/>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10"/>
          <p:cNvSpPr/>
          <p:nvPr/>
        </p:nvSpPr>
        <p:spPr>
          <a:xfrm>
            <a:off x="3246120" y="4334256"/>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7" name="Google Shape;307;p10"/>
          <p:cNvSpPr/>
          <p:nvPr/>
        </p:nvSpPr>
        <p:spPr>
          <a:xfrm>
            <a:off x="3621024" y="4334256"/>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8" name="Google Shape;308;p10"/>
          <p:cNvSpPr/>
          <p:nvPr/>
        </p:nvSpPr>
        <p:spPr>
          <a:xfrm>
            <a:off x="3995928" y="4334256"/>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10"/>
          <p:cNvSpPr/>
          <p:nvPr/>
        </p:nvSpPr>
        <p:spPr>
          <a:xfrm>
            <a:off x="4370832" y="4334256"/>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0" name="Google Shape;310;p10"/>
          <p:cNvSpPr/>
          <p:nvPr/>
        </p:nvSpPr>
        <p:spPr>
          <a:xfrm>
            <a:off x="996696" y="4709160"/>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1" name="Google Shape;311;p10"/>
          <p:cNvSpPr/>
          <p:nvPr/>
        </p:nvSpPr>
        <p:spPr>
          <a:xfrm>
            <a:off x="1371600" y="4709160"/>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10"/>
          <p:cNvSpPr/>
          <p:nvPr/>
        </p:nvSpPr>
        <p:spPr>
          <a:xfrm>
            <a:off x="1746504" y="4709160"/>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3" name="Google Shape;313;p10"/>
          <p:cNvSpPr/>
          <p:nvPr/>
        </p:nvSpPr>
        <p:spPr>
          <a:xfrm>
            <a:off x="2121408" y="4709160"/>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4" name="Google Shape;314;p10"/>
          <p:cNvSpPr/>
          <p:nvPr/>
        </p:nvSpPr>
        <p:spPr>
          <a:xfrm>
            <a:off x="2496312" y="4709160"/>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10"/>
          <p:cNvSpPr/>
          <p:nvPr/>
        </p:nvSpPr>
        <p:spPr>
          <a:xfrm>
            <a:off x="2871216" y="4709160"/>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6" name="Google Shape;316;p10"/>
          <p:cNvSpPr/>
          <p:nvPr/>
        </p:nvSpPr>
        <p:spPr>
          <a:xfrm>
            <a:off x="3246120" y="4709160"/>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7" name="Google Shape;317;p10"/>
          <p:cNvSpPr/>
          <p:nvPr/>
        </p:nvSpPr>
        <p:spPr>
          <a:xfrm>
            <a:off x="3621024" y="4709160"/>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10"/>
          <p:cNvSpPr/>
          <p:nvPr/>
        </p:nvSpPr>
        <p:spPr>
          <a:xfrm>
            <a:off x="3995928" y="4709160"/>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10"/>
          <p:cNvSpPr/>
          <p:nvPr/>
        </p:nvSpPr>
        <p:spPr>
          <a:xfrm>
            <a:off x="4370832" y="4709160"/>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0" name="Google Shape;320;p10"/>
          <p:cNvSpPr/>
          <p:nvPr/>
        </p:nvSpPr>
        <p:spPr>
          <a:xfrm>
            <a:off x="996696" y="5084064"/>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1" name="Google Shape;321;p10"/>
          <p:cNvSpPr/>
          <p:nvPr/>
        </p:nvSpPr>
        <p:spPr>
          <a:xfrm>
            <a:off x="1371600" y="5084064"/>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10"/>
          <p:cNvSpPr/>
          <p:nvPr/>
        </p:nvSpPr>
        <p:spPr>
          <a:xfrm>
            <a:off x="1746504" y="5084064"/>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3" name="Google Shape;323;p10"/>
          <p:cNvSpPr/>
          <p:nvPr/>
        </p:nvSpPr>
        <p:spPr>
          <a:xfrm>
            <a:off x="2121408" y="5084064"/>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4" name="Google Shape;324;p10"/>
          <p:cNvSpPr/>
          <p:nvPr/>
        </p:nvSpPr>
        <p:spPr>
          <a:xfrm>
            <a:off x="2496312" y="5084064"/>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10"/>
          <p:cNvSpPr/>
          <p:nvPr/>
        </p:nvSpPr>
        <p:spPr>
          <a:xfrm>
            <a:off x="2871216" y="5084064"/>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6" name="Google Shape;326;p10"/>
          <p:cNvSpPr/>
          <p:nvPr/>
        </p:nvSpPr>
        <p:spPr>
          <a:xfrm>
            <a:off x="3246120" y="5084064"/>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7" name="Google Shape;327;p10"/>
          <p:cNvSpPr/>
          <p:nvPr/>
        </p:nvSpPr>
        <p:spPr>
          <a:xfrm>
            <a:off x="3621024" y="5084064"/>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10"/>
          <p:cNvSpPr/>
          <p:nvPr/>
        </p:nvSpPr>
        <p:spPr>
          <a:xfrm>
            <a:off x="3995928" y="5084064"/>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9" name="Google Shape;329;p10"/>
          <p:cNvSpPr/>
          <p:nvPr/>
        </p:nvSpPr>
        <p:spPr>
          <a:xfrm>
            <a:off x="4370832" y="5084064"/>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0" name="Google Shape;330;p10"/>
          <p:cNvSpPr/>
          <p:nvPr/>
        </p:nvSpPr>
        <p:spPr>
          <a:xfrm>
            <a:off x="996696" y="5458968"/>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10"/>
          <p:cNvSpPr/>
          <p:nvPr/>
        </p:nvSpPr>
        <p:spPr>
          <a:xfrm>
            <a:off x="1371600" y="5458968"/>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2" name="Google Shape;332;p10"/>
          <p:cNvSpPr/>
          <p:nvPr/>
        </p:nvSpPr>
        <p:spPr>
          <a:xfrm>
            <a:off x="1746504" y="5458968"/>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3" name="Google Shape;333;p10"/>
          <p:cNvSpPr/>
          <p:nvPr/>
        </p:nvSpPr>
        <p:spPr>
          <a:xfrm>
            <a:off x="2121408" y="5458968"/>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4" name="Google Shape;334;p10"/>
          <p:cNvSpPr/>
          <p:nvPr/>
        </p:nvSpPr>
        <p:spPr>
          <a:xfrm>
            <a:off x="2496312" y="5458968"/>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5" name="Google Shape;335;p10"/>
          <p:cNvSpPr/>
          <p:nvPr/>
        </p:nvSpPr>
        <p:spPr>
          <a:xfrm>
            <a:off x="2871216" y="5458968"/>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6" name="Google Shape;336;p10"/>
          <p:cNvSpPr/>
          <p:nvPr/>
        </p:nvSpPr>
        <p:spPr>
          <a:xfrm>
            <a:off x="3246120" y="5458968"/>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7" name="Google Shape;337;p10"/>
          <p:cNvSpPr/>
          <p:nvPr/>
        </p:nvSpPr>
        <p:spPr>
          <a:xfrm>
            <a:off x="3621024" y="5458968"/>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8" name="Google Shape;338;p10"/>
          <p:cNvSpPr/>
          <p:nvPr/>
        </p:nvSpPr>
        <p:spPr>
          <a:xfrm>
            <a:off x="3995928" y="5458968"/>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9" name="Google Shape;339;p10"/>
          <p:cNvSpPr/>
          <p:nvPr/>
        </p:nvSpPr>
        <p:spPr>
          <a:xfrm>
            <a:off x="4370832" y="5458968"/>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0" name="Google Shape;340;p10"/>
          <p:cNvSpPr/>
          <p:nvPr/>
        </p:nvSpPr>
        <p:spPr>
          <a:xfrm>
            <a:off x="5166360" y="1965960"/>
            <a:ext cx="6212400" cy="1188600"/>
          </a:xfrm>
          <a:prstGeom prst="roundRect">
            <a:avLst>
              <a:gd fmla="val 9000" name="adj"/>
            </a:avLst>
          </a:prstGeom>
          <a:solidFill>
            <a:srgbClr val="1B244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1" name="Google Shape;341;p10"/>
          <p:cNvSpPr/>
          <p:nvPr/>
        </p:nvSpPr>
        <p:spPr>
          <a:xfrm>
            <a:off x="5486400" y="2395728"/>
            <a:ext cx="329100" cy="329100"/>
          </a:xfrm>
          <a:prstGeom prst="ellipse">
            <a:avLst/>
          </a:prstGeom>
          <a:solidFill>
            <a:srgbClr val="E0607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2" name="Google Shape;342;p10"/>
          <p:cNvSpPr txBox="1"/>
          <p:nvPr/>
        </p:nvSpPr>
        <p:spPr>
          <a:xfrm>
            <a:off x="6035040" y="1965960"/>
            <a:ext cx="1371600" cy="118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FBF7F2"/>
                </a:solidFill>
                <a:latin typeface="Nunito"/>
                <a:ea typeface="Nunito"/>
                <a:cs typeface="Nunito"/>
                <a:sym typeface="Nunito"/>
              </a:rPr>
              <a:t>16</a:t>
            </a:r>
            <a:endParaRPr/>
          </a:p>
        </p:txBody>
      </p:sp>
      <p:sp>
        <p:nvSpPr>
          <p:cNvPr id="343" name="Google Shape;343;p10"/>
          <p:cNvSpPr txBox="1"/>
          <p:nvPr/>
        </p:nvSpPr>
        <p:spPr>
          <a:xfrm>
            <a:off x="7406640" y="1965960"/>
            <a:ext cx="3697800" cy="11886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00"/>
              </a:buClr>
              <a:buSzPts val="1700"/>
              <a:buFont typeface="Arial"/>
              <a:buNone/>
            </a:pPr>
            <a:r>
              <a:rPr b="1" i="0" lang="en-US" sz="1700" u="none" cap="none" strike="noStrike">
                <a:solidFill>
                  <a:srgbClr val="FBF7F2"/>
                </a:solidFill>
                <a:latin typeface="Nunito Sans"/>
                <a:ea typeface="Nunito Sans"/>
                <a:cs typeface="Nunito Sans"/>
                <a:sym typeface="Nunito Sans"/>
              </a:rPr>
              <a:t>both people said yes: a match</a:t>
            </a:r>
            <a:endParaRPr/>
          </a:p>
        </p:txBody>
      </p:sp>
      <p:sp>
        <p:nvSpPr>
          <p:cNvPr id="344" name="Google Shape;344;p10"/>
          <p:cNvSpPr/>
          <p:nvPr/>
        </p:nvSpPr>
        <p:spPr>
          <a:xfrm>
            <a:off x="5166360" y="3319272"/>
            <a:ext cx="6212400" cy="1188600"/>
          </a:xfrm>
          <a:prstGeom prst="roundRect">
            <a:avLst>
              <a:gd fmla="val 9000" name="adj"/>
            </a:avLst>
          </a:prstGeom>
          <a:solidFill>
            <a:srgbClr val="FFFFFF"/>
          </a:solidFill>
          <a:ln cap="rnd" cmpd="sng" w="12700">
            <a:solidFill>
              <a:srgbClr val="EADFD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5" name="Google Shape;345;p10"/>
          <p:cNvSpPr/>
          <p:nvPr/>
        </p:nvSpPr>
        <p:spPr>
          <a:xfrm>
            <a:off x="5486400" y="3749040"/>
            <a:ext cx="329100" cy="3291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6" name="Google Shape;346;p10"/>
          <p:cNvSpPr txBox="1"/>
          <p:nvPr/>
        </p:nvSpPr>
        <p:spPr>
          <a:xfrm>
            <a:off x="6035040" y="3319272"/>
            <a:ext cx="1371600" cy="118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1B2440"/>
                </a:solidFill>
                <a:latin typeface="Nunito"/>
                <a:ea typeface="Nunito"/>
                <a:cs typeface="Nunito"/>
                <a:sym typeface="Nunito"/>
              </a:rPr>
              <a:t>51</a:t>
            </a:r>
            <a:endParaRPr/>
          </a:p>
        </p:txBody>
      </p:sp>
      <p:sp>
        <p:nvSpPr>
          <p:cNvPr id="347" name="Google Shape;347;p10"/>
          <p:cNvSpPr txBox="1"/>
          <p:nvPr/>
        </p:nvSpPr>
        <p:spPr>
          <a:xfrm>
            <a:off x="7406640" y="3319272"/>
            <a:ext cx="3697800" cy="11886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00"/>
              </a:buClr>
              <a:buSzPts val="1700"/>
              <a:buFont typeface="Arial"/>
              <a:buNone/>
            </a:pPr>
            <a:r>
              <a:rPr b="0" i="0" lang="en-US" sz="1700" u="none" cap="none" strike="noStrike">
                <a:solidFill>
                  <a:srgbClr val="1B2440"/>
                </a:solidFill>
                <a:latin typeface="Nunito Sans"/>
                <a:ea typeface="Nunito Sans"/>
                <a:cs typeface="Nunito Sans"/>
                <a:sym typeface="Nunito Sans"/>
              </a:rPr>
              <a:t>only one person said yes: about half of all dates</a:t>
            </a:r>
            <a:endParaRPr/>
          </a:p>
        </p:txBody>
      </p:sp>
      <p:sp>
        <p:nvSpPr>
          <p:cNvPr id="348" name="Google Shape;348;p10"/>
          <p:cNvSpPr/>
          <p:nvPr/>
        </p:nvSpPr>
        <p:spPr>
          <a:xfrm>
            <a:off x="5166360" y="4672584"/>
            <a:ext cx="6212400" cy="1188600"/>
          </a:xfrm>
          <a:prstGeom prst="roundRect">
            <a:avLst>
              <a:gd fmla="val 9000" name="adj"/>
            </a:avLst>
          </a:prstGeom>
          <a:solidFill>
            <a:srgbClr val="FFFFFF"/>
          </a:solidFill>
          <a:ln cap="rnd" cmpd="sng" w="12700">
            <a:solidFill>
              <a:srgbClr val="EADFD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9" name="Google Shape;349;p10"/>
          <p:cNvSpPr/>
          <p:nvPr/>
        </p:nvSpPr>
        <p:spPr>
          <a:xfrm>
            <a:off x="5486400" y="5102352"/>
            <a:ext cx="329100" cy="3291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0" name="Google Shape;350;p10"/>
          <p:cNvSpPr txBox="1"/>
          <p:nvPr/>
        </p:nvSpPr>
        <p:spPr>
          <a:xfrm>
            <a:off x="6035040" y="4672584"/>
            <a:ext cx="1371600" cy="118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1B2440"/>
                </a:solidFill>
                <a:latin typeface="Nunito"/>
                <a:ea typeface="Nunito"/>
                <a:cs typeface="Nunito"/>
                <a:sym typeface="Nunito"/>
              </a:rPr>
              <a:t>33</a:t>
            </a:r>
            <a:endParaRPr/>
          </a:p>
        </p:txBody>
      </p:sp>
      <p:sp>
        <p:nvSpPr>
          <p:cNvPr id="351" name="Google Shape;351;p10"/>
          <p:cNvSpPr txBox="1"/>
          <p:nvPr/>
        </p:nvSpPr>
        <p:spPr>
          <a:xfrm>
            <a:off x="7406640" y="4672584"/>
            <a:ext cx="3697800" cy="11886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00"/>
              </a:buClr>
              <a:buSzPts val="1700"/>
              <a:buFont typeface="Arial"/>
              <a:buNone/>
            </a:pPr>
            <a:r>
              <a:rPr b="0" i="0" lang="en-US" sz="1700" u="none" cap="none" strike="noStrike">
                <a:solidFill>
                  <a:srgbClr val="1B2440"/>
                </a:solidFill>
                <a:latin typeface="Nunito Sans"/>
                <a:ea typeface="Nunito Sans"/>
                <a:cs typeface="Nunito Sans"/>
                <a:sym typeface="Nunito Sans"/>
              </a:rPr>
              <a:t>neither person said yes</a:t>
            </a:r>
            <a:endParaRPr/>
          </a:p>
        </p:txBody>
      </p:sp>
      <p:sp>
        <p:nvSpPr>
          <p:cNvPr id="352" name="Google Shape;352;p10"/>
          <p:cNvSpPr/>
          <p:nvPr/>
        </p:nvSpPr>
        <p:spPr>
          <a:xfrm>
            <a:off x="812800" y="6289080"/>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4,184 dates from 21 events at Columbia, 2002–2004 · match = both people said yes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357" name="Shape 357"/>
        <p:cNvGrpSpPr/>
        <p:nvPr/>
      </p:nvGrpSpPr>
      <p:grpSpPr>
        <a:xfrm>
          <a:off x="0" y="0"/>
          <a:ext cx="0" cy="0"/>
          <a:chOff x="0" y="0"/>
          <a:chExt cx="0" cy="0"/>
        </a:xfrm>
      </p:grpSpPr>
      <p:pic>
        <p:nvPicPr>
          <p:cNvPr id="358" name="Google Shape;358;p11"/>
          <p:cNvPicPr preferRelativeResize="0"/>
          <p:nvPr/>
        </p:nvPicPr>
        <p:blipFill>
          <a:blip r:embed="rId3">
            <a:alphaModFix/>
          </a:blip>
          <a:stretch>
            <a:fillRect/>
          </a:stretch>
        </p:blipFill>
        <p:spPr>
          <a:xfrm>
            <a:off x="152400" y="0"/>
            <a:ext cx="6353578" cy="3673151"/>
          </a:xfrm>
          <a:prstGeom prst="rect">
            <a:avLst/>
          </a:prstGeom>
          <a:noFill/>
          <a:ln>
            <a:noFill/>
          </a:ln>
        </p:spPr>
      </p:pic>
      <p:pic>
        <p:nvPicPr>
          <p:cNvPr id="359" name="Google Shape;359;p11"/>
          <p:cNvPicPr preferRelativeResize="0"/>
          <p:nvPr/>
        </p:nvPicPr>
        <p:blipFill>
          <a:blip r:embed="rId4">
            <a:alphaModFix/>
          </a:blip>
          <a:stretch>
            <a:fillRect/>
          </a:stretch>
        </p:blipFill>
        <p:spPr>
          <a:xfrm>
            <a:off x="6242364" y="0"/>
            <a:ext cx="5764762" cy="3332750"/>
          </a:xfrm>
          <a:prstGeom prst="rect">
            <a:avLst/>
          </a:prstGeom>
          <a:noFill/>
          <a:ln>
            <a:noFill/>
          </a:ln>
        </p:spPr>
      </p:pic>
      <p:pic>
        <p:nvPicPr>
          <p:cNvPr id="360" name="Google Shape;360;p11"/>
          <p:cNvPicPr preferRelativeResize="0"/>
          <p:nvPr/>
        </p:nvPicPr>
        <p:blipFill>
          <a:blip r:embed="rId5">
            <a:alphaModFix/>
          </a:blip>
          <a:stretch>
            <a:fillRect/>
          </a:stretch>
        </p:blipFill>
        <p:spPr>
          <a:xfrm>
            <a:off x="41900" y="3878900"/>
            <a:ext cx="6574565" cy="2979100"/>
          </a:xfrm>
          <a:prstGeom prst="rect">
            <a:avLst/>
          </a:prstGeom>
          <a:noFill/>
          <a:ln>
            <a:noFill/>
          </a:ln>
        </p:spPr>
      </p:pic>
      <p:pic>
        <p:nvPicPr>
          <p:cNvPr id="361" name="Google Shape;361;p11"/>
          <p:cNvPicPr preferRelativeResize="0"/>
          <p:nvPr/>
        </p:nvPicPr>
        <p:blipFill>
          <a:blip r:embed="rId6">
            <a:alphaModFix/>
          </a:blip>
          <a:stretch>
            <a:fillRect/>
          </a:stretch>
        </p:blipFill>
        <p:spPr>
          <a:xfrm>
            <a:off x="5232150" y="4224250"/>
            <a:ext cx="6959852" cy="25215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366" name="Shape 366"/>
        <p:cNvGrpSpPr/>
        <p:nvPr/>
      </p:nvGrpSpPr>
      <p:grpSpPr>
        <a:xfrm>
          <a:off x="0" y="0"/>
          <a:ext cx="0" cy="0"/>
          <a:chOff x="0" y="0"/>
          <a:chExt cx="0" cy="0"/>
        </a:xfrm>
      </p:grpSpPr>
      <p:sp>
        <p:nvSpPr>
          <p:cNvPr id="367" name="Google Shape;367;p12"/>
          <p:cNvSpPr/>
          <p:nvPr/>
        </p:nvSpPr>
        <p:spPr>
          <a:xfrm>
            <a:off x="812800" y="812800"/>
            <a:ext cx="78450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2 · THE DATASET</a:t>
            </a:r>
            <a:endParaRPr b="0" i="0" sz="1200" u="none" cap="none" strike="noStrike">
              <a:solidFill>
                <a:schemeClr val="dk1"/>
              </a:solidFill>
              <a:latin typeface="Calibri"/>
              <a:ea typeface="Calibri"/>
              <a:cs typeface="Calibri"/>
              <a:sym typeface="Calibri"/>
            </a:endParaRPr>
          </a:p>
        </p:txBody>
      </p:sp>
      <p:sp>
        <p:nvSpPr>
          <p:cNvPr id="368" name="Google Shape;368;p12"/>
          <p:cNvSpPr/>
          <p:nvPr/>
        </p:nvSpPr>
        <p:spPr>
          <a:xfrm>
            <a:off x="812800" y="1203920"/>
            <a:ext cx="80736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At each event, everyone meets everyone</a:t>
            </a:r>
            <a:endParaRPr b="0" i="0" sz="3200" u="none" cap="none" strike="noStrike">
              <a:solidFill>
                <a:schemeClr val="dk1"/>
              </a:solidFill>
              <a:latin typeface="Calibri"/>
              <a:ea typeface="Calibri"/>
              <a:cs typeface="Calibri"/>
              <a:sym typeface="Calibri"/>
            </a:endParaRPr>
          </a:p>
        </p:txBody>
      </p:sp>
      <p:sp>
        <p:nvSpPr>
          <p:cNvPr id="369" name="Google Shape;369;p12"/>
          <p:cNvSpPr/>
          <p:nvPr/>
        </p:nvSpPr>
        <p:spPr>
          <a:xfrm>
            <a:off x="812800" y="5335191"/>
            <a:ext cx="177900" cy="177900"/>
          </a:xfrm>
          <a:prstGeom prst="roundRect">
            <a:avLst>
              <a:gd fmla="val 50000" name="adj"/>
            </a:avLst>
          </a:prstGeom>
          <a:solidFill>
            <a:srgbClr val="F2A7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2"/>
          <p:cNvSpPr/>
          <p:nvPr/>
        </p:nvSpPr>
        <p:spPr>
          <a:xfrm>
            <a:off x="1066800" y="5308550"/>
            <a:ext cx="6630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women</a:t>
            </a:r>
            <a:endParaRPr b="0" i="0" sz="1300" u="none" cap="none" strike="noStrike">
              <a:solidFill>
                <a:schemeClr val="dk1"/>
              </a:solidFill>
              <a:latin typeface="Calibri"/>
              <a:ea typeface="Calibri"/>
              <a:cs typeface="Calibri"/>
              <a:sym typeface="Calibri"/>
            </a:endParaRPr>
          </a:p>
        </p:txBody>
      </p:sp>
      <p:sp>
        <p:nvSpPr>
          <p:cNvPr id="371" name="Google Shape;371;p12"/>
          <p:cNvSpPr/>
          <p:nvPr/>
        </p:nvSpPr>
        <p:spPr>
          <a:xfrm>
            <a:off x="1873200" y="5335191"/>
            <a:ext cx="177900" cy="177900"/>
          </a:xfrm>
          <a:prstGeom prst="roundRect">
            <a:avLst>
              <a:gd fmla="val 50000" name="adj"/>
            </a:avLst>
          </a:prstGeom>
          <a:solidFill>
            <a:srgbClr val="A9C1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2"/>
          <p:cNvSpPr/>
          <p:nvPr/>
        </p:nvSpPr>
        <p:spPr>
          <a:xfrm>
            <a:off x="2127200" y="5308550"/>
            <a:ext cx="3876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men</a:t>
            </a:r>
            <a:endParaRPr b="0" i="0" sz="1300" u="none" cap="none" strike="noStrike">
              <a:solidFill>
                <a:schemeClr val="dk1"/>
              </a:solidFill>
              <a:latin typeface="Calibri"/>
              <a:ea typeface="Calibri"/>
              <a:cs typeface="Calibri"/>
              <a:sym typeface="Calibri"/>
            </a:endParaRPr>
          </a:p>
        </p:txBody>
      </p:sp>
      <p:sp>
        <p:nvSpPr>
          <p:cNvPr id="373" name="Google Shape;373;p12"/>
          <p:cNvSpPr/>
          <p:nvPr/>
        </p:nvSpPr>
        <p:spPr>
          <a:xfrm>
            <a:off x="2704207" y="5405041"/>
            <a:ext cx="254100" cy="38100"/>
          </a:xfrm>
          <a:prstGeom prst="roundRect">
            <a:avLst>
              <a:gd fmla="val 50000" name="adj"/>
            </a:avLst>
          </a:prstGeom>
          <a:solidFill>
            <a:srgbClr val="E060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2"/>
          <p:cNvSpPr/>
          <p:nvPr/>
        </p:nvSpPr>
        <p:spPr>
          <a:xfrm>
            <a:off x="3034407" y="5308550"/>
            <a:ext cx="19707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both said yes: a match</a:t>
            </a:r>
            <a:endParaRPr b="0" i="0" sz="1300" u="none" cap="none" strike="noStrike">
              <a:solidFill>
                <a:schemeClr val="dk1"/>
              </a:solidFill>
              <a:latin typeface="Calibri"/>
              <a:ea typeface="Calibri"/>
              <a:cs typeface="Calibri"/>
              <a:sym typeface="Calibri"/>
            </a:endParaRPr>
          </a:p>
        </p:txBody>
      </p:sp>
      <p:sp>
        <p:nvSpPr>
          <p:cNvPr id="375" name="Google Shape;375;p12"/>
          <p:cNvSpPr/>
          <p:nvPr/>
        </p:nvSpPr>
        <p:spPr>
          <a:xfrm>
            <a:off x="8886379" y="1419920"/>
            <a:ext cx="2567700" cy="533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440"/>
              </a:buClr>
              <a:buSzPts val="4000"/>
              <a:buFont typeface="Nunito"/>
              <a:buNone/>
            </a:pPr>
            <a:r>
              <a:rPr b="1" i="0" lang="en-US" sz="4000" u="none" cap="none" strike="noStrike">
                <a:solidFill>
                  <a:srgbClr val="1B2440"/>
                </a:solidFill>
                <a:latin typeface="Nunito"/>
                <a:ea typeface="Nunito"/>
                <a:cs typeface="Nunito"/>
                <a:sym typeface="Nunito"/>
              </a:rPr>
              <a:t>551</a:t>
            </a:r>
            <a:endParaRPr b="0" i="0" sz="4000" u="none" cap="none" strike="noStrike">
              <a:solidFill>
                <a:schemeClr val="dk1"/>
              </a:solidFill>
              <a:latin typeface="Calibri"/>
              <a:ea typeface="Calibri"/>
              <a:cs typeface="Calibri"/>
              <a:sym typeface="Calibri"/>
            </a:endParaRPr>
          </a:p>
        </p:txBody>
      </p:sp>
      <p:sp>
        <p:nvSpPr>
          <p:cNvPr id="376" name="Google Shape;376;p12"/>
          <p:cNvSpPr/>
          <p:nvPr/>
        </p:nvSpPr>
        <p:spPr>
          <a:xfrm>
            <a:off x="8886379" y="1953320"/>
            <a:ext cx="2567700" cy="274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400"/>
              <a:buFont typeface="Nunito Sans"/>
              <a:buNone/>
            </a:pPr>
            <a:r>
              <a:rPr b="0" i="0" lang="en-US" sz="1400" u="none" cap="none" strike="noStrike">
                <a:solidFill>
                  <a:srgbClr val="4A5163"/>
                </a:solidFill>
                <a:latin typeface="Nunito Sans"/>
                <a:ea typeface="Nunito Sans"/>
                <a:cs typeface="Nunito Sans"/>
                <a:sym typeface="Nunito Sans"/>
              </a:rPr>
              <a:t>people: 274 women, 277 men</a:t>
            </a:r>
            <a:endParaRPr b="0" i="0" sz="1400" u="none" cap="none" strike="noStrike">
              <a:solidFill>
                <a:schemeClr val="dk1"/>
              </a:solidFill>
              <a:latin typeface="Calibri"/>
              <a:ea typeface="Calibri"/>
              <a:cs typeface="Calibri"/>
              <a:sym typeface="Calibri"/>
            </a:endParaRPr>
          </a:p>
        </p:txBody>
      </p:sp>
      <p:sp>
        <p:nvSpPr>
          <p:cNvPr id="377" name="Google Shape;377;p12"/>
          <p:cNvSpPr/>
          <p:nvPr/>
        </p:nvSpPr>
        <p:spPr>
          <a:xfrm>
            <a:off x="8886379" y="2430810"/>
            <a:ext cx="2567700" cy="533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440"/>
              </a:buClr>
              <a:buSzPts val="4000"/>
              <a:buFont typeface="Nunito"/>
              <a:buNone/>
            </a:pPr>
            <a:r>
              <a:rPr b="1" i="0" lang="en-US" sz="4000" u="none" cap="none" strike="noStrike">
                <a:solidFill>
                  <a:srgbClr val="1B2440"/>
                </a:solidFill>
                <a:latin typeface="Nunito"/>
                <a:ea typeface="Nunito"/>
                <a:cs typeface="Nunito"/>
                <a:sym typeface="Nunito"/>
              </a:rPr>
              <a:t>21</a:t>
            </a:r>
            <a:endParaRPr b="0" i="0" sz="4000" u="none" cap="none" strike="noStrike">
              <a:solidFill>
                <a:schemeClr val="dk1"/>
              </a:solidFill>
              <a:latin typeface="Calibri"/>
              <a:ea typeface="Calibri"/>
              <a:cs typeface="Calibri"/>
              <a:sym typeface="Calibri"/>
            </a:endParaRPr>
          </a:p>
        </p:txBody>
      </p:sp>
      <p:sp>
        <p:nvSpPr>
          <p:cNvPr id="378" name="Google Shape;378;p12"/>
          <p:cNvSpPr/>
          <p:nvPr/>
        </p:nvSpPr>
        <p:spPr>
          <a:xfrm>
            <a:off x="8886379" y="2964210"/>
            <a:ext cx="2567700" cy="274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400"/>
              <a:buFont typeface="Nunito Sans"/>
              <a:buNone/>
            </a:pPr>
            <a:r>
              <a:rPr b="0" i="0" lang="en-US" sz="1400" u="none" cap="none" strike="noStrike">
                <a:solidFill>
                  <a:srgbClr val="4A5163"/>
                </a:solidFill>
                <a:latin typeface="Nunito Sans"/>
                <a:ea typeface="Nunito Sans"/>
                <a:cs typeface="Nunito Sans"/>
                <a:sym typeface="Nunito Sans"/>
              </a:rPr>
              <a:t>events of 10 to 44 people</a:t>
            </a:r>
            <a:endParaRPr b="0" i="0" sz="1400" u="none" cap="none" strike="noStrike">
              <a:solidFill>
                <a:schemeClr val="dk1"/>
              </a:solidFill>
              <a:latin typeface="Calibri"/>
              <a:ea typeface="Calibri"/>
              <a:cs typeface="Calibri"/>
              <a:sym typeface="Calibri"/>
            </a:endParaRPr>
          </a:p>
        </p:txBody>
      </p:sp>
      <p:sp>
        <p:nvSpPr>
          <p:cNvPr id="379" name="Google Shape;379;p12"/>
          <p:cNvSpPr/>
          <p:nvPr/>
        </p:nvSpPr>
        <p:spPr>
          <a:xfrm>
            <a:off x="8886379" y="3441700"/>
            <a:ext cx="2567700" cy="533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440"/>
              </a:buClr>
              <a:buSzPts val="4000"/>
              <a:buFont typeface="Nunito"/>
              <a:buNone/>
            </a:pPr>
            <a:r>
              <a:rPr b="1" i="0" lang="en-US" sz="4000" u="none" cap="none" strike="noStrike">
                <a:solidFill>
                  <a:srgbClr val="1B2440"/>
                </a:solidFill>
                <a:latin typeface="Nunito"/>
                <a:ea typeface="Nunito"/>
                <a:cs typeface="Nunito"/>
                <a:sym typeface="Nunito"/>
              </a:rPr>
              <a:t>4,184</a:t>
            </a:r>
            <a:endParaRPr b="0" i="0" sz="4000" u="none" cap="none" strike="noStrike">
              <a:solidFill>
                <a:schemeClr val="dk1"/>
              </a:solidFill>
              <a:latin typeface="Calibri"/>
              <a:ea typeface="Calibri"/>
              <a:cs typeface="Calibri"/>
              <a:sym typeface="Calibri"/>
            </a:endParaRPr>
          </a:p>
        </p:txBody>
      </p:sp>
      <p:sp>
        <p:nvSpPr>
          <p:cNvPr id="380" name="Google Shape;380;p12"/>
          <p:cNvSpPr/>
          <p:nvPr/>
        </p:nvSpPr>
        <p:spPr>
          <a:xfrm>
            <a:off x="8886379" y="3975100"/>
            <a:ext cx="2567700" cy="274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400"/>
              <a:buFont typeface="Nunito Sans"/>
              <a:buNone/>
            </a:pPr>
            <a:r>
              <a:rPr b="0" i="0" lang="en-US" sz="1400" u="none" cap="none" strike="noStrike">
                <a:solidFill>
                  <a:srgbClr val="4A5163"/>
                </a:solidFill>
                <a:latin typeface="Nunito Sans"/>
                <a:ea typeface="Nunito Sans"/>
                <a:cs typeface="Nunito Sans"/>
                <a:sym typeface="Nunito Sans"/>
              </a:rPr>
              <a:t>woman–man pairs</a:t>
            </a:r>
            <a:endParaRPr b="0" i="0" sz="1400" u="none" cap="none" strike="noStrike">
              <a:solidFill>
                <a:schemeClr val="dk1"/>
              </a:solidFill>
              <a:latin typeface="Calibri"/>
              <a:ea typeface="Calibri"/>
              <a:cs typeface="Calibri"/>
              <a:sym typeface="Calibri"/>
            </a:endParaRPr>
          </a:p>
        </p:txBody>
      </p:sp>
      <p:sp>
        <p:nvSpPr>
          <p:cNvPr id="381" name="Google Shape;381;p12"/>
          <p:cNvSpPr/>
          <p:nvPr/>
        </p:nvSpPr>
        <p:spPr>
          <a:xfrm>
            <a:off x="8886379" y="4452590"/>
            <a:ext cx="2567700" cy="533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23A55"/>
              </a:buClr>
              <a:buSzPts val="4000"/>
              <a:buFont typeface="Nunito"/>
              <a:buNone/>
            </a:pPr>
            <a:r>
              <a:rPr b="1" i="0" lang="en-US" sz="4000" u="none" cap="none" strike="noStrike">
                <a:solidFill>
                  <a:srgbClr val="B23A55"/>
                </a:solidFill>
                <a:latin typeface="Nunito"/>
                <a:ea typeface="Nunito"/>
                <a:cs typeface="Nunito"/>
                <a:sym typeface="Nunito"/>
              </a:rPr>
              <a:t>16.5%</a:t>
            </a:r>
            <a:endParaRPr b="0" i="0" sz="4000" u="none" cap="none" strike="noStrike">
              <a:solidFill>
                <a:schemeClr val="dk1"/>
              </a:solidFill>
              <a:latin typeface="Calibri"/>
              <a:ea typeface="Calibri"/>
              <a:cs typeface="Calibri"/>
              <a:sym typeface="Calibri"/>
            </a:endParaRPr>
          </a:p>
        </p:txBody>
      </p:sp>
      <p:sp>
        <p:nvSpPr>
          <p:cNvPr id="382" name="Google Shape;382;p12"/>
          <p:cNvSpPr/>
          <p:nvPr/>
        </p:nvSpPr>
        <p:spPr>
          <a:xfrm>
            <a:off x="8886379" y="4985990"/>
            <a:ext cx="2567700" cy="274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400"/>
              <a:buFont typeface="Nunito Sans"/>
              <a:buNone/>
            </a:pPr>
            <a:r>
              <a:rPr b="0" i="0" lang="en-US" sz="1400" u="none" cap="none" strike="noStrike">
                <a:solidFill>
                  <a:srgbClr val="4A5163"/>
                </a:solidFill>
                <a:latin typeface="Nunito Sans"/>
                <a:ea typeface="Nunito Sans"/>
                <a:cs typeface="Nunito Sans"/>
                <a:sym typeface="Nunito Sans"/>
              </a:rPr>
              <a:t>of pairs were a match</a:t>
            </a:r>
            <a:endParaRPr b="0" i="0" sz="1400" u="none" cap="none" strike="noStrike">
              <a:solidFill>
                <a:schemeClr val="dk1"/>
              </a:solidFill>
              <a:latin typeface="Calibri"/>
              <a:ea typeface="Calibri"/>
              <a:cs typeface="Calibri"/>
              <a:sym typeface="Calibri"/>
            </a:endParaRPr>
          </a:p>
        </p:txBody>
      </p:sp>
      <p:sp>
        <p:nvSpPr>
          <p:cNvPr id="383" name="Google Shape;383;p12"/>
          <p:cNvSpPr/>
          <p:nvPr/>
        </p:nvSpPr>
        <p:spPr>
          <a:xfrm>
            <a:off x="812800" y="6289080"/>
            <a:ext cx="65406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10</a:t>
            </a:r>
            <a:endParaRPr b="0" i="0" sz="1200" u="none" cap="none" strike="noStrike">
              <a:solidFill>
                <a:schemeClr val="dk1"/>
              </a:solidFill>
              <a:latin typeface="Calibri"/>
              <a:ea typeface="Calibri"/>
              <a:cs typeface="Calibri"/>
              <a:sym typeface="Calibri"/>
            </a:endParaRPr>
          </a:p>
        </p:txBody>
      </p:sp>
      <p:pic>
        <p:nvPicPr>
          <p:cNvPr id="384" name="Google Shape;384;p12" title="edited.png"/>
          <p:cNvPicPr preferRelativeResize="0"/>
          <p:nvPr/>
        </p:nvPicPr>
        <p:blipFill rotWithShape="1">
          <a:blip r:embed="rId3">
            <a:alphaModFix/>
          </a:blip>
          <a:srcRect b="5088" l="2281" r="3085" t="4709"/>
          <a:stretch/>
        </p:blipFill>
        <p:spPr>
          <a:xfrm>
            <a:off x="812800" y="2115775"/>
            <a:ext cx="4915981" cy="28702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389" name="Shape 389"/>
        <p:cNvGrpSpPr/>
        <p:nvPr/>
      </p:nvGrpSpPr>
      <p:grpSpPr>
        <a:xfrm>
          <a:off x="0" y="0"/>
          <a:ext cx="0" cy="0"/>
          <a:chOff x="0" y="0"/>
          <a:chExt cx="0" cy="0"/>
        </a:xfrm>
      </p:grpSpPr>
      <p:sp>
        <p:nvSpPr>
          <p:cNvPr id="390" name="Google Shape;390;p13"/>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2 · DATA CLEANING</a:t>
            </a:r>
            <a:endParaRPr b="0" i="0" sz="1200" u="none" cap="none" strike="noStrike">
              <a:solidFill>
                <a:schemeClr val="dk1"/>
              </a:solidFill>
              <a:latin typeface="Calibri"/>
              <a:ea typeface="Calibri"/>
              <a:cs typeface="Calibri"/>
              <a:sym typeface="Calibri"/>
            </a:endParaRPr>
          </a:p>
        </p:txBody>
      </p:sp>
      <p:sp>
        <p:nvSpPr>
          <p:cNvPr id="391" name="Google Shape;391;p13"/>
          <p:cNvSpPr/>
          <p:nvPr/>
        </p:nvSpPr>
        <p:spPr>
          <a:xfrm>
            <a:off x="812800" y="1229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From 8,378 date records to 4,184 pairs</a:t>
            </a:r>
            <a:endParaRPr b="0" i="0" sz="3200" u="none" cap="none" strike="noStrike">
              <a:solidFill>
                <a:schemeClr val="dk1"/>
              </a:solidFill>
              <a:latin typeface="Calibri"/>
              <a:ea typeface="Calibri"/>
              <a:cs typeface="Calibri"/>
              <a:sym typeface="Calibri"/>
            </a:endParaRPr>
          </a:p>
        </p:txBody>
      </p:sp>
      <p:sp>
        <p:nvSpPr>
          <p:cNvPr id="392" name="Google Shape;392;p13"/>
          <p:cNvSpPr/>
          <p:nvPr/>
        </p:nvSpPr>
        <p:spPr>
          <a:xfrm>
            <a:off x="819150" y="1885900"/>
            <a:ext cx="3187800" cy="4170000"/>
          </a:xfrm>
          <a:prstGeom prst="roundRect">
            <a:avLst>
              <a:gd fmla="val 692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400"/>
          </a:p>
        </p:txBody>
      </p:sp>
      <p:pic>
        <p:nvPicPr>
          <p:cNvPr descr="Wrench" id="393" name="Google Shape;393;p13"/>
          <p:cNvPicPr preferRelativeResize="0"/>
          <p:nvPr/>
        </p:nvPicPr>
        <p:blipFill rotWithShape="1">
          <a:blip r:embed="rId3">
            <a:alphaModFix/>
          </a:blip>
          <a:srcRect b="0" l="0" r="0" t="0"/>
          <a:stretch/>
        </p:blipFill>
        <p:spPr>
          <a:xfrm>
            <a:off x="1028700" y="2095450"/>
            <a:ext cx="330200" cy="330200"/>
          </a:xfrm>
          <a:prstGeom prst="rect">
            <a:avLst/>
          </a:prstGeom>
          <a:noFill/>
          <a:ln>
            <a:noFill/>
          </a:ln>
        </p:spPr>
      </p:pic>
      <p:sp>
        <p:nvSpPr>
          <p:cNvPr id="394" name="Google Shape;394;p13"/>
          <p:cNvSpPr/>
          <p:nvPr/>
        </p:nvSpPr>
        <p:spPr>
          <a:xfrm>
            <a:off x="1028700" y="2514550"/>
            <a:ext cx="2851658" cy="2844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700"/>
              <a:buFont typeface="Nunito"/>
              <a:buNone/>
            </a:pPr>
            <a:r>
              <a:rPr b="1" i="0" lang="en-US" sz="2400" u="none" cap="none" strike="noStrike">
                <a:solidFill>
                  <a:srgbClr val="1B2440"/>
                </a:solidFill>
                <a:latin typeface="Nunito"/>
                <a:ea typeface="Nunito"/>
                <a:cs typeface="Nunito"/>
                <a:sym typeface="Nunito"/>
              </a:rPr>
              <a:t>Remove</a:t>
            </a:r>
            <a:endParaRPr b="0" i="0" sz="2400" u="none" cap="none" strike="noStrike">
              <a:solidFill>
                <a:schemeClr val="dk1"/>
              </a:solidFill>
              <a:latin typeface="Calibri"/>
              <a:ea typeface="Calibri"/>
              <a:cs typeface="Calibri"/>
              <a:sym typeface="Calibri"/>
            </a:endParaRPr>
          </a:p>
        </p:txBody>
      </p:sp>
      <p:sp>
        <p:nvSpPr>
          <p:cNvPr id="395" name="Google Shape;395;p13"/>
          <p:cNvSpPr/>
          <p:nvPr/>
        </p:nvSpPr>
        <p:spPr>
          <a:xfrm>
            <a:off x="994538" y="3213014"/>
            <a:ext cx="2851500" cy="1564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2400" u="none" cap="none" strike="noStrike">
                <a:solidFill>
                  <a:srgbClr val="4A5163"/>
                </a:solidFill>
                <a:latin typeface="Nunito Sans"/>
                <a:ea typeface="Nunito Sans"/>
                <a:cs typeface="Nunito Sans"/>
                <a:sym typeface="Nunito Sans"/>
              </a:rPr>
              <a:t>Dropped 10 date records with no partner id</a:t>
            </a:r>
            <a:endParaRPr b="0" i="0" sz="2400" u="none" cap="none" strike="noStrike">
              <a:solidFill>
                <a:schemeClr val="dk1"/>
              </a:solidFill>
              <a:latin typeface="Calibri"/>
              <a:ea typeface="Calibri"/>
              <a:cs typeface="Calibri"/>
              <a:sym typeface="Calibri"/>
            </a:endParaRPr>
          </a:p>
        </p:txBody>
      </p:sp>
      <p:pic>
        <p:nvPicPr>
          <p:cNvPr descr="arrow-right" id="396" name="Google Shape;396;p13"/>
          <p:cNvPicPr preferRelativeResize="0"/>
          <p:nvPr/>
        </p:nvPicPr>
        <p:blipFill rotWithShape="1">
          <a:blip r:embed="rId4">
            <a:alphaModFix/>
          </a:blip>
          <a:srcRect b="0" l="0" r="0" t="0"/>
          <a:stretch/>
        </p:blipFill>
        <p:spPr>
          <a:xfrm>
            <a:off x="4114850" y="3634441"/>
            <a:ext cx="279400" cy="177800"/>
          </a:xfrm>
          <a:prstGeom prst="rect">
            <a:avLst/>
          </a:prstGeom>
          <a:noFill/>
          <a:ln>
            <a:noFill/>
          </a:ln>
        </p:spPr>
      </p:pic>
      <p:sp>
        <p:nvSpPr>
          <p:cNvPr id="397" name="Google Shape;397;p13"/>
          <p:cNvSpPr/>
          <p:nvPr/>
        </p:nvSpPr>
        <p:spPr>
          <a:xfrm>
            <a:off x="4502150" y="1910413"/>
            <a:ext cx="3187800" cy="4170000"/>
          </a:xfrm>
          <a:prstGeom prst="roundRect">
            <a:avLst>
              <a:gd fmla="val 692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200"/>
          </a:p>
        </p:txBody>
      </p:sp>
      <p:pic>
        <p:nvPicPr>
          <p:cNvPr descr="Users" id="398" name="Google Shape;398;p13"/>
          <p:cNvPicPr preferRelativeResize="0"/>
          <p:nvPr/>
        </p:nvPicPr>
        <p:blipFill rotWithShape="1">
          <a:blip r:embed="rId5">
            <a:alphaModFix/>
          </a:blip>
          <a:srcRect b="0" l="0" r="0" t="0"/>
          <a:stretch/>
        </p:blipFill>
        <p:spPr>
          <a:xfrm>
            <a:off x="4711700" y="2095450"/>
            <a:ext cx="330200" cy="330200"/>
          </a:xfrm>
          <a:prstGeom prst="rect">
            <a:avLst/>
          </a:prstGeom>
          <a:noFill/>
          <a:ln>
            <a:noFill/>
          </a:ln>
        </p:spPr>
      </p:pic>
      <p:sp>
        <p:nvSpPr>
          <p:cNvPr id="399" name="Google Shape;399;p13"/>
          <p:cNvSpPr/>
          <p:nvPr/>
        </p:nvSpPr>
        <p:spPr>
          <a:xfrm>
            <a:off x="4711700" y="2514550"/>
            <a:ext cx="2851658" cy="2844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700"/>
              <a:buFont typeface="Nunito"/>
              <a:buNone/>
            </a:pPr>
            <a:r>
              <a:rPr b="1" i="0" lang="en-US" sz="2400" u="none" cap="none" strike="noStrike">
                <a:solidFill>
                  <a:srgbClr val="1B2440"/>
                </a:solidFill>
                <a:latin typeface="Nunito"/>
                <a:ea typeface="Nunito"/>
                <a:cs typeface="Nunito"/>
                <a:sym typeface="Nunito"/>
              </a:rPr>
              <a:t>Pair up</a:t>
            </a:r>
            <a:endParaRPr b="0" i="0" sz="2400" u="none" cap="none" strike="noStrike">
              <a:solidFill>
                <a:schemeClr val="dk1"/>
              </a:solidFill>
              <a:latin typeface="Calibri"/>
              <a:ea typeface="Calibri"/>
              <a:cs typeface="Calibri"/>
              <a:sym typeface="Calibri"/>
            </a:endParaRPr>
          </a:p>
        </p:txBody>
      </p:sp>
      <p:sp>
        <p:nvSpPr>
          <p:cNvPr id="400" name="Google Shape;400;p13"/>
          <p:cNvSpPr/>
          <p:nvPr/>
        </p:nvSpPr>
        <p:spPr>
          <a:xfrm>
            <a:off x="4670300" y="3213028"/>
            <a:ext cx="2851500" cy="1721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2400" u="none" cap="none" strike="noStrike">
                <a:solidFill>
                  <a:srgbClr val="4A5163"/>
                </a:solidFill>
                <a:latin typeface="Nunito Sans"/>
                <a:ea typeface="Nunito Sans"/>
                <a:cs typeface="Nunito Sans"/>
                <a:sym typeface="Nunito Sans"/>
              </a:rPr>
              <a:t>Each date is recorded twice: A rates B, and B rates A. We join them into one row per pair</a:t>
            </a:r>
            <a:endParaRPr b="0" i="0" sz="2400" u="none" cap="none" strike="noStrike">
              <a:solidFill>
                <a:schemeClr val="dk1"/>
              </a:solidFill>
              <a:latin typeface="Calibri"/>
              <a:ea typeface="Calibri"/>
              <a:cs typeface="Calibri"/>
              <a:sym typeface="Calibri"/>
            </a:endParaRPr>
          </a:p>
        </p:txBody>
      </p:sp>
      <p:pic>
        <p:nvPicPr>
          <p:cNvPr descr="arrow-right" id="401" name="Google Shape;401;p13"/>
          <p:cNvPicPr preferRelativeResize="0"/>
          <p:nvPr/>
        </p:nvPicPr>
        <p:blipFill rotWithShape="1">
          <a:blip r:embed="rId4">
            <a:alphaModFix/>
          </a:blip>
          <a:srcRect b="0" l="0" r="0" t="0"/>
          <a:stretch/>
        </p:blipFill>
        <p:spPr>
          <a:xfrm>
            <a:off x="7797850" y="3634441"/>
            <a:ext cx="279400" cy="177800"/>
          </a:xfrm>
          <a:prstGeom prst="rect">
            <a:avLst/>
          </a:prstGeom>
          <a:noFill/>
          <a:ln>
            <a:noFill/>
          </a:ln>
        </p:spPr>
      </p:pic>
      <p:sp>
        <p:nvSpPr>
          <p:cNvPr id="402" name="Google Shape;402;p13"/>
          <p:cNvSpPr/>
          <p:nvPr/>
        </p:nvSpPr>
        <p:spPr>
          <a:xfrm>
            <a:off x="8185150" y="1885900"/>
            <a:ext cx="3187800" cy="4170000"/>
          </a:xfrm>
          <a:prstGeom prst="roundRect">
            <a:avLst>
              <a:gd fmla="val 692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eck" id="403" name="Google Shape;403;p13"/>
          <p:cNvPicPr preferRelativeResize="0"/>
          <p:nvPr/>
        </p:nvPicPr>
        <p:blipFill rotWithShape="1">
          <a:blip r:embed="rId6">
            <a:alphaModFix/>
          </a:blip>
          <a:srcRect b="0" l="0" r="0" t="0"/>
          <a:stretch/>
        </p:blipFill>
        <p:spPr>
          <a:xfrm>
            <a:off x="8394700" y="2095450"/>
            <a:ext cx="330200" cy="330200"/>
          </a:xfrm>
          <a:prstGeom prst="rect">
            <a:avLst/>
          </a:prstGeom>
          <a:noFill/>
          <a:ln>
            <a:noFill/>
          </a:ln>
        </p:spPr>
      </p:pic>
      <p:sp>
        <p:nvSpPr>
          <p:cNvPr id="404" name="Google Shape;404;p13"/>
          <p:cNvSpPr/>
          <p:nvPr/>
        </p:nvSpPr>
        <p:spPr>
          <a:xfrm>
            <a:off x="8394700" y="2514550"/>
            <a:ext cx="2851658" cy="2844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700"/>
              <a:buFont typeface="Nunito"/>
              <a:buNone/>
            </a:pPr>
            <a:r>
              <a:rPr b="1" i="0" lang="en-US" sz="2400" u="none" cap="none" strike="noStrike">
                <a:solidFill>
                  <a:srgbClr val="1B2440"/>
                </a:solidFill>
                <a:latin typeface="Nunito"/>
                <a:ea typeface="Nunito"/>
                <a:cs typeface="Nunito"/>
                <a:sym typeface="Nunito"/>
              </a:rPr>
              <a:t>Check</a:t>
            </a:r>
            <a:endParaRPr b="0" i="0" sz="2400" u="none" cap="none" strike="noStrike">
              <a:solidFill>
                <a:schemeClr val="dk1"/>
              </a:solidFill>
              <a:latin typeface="Calibri"/>
              <a:ea typeface="Calibri"/>
              <a:cs typeface="Calibri"/>
              <a:sym typeface="Calibri"/>
            </a:endParaRPr>
          </a:p>
        </p:txBody>
      </p:sp>
      <p:sp>
        <p:nvSpPr>
          <p:cNvPr id="405" name="Google Shape;405;p13"/>
          <p:cNvSpPr/>
          <p:nvPr/>
        </p:nvSpPr>
        <p:spPr>
          <a:xfrm>
            <a:off x="8353300" y="3250847"/>
            <a:ext cx="2851500" cy="2310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lang="en-US" sz="2400">
                <a:solidFill>
                  <a:srgbClr val="4A5163"/>
                </a:solidFill>
                <a:latin typeface="Nunito Sans"/>
                <a:ea typeface="Nunito Sans"/>
                <a:cs typeface="Nunito Sans"/>
                <a:sym typeface="Nunito Sans"/>
              </a:rPr>
              <a:t>N</a:t>
            </a:r>
            <a:r>
              <a:rPr b="0" i="0" lang="en-US" sz="2400" u="none" cap="none" strike="noStrike">
                <a:solidFill>
                  <a:srgbClr val="4A5163"/>
                </a:solidFill>
                <a:latin typeface="Nunito Sans"/>
                <a:ea typeface="Nunito Sans"/>
                <a:cs typeface="Nunito Sans"/>
                <a:sym typeface="Nunito Sans"/>
              </a:rPr>
              <a:t>o date is duplicated,</a:t>
            </a:r>
            <a:r>
              <a:rPr lang="en-US" sz="2400">
                <a:solidFill>
                  <a:srgbClr val="4A5163"/>
                </a:solidFill>
                <a:latin typeface="Nunito Sans"/>
                <a:ea typeface="Nunito Sans"/>
                <a:cs typeface="Nunito Sans"/>
                <a:sym typeface="Nunito Sans"/>
              </a:rPr>
              <a:t> </a:t>
            </a:r>
            <a:r>
              <a:rPr b="0" i="0" lang="en-US" sz="2400" u="none" cap="none" strike="noStrike">
                <a:solidFill>
                  <a:srgbClr val="4A5163"/>
                </a:solidFill>
                <a:latin typeface="Nunito Sans"/>
                <a:ea typeface="Nunito Sans"/>
                <a:cs typeface="Nunito Sans"/>
                <a:sym typeface="Nunito Sans"/>
              </a:rPr>
              <a:t>every recorded match is two yeses</a:t>
            </a:r>
            <a:endParaRPr b="0" i="0" sz="2400" u="none" cap="none" strike="noStrike">
              <a:solidFill>
                <a:schemeClr val="dk1"/>
              </a:solidFill>
              <a:latin typeface="Calibri"/>
              <a:ea typeface="Calibri"/>
              <a:cs typeface="Calibri"/>
              <a:sym typeface="Calibri"/>
            </a:endParaRPr>
          </a:p>
        </p:txBody>
      </p:sp>
      <p:sp>
        <p:nvSpPr>
          <p:cNvPr id="406" name="Google Shape;406;p13"/>
          <p:cNvSpPr/>
          <p:nvPr/>
        </p:nvSpPr>
        <p:spPr>
          <a:xfrm>
            <a:off x="812800" y="62890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11</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411" name="Shape 411"/>
        <p:cNvGrpSpPr/>
        <p:nvPr/>
      </p:nvGrpSpPr>
      <p:grpSpPr>
        <a:xfrm>
          <a:off x="0" y="0"/>
          <a:ext cx="0" cy="0"/>
          <a:chOff x="0" y="0"/>
          <a:chExt cx="0" cy="0"/>
        </a:xfrm>
      </p:grpSpPr>
      <p:sp>
        <p:nvSpPr>
          <p:cNvPr id="412" name="Google Shape;412;p14"/>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2 · DATA CLEANING</a:t>
            </a:r>
            <a:endParaRPr b="0" i="0" sz="1200" u="none" cap="none" strike="noStrike">
              <a:solidFill>
                <a:schemeClr val="dk1"/>
              </a:solidFill>
              <a:latin typeface="Calibri"/>
              <a:ea typeface="Calibri"/>
              <a:cs typeface="Calibri"/>
              <a:sym typeface="Calibri"/>
            </a:endParaRPr>
          </a:p>
        </p:txBody>
      </p:sp>
      <p:sp>
        <p:nvSpPr>
          <p:cNvPr id="413" name="Google Shape;413;p14"/>
          <p:cNvSpPr/>
          <p:nvPr/>
        </p:nvSpPr>
        <p:spPr>
          <a:xfrm>
            <a:off x="812800" y="1229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Making survey answers comparable</a:t>
            </a:r>
            <a:endParaRPr b="0" i="0" sz="3200" u="none" cap="none" strike="noStrike">
              <a:solidFill>
                <a:schemeClr val="dk1"/>
              </a:solidFill>
              <a:latin typeface="Calibri"/>
              <a:ea typeface="Calibri"/>
              <a:cs typeface="Calibri"/>
              <a:sym typeface="Calibri"/>
            </a:endParaRPr>
          </a:p>
        </p:txBody>
      </p:sp>
      <p:sp>
        <p:nvSpPr>
          <p:cNvPr id="414" name="Google Shape;414;p14"/>
          <p:cNvSpPr/>
          <p:nvPr/>
        </p:nvSpPr>
        <p:spPr>
          <a:xfrm>
            <a:off x="812800" y="1879550"/>
            <a:ext cx="65405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Example answers, made up for illustration</a:t>
            </a:r>
            <a:endParaRPr b="0" i="0" sz="1200" u="none" cap="none" strike="noStrike">
              <a:solidFill>
                <a:schemeClr val="dk1"/>
              </a:solidFill>
              <a:latin typeface="Calibri"/>
              <a:ea typeface="Calibri"/>
              <a:cs typeface="Calibri"/>
              <a:sym typeface="Calibri"/>
            </a:endParaRPr>
          </a:p>
        </p:txBody>
      </p:sp>
      <p:graphicFrame>
        <p:nvGraphicFramePr>
          <p:cNvPr id="415" name="Google Shape;415;p14"/>
          <p:cNvGraphicFramePr/>
          <p:nvPr/>
        </p:nvGraphicFramePr>
        <p:xfrm>
          <a:off x="825500" y="2181771"/>
          <a:ext cx="3000000" cy="3000000"/>
        </p:xfrm>
        <a:graphic>
          <a:graphicData uri="http://schemas.openxmlformats.org/drawingml/2006/table">
            <a:tbl>
              <a:tblPr>
                <a:noFill/>
                <a:tableStyleId>{6CCA55A4-D3DC-4CAC-BE45-3B316C1AA8E1}</a:tableStyleId>
              </a:tblPr>
              <a:tblGrid>
                <a:gridCol w="1647700"/>
                <a:gridCol w="1520950"/>
                <a:gridCol w="1520950"/>
                <a:gridCol w="1647700"/>
              </a:tblGrid>
              <a:tr h="821575">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u="none" cap="none" strike="noStrike">
                          <a:solidFill>
                            <a:srgbClr val="1B2440"/>
                          </a:solidFill>
                          <a:latin typeface="Nunito Sans"/>
                          <a:ea typeface="Nunito Sans"/>
                          <a:cs typeface="Nunito Sans"/>
                          <a:sym typeface="Nunito Sans"/>
                        </a:rPr>
                        <a:t>Trait</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u="none" cap="none" strike="noStrike">
                          <a:solidFill>
                            <a:srgbClr val="1B2440"/>
                          </a:solidFill>
                          <a:latin typeface="Nunito Sans"/>
                          <a:ea typeface="Nunito Sans"/>
                          <a:cs typeface="Nunito Sans"/>
                          <a:sym typeface="Nunito Sans"/>
                        </a:rPr>
                        <a:t>Person A: points of 100 (waves 1–5, 10–21)</a:t>
                      </a:r>
                      <a:endParaRPr sz="1300" u="none" cap="none" strike="noStrike">
                        <a:latin typeface="Nunito Sans"/>
                        <a:ea typeface="Nunito Sans"/>
                        <a:cs typeface="Nunito Sans"/>
                        <a:sym typeface="Nunito Sans"/>
                      </a:endParaRPr>
                    </a:p>
                  </a:txBody>
                  <a:tcPr marT="57775" marB="57775" marR="57775" marL="57775">
                    <a:lnL cap="flat" cmpd="sng" w="12700">
                      <a:solidFill>
                        <a:srgbClr val="BAB7B3"/>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u="none" cap="none" strike="noStrike">
                          <a:solidFill>
                            <a:srgbClr val="1B2440"/>
                          </a:solidFill>
                          <a:latin typeface="Nunito Sans"/>
                          <a:ea typeface="Nunito Sans"/>
                          <a:cs typeface="Nunito Sans"/>
                          <a:sym typeface="Nunito Sans"/>
                        </a:rPr>
                        <a:t>Person B: rating 1–10 (waves 6–9)</a:t>
                      </a:r>
                      <a:endParaRPr sz="1300" u="none" cap="none" strike="noStrike">
                        <a:latin typeface="Nunito Sans"/>
                        <a:ea typeface="Nunito Sans"/>
                        <a:cs typeface="Nunito Sans"/>
                        <a:sym typeface="Nunito Sans"/>
                      </a:endParaRPr>
                    </a:p>
                  </a:txBody>
                  <a:tcPr marT="57775" marB="57775" marR="57775" marL="57775">
                    <a:lnL cap="flat" cmpd="sng" w="12700">
                      <a:solidFill>
                        <a:srgbClr val="BAB7B3"/>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u="none" cap="none" strike="noStrike">
                          <a:solidFill>
                            <a:srgbClr val="1B2440"/>
                          </a:solidFill>
                          <a:latin typeface="Nunito Sans"/>
                          <a:ea typeface="Nunito Sans"/>
                          <a:cs typeface="Nunito Sans"/>
                          <a:sym typeface="Nunito Sans"/>
                        </a:rPr>
                        <a:t>Person B: share of 100</a:t>
                      </a:r>
                      <a:endParaRPr sz="1300" u="none" cap="none" strike="noStrike">
                        <a:latin typeface="Nunito Sans"/>
                        <a:ea typeface="Nunito Sans"/>
                        <a:cs typeface="Nunito Sans"/>
                        <a:sym typeface="Nunito Sans"/>
                      </a:endParaRPr>
                    </a:p>
                  </a:txBody>
                  <a:tcPr marT="57775" marB="57775" marR="57775" marL="57775">
                    <a:lnL cap="flat" cmpd="sng" w="12700">
                      <a:solidFill>
                        <a:srgbClr val="BAB7B3"/>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Attractive</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30</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9</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19.6</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Sincere</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15</a:t>
                      </a:r>
                      <a:endParaRPr sz="1300" u="none" cap="none" strike="noStrike">
                        <a:latin typeface="Nunito Sans"/>
                        <a:ea typeface="Nunito Sans"/>
                        <a:cs typeface="Nunito Sans"/>
                        <a:sym typeface="Nunito Sans"/>
                      </a:endParaRPr>
                    </a:p>
                  </a:txBody>
                  <a:tcPr marT="57775" marB="57775" marR="57775" marL="57775">
                    <a:lnL cap="flat" cmpd="sng" w="12700">
                      <a:solidFill>
                        <a:srgbClr val="C4BCBA"/>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8</a:t>
                      </a:r>
                      <a:endParaRPr sz="1300" u="none" cap="none" strike="noStrike">
                        <a:latin typeface="Nunito Sans"/>
                        <a:ea typeface="Nunito Sans"/>
                        <a:cs typeface="Nunito Sans"/>
                        <a:sym typeface="Nunito Sans"/>
                      </a:endParaRPr>
                    </a:p>
                  </a:txBody>
                  <a:tcPr marT="57775" marB="57775" marR="57775" marL="57775">
                    <a:lnL cap="flat" cmpd="sng" w="12700">
                      <a:solidFill>
                        <a:srgbClr val="C4BCBA"/>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17.4</a:t>
                      </a:r>
                      <a:endParaRPr sz="1300" u="none" cap="none" strike="noStrike">
                        <a:latin typeface="Nunito Sans"/>
                        <a:ea typeface="Nunito Sans"/>
                        <a:cs typeface="Nunito Sans"/>
                        <a:sym typeface="Nunito Sans"/>
                      </a:endParaRPr>
                    </a:p>
                  </a:txBody>
                  <a:tcPr marT="57775" marB="57775" marR="57775" marL="57775">
                    <a:lnL cap="flat" cmpd="sng" w="12700">
                      <a:solidFill>
                        <a:srgbClr val="C4BCBA"/>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Intelligent</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20</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9</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19.6</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Fun</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15</a:t>
                      </a:r>
                      <a:endParaRPr sz="1300" u="none" cap="none" strike="noStrike">
                        <a:latin typeface="Nunito Sans"/>
                        <a:ea typeface="Nunito Sans"/>
                        <a:cs typeface="Nunito Sans"/>
                        <a:sym typeface="Nunito Sans"/>
                      </a:endParaRPr>
                    </a:p>
                  </a:txBody>
                  <a:tcPr marT="57775" marB="57775" marR="57775" marL="57775">
                    <a:lnL cap="flat" cmpd="sng" w="12700">
                      <a:solidFill>
                        <a:srgbClr val="C4BCBA"/>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7</a:t>
                      </a:r>
                      <a:endParaRPr sz="1300" u="none" cap="none" strike="noStrike">
                        <a:latin typeface="Nunito Sans"/>
                        <a:ea typeface="Nunito Sans"/>
                        <a:cs typeface="Nunito Sans"/>
                        <a:sym typeface="Nunito Sans"/>
                      </a:endParaRPr>
                    </a:p>
                  </a:txBody>
                  <a:tcPr marT="57775" marB="57775" marR="57775" marL="57775">
                    <a:lnL cap="flat" cmpd="sng" w="12700">
                      <a:solidFill>
                        <a:srgbClr val="C4BCBA"/>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15.2</a:t>
                      </a:r>
                      <a:endParaRPr sz="1300" u="none" cap="none" strike="noStrike">
                        <a:latin typeface="Nunito Sans"/>
                        <a:ea typeface="Nunito Sans"/>
                        <a:cs typeface="Nunito Sans"/>
                        <a:sym typeface="Nunito Sans"/>
                      </a:endParaRPr>
                    </a:p>
                  </a:txBody>
                  <a:tcPr marT="57775" marB="57775" marR="57775" marL="57775">
                    <a:lnL cap="flat" cmpd="sng" w="12700">
                      <a:solidFill>
                        <a:srgbClr val="C4BCBA"/>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Ambitious</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10</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6</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13.0</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Shared interests</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10</a:t>
                      </a:r>
                      <a:endParaRPr sz="1300" u="none" cap="none" strike="noStrike">
                        <a:latin typeface="Nunito Sans"/>
                        <a:ea typeface="Nunito Sans"/>
                        <a:cs typeface="Nunito Sans"/>
                        <a:sym typeface="Nunito Sans"/>
                      </a:endParaRPr>
                    </a:p>
                  </a:txBody>
                  <a:tcPr marT="57775" marB="57775" marR="57775" marL="57775">
                    <a:lnL cap="flat" cmpd="sng" w="12700">
                      <a:solidFill>
                        <a:srgbClr val="C4BCBA"/>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7</a:t>
                      </a:r>
                      <a:endParaRPr sz="1300" u="none" cap="none" strike="noStrike">
                        <a:latin typeface="Nunito Sans"/>
                        <a:ea typeface="Nunito Sans"/>
                        <a:cs typeface="Nunito Sans"/>
                        <a:sym typeface="Nunito Sans"/>
                      </a:endParaRPr>
                    </a:p>
                  </a:txBody>
                  <a:tcPr marT="57775" marB="57775" marR="57775" marL="57775">
                    <a:lnL cap="flat" cmpd="sng" w="12700">
                      <a:solidFill>
                        <a:srgbClr val="C4BCBA"/>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15.2</a:t>
                      </a:r>
                      <a:endParaRPr sz="1300" u="none" cap="none" strike="noStrike">
                        <a:latin typeface="Nunito Sans"/>
                        <a:ea typeface="Nunito Sans"/>
                        <a:cs typeface="Nunito Sans"/>
                        <a:sym typeface="Nunito Sans"/>
                      </a:endParaRPr>
                    </a:p>
                  </a:txBody>
                  <a:tcPr marT="57775" marB="57775" marR="57775" marL="57775">
                    <a:lnL cap="flat" cmpd="sng" w="12700">
                      <a:solidFill>
                        <a:srgbClr val="C4BCBA"/>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Total</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100</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46</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100</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r>
            </a:tbl>
          </a:graphicData>
        </a:graphic>
      </p:graphicFrame>
      <p:sp>
        <p:nvSpPr>
          <p:cNvPr id="416" name="Google Shape;416;p14"/>
          <p:cNvSpPr/>
          <p:nvPr/>
        </p:nvSpPr>
        <p:spPr>
          <a:xfrm>
            <a:off x="7473950" y="1885900"/>
            <a:ext cx="3898900" cy="1419820"/>
          </a:xfrm>
          <a:prstGeom prst="roundRect">
            <a:avLst>
              <a:gd fmla="val 10287"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4"/>
          <p:cNvSpPr/>
          <p:nvPr/>
        </p:nvSpPr>
        <p:spPr>
          <a:xfrm>
            <a:off x="7683550" y="2439038"/>
            <a:ext cx="3584100" cy="269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600"/>
              <a:buFont typeface="Nunito"/>
              <a:buNone/>
            </a:pPr>
            <a:r>
              <a:rPr b="1" lang="en-US" sz="2000">
                <a:solidFill>
                  <a:srgbClr val="1B2440"/>
                </a:solidFill>
                <a:latin typeface="Nunito"/>
                <a:ea typeface="Nunito"/>
                <a:cs typeface="Nunito"/>
                <a:sym typeface="Nunito"/>
              </a:rPr>
              <a:t>Convert into shares of 100</a:t>
            </a:r>
            <a:endParaRPr b="0" i="0" sz="2000" u="none" cap="none" strike="noStrike">
              <a:solidFill>
                <a:schemeClr val="dk1"/>
              </a:solidFill>
              <a:latin typeface="Calibri"/>
              <a:ea typeface="Calibri"/>
              <a:cs typeface="Calibri"/>
              <a:sym typeface="Calibri"/>
            </a:endParaRPr>
          </a:p>
        </p:txBody>
      </p:sp>
      <p:sp>
        <p:nvSpPr>
          <p:cNvPr id="418" name="Google Shape;418;p14"/>
          <p:cNvSpPr/>
          <p:nvPr/>
        </p:nvSpPr>
        <p:spPr>
          <a:xfrm>
            <a:off x="7473950" y="3445425"/>
            <a:ext cx="3898800" cy="2120100"/>
          </a:xfrm>
          <a:prstGeom prst="roundRect">
            <a:avLst>
              <a:gd fmla="val 7507"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4"/>
          <p:cNvSpPr/>
          <p:nvPr/>
        </p:nvSpPr>
        <p:spPr>
          <a:xfrm>
            <a:off x="7683550" y="3768825"/>
            <a:ext cx="3584100" cy="1650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1" lang="en-US" sz="2000">
                <a:solidFill>
                  <a:schemeClr val="dk1"/>
                </a:solidFill>
                <a:latin typeface="Nunito Sans"/>
                <a:ea typeface="Nunito Sans"/>
                <a:cs typeface="Nunito Sans"/>
                <a:sym typeface="Nunito Sans"/>
              </a:rPr>
              <a:t>Standardized</a:t>
            </a:r>
            <a:endParaRPr b="1" sz="2000">
              <a:solidFill>
                <a:schemeClr val="dk1"/>
              </a:solidFill>
              <a:latin typeface="Nunito Sans"/>
              <a:ea typeface="Nunito Sans"/>
              <a:cs typeface="Nunito Sans"/>
              <a:sym typeface="Nunito Sans"/>
            </a:endParaRPr>
          </a:p>
          <a:p>
            <a:pPr indent="0" lvl="0" marL="0" marR="0" rtl="0" algn="l">
              <a:lnSpc>
                <a:spcPct val="140000"/>
              </a:lnSpc>
              <a:spcBef>
                <a:spcPts val="0"/>
              </a:spcBef>
              <a:spcAft>
                <a:spcPts val="0"/>
              </a:spcAft>
              <a:buClr>
                <a:srgbClr val="4A5163"/>
              </a:buClr>
              <a:buSzPts val="1300"/>
              <a:buFont typeface="Nunito Sans"/>
              <a:buNone/>
            </a:pPr>
            <a:r>
              <a:rPr b="1" lang="en-US" sz="2000">
                <a:solidFill>
                  <a:schemeClr val="dk1"/>
                </a:solidFill>
                <a:latin typeface="Nunito Sans"/>
                <a:ea typeface="Nunito Sans"/>
                <a:cs typeface="Nunito Sans"/>
                <a:sym typeface="Nunito Sans"/>
              </a:rPr>
              <a:t>Six shares always sum to 100 -&gt; drop one in the models</a:t>
            </a:r>
            <a:endParaRPr b="1" sz="2000">
              <a:solidFill>
                <a:schemeClr val="dk1"/>
              </a:solidFill>
              <a:latin typeface="Nunito Sans"/>
              <a:ea typeface="Nunito Sans"/>
              <a:cs typeface="Nunito Sans"/>
              <a:sym typeface="Nunito Sans"/>
            </a:endParaRPr>
          </a:p>
        </p:txBody>
      </p:sp>
      <p:sp>
        <p:nvSpPr>
          <p:cNvPr id="420" name="Google Shape;420;p14"/>
          <p:cNvSpPr/>
          <p:nvPr/>
        </p:nvSpPr>
        <p:spPr>
          <a:xfrm>
            <a:off x="812800" y="62890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12</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425" name="Shape 425"/>
        <p:cNvGrpSpPr/>
        <p:nvPr/>
      </p:nvGrpSpPr>
      <p:grpSpPr>
        <a:xfrm>
          <a:off x="0" y="0"/>
          <a:ext cx="0" cy="0"/>
          <a:chOff x="0" y="0"/>
          <a:chExt cx="0" cy="0"/>
        </a:xfrm>
      </p:grpSpPr>
      <p:sp>
        <p:nvSpPr>
          <p:cNvPr id="426" name="Google Shape;426;p15"/>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2 · COMPATIBILITY MEASURES</a:t>
            </a:r>
            <a:endParaRPr b="0" i="0" sz="1200" u="none" cap="none" strike="noStrike">
              <a:solidFill>
                <a:schemeClr val="dk1"/>
              </a:solidFill>
              <a:latin typeface="Calibri"/>
              <a:ea typeface="Calibri"/>
              <a:cs typeface="Calibri"/>
              <a:sym typeface="Calibri"/>
            </a:endParaRPr>
          </a:p>
        </p:txBody>
      </p:sp>
      <p:sp>
        <p:nvSpPr>
          <p:cNvPr id="427" name="Google Shape;427;p15"/>
          <p:cNvSpPr/>
          <p:nvPr/>
        </p:nvSpPr>
        <p:spPr>
          <a:xfrm>
            <a:off x="812800" y="12039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lang="en-US" sz="3200">
                <a:solidFill>
                  <a:srgbClr val="1B2440"/>
                </a:solidFill>
                <a:latin typeface="Nunito"/>
                <a:ea typeface="Nunito"/>
                <a:cs typeface="Nunito"/>
                <a:sym typeface="Nunito"/>
              </a:rPr>
              <a:t>Six additional </a:t>
            </a:r>
            <a:r>
              <a:rPr b="1" lang="en-US" sz="3200">
                <a:solidFill>
                  <a:srgbClr val="1B2440"/>
                </a:solidFill>
                <a:latin typeface="Nunito"/>
                <a:ea typeface="Nunito"/>
                <a:cs typeface="Nunito"/>
                <a:sym typeface="Nunito"/>
              </a:rPr>
              <a:t>compatibility</a:t>
            </a:r>
            <a:r>
              <a:rPr b="1" lang="en-US" sz="3200">
                <a:solidFill>
                  <a:srgbClr val="1B2440"/>
                </a:solidFill>
                <a:latin typeface="Nunito"/>
                <a:ea typeface="Nunito"/>
                <a:cs typeface="Nunito"/>
                <a:sym typeface="Nunito"/>
              </a:rPr>
              <a:t> measures</a:t>
            </a:r>
            <a:endParaRPr b="0" i="0" sz="3200" u="none" cap="none" strike="noStrike">
              <a:solidFill>
                <a:schemeClr val="dk1"/>
              </a:solidFill>
              <a:latin typeface="Calibri"/>
              <a:ea typeface="Calibri"/>
              <a:cs typeface="Calibri"/>
              <a:sym typeface="Calibri"/>
            </a:endParaRPr>
          </a:p>
        </p:txBody>
      </p:sp>
      <p:sp>
        <p:nvSpPr>
          <p:cNvPr id="428" name="Google Shape;428;p15"/>
          <p:cNvSpPr/>
          <p:nvPr/>
        </p:nvSpPr>
        <p:spPr>
          <a:xfrm>
            <a:off x="819150" y="2036776"/>
            <a:ext cx="5181600" cy="1524300"/>
          </a:xfrm>
          <a:prstGeom prst="roundRect">
            <a:avLst>
              <a:gd fmla="val 12807"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5"/>
          <p:cNvSpPr/>
          <p:nvPr/>
        </p:nvSpPr>
        <p:spPr>
          <a:xfrm>
            <a:off x="1028700" y="2220913"/>
            <a:ext cx="4905300" cy="28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700"/>
              <a:buFont typeface="Nunito"/>
              <a:buNone/>
            </a:pPr>
            <a:r>
              <a:rPr b="1" i="0" lang="en-US" sz="1700" u="none" cap="none" strike="noStrike">
                <a:solidFill>
                  <a:srgbClr val="1B2440"/>
                </a:solidFill>
                <a:latin typeface="Nunito"/>
                <a:ea typeface="Nunito"/>
                <a:cs typeface="Nunito"/>
                <a:sym typeface="Nunito"/>
              </a:rPr>
              <a:t>Age gap</a:t>
            </a:r>
            <a:endParaRPr b="0" i="0" sz="1700" u="none" cap="none" strike="noStrike">
              <a:solidFill>
                <a:schemeClr val="dk1"/>
              </a:solidFill>
              <a:latin typeface="Calibri"/>
              <a:ea typeface="Calibri"/>
              <a:cs typeface="Calibri"/>
              <a:sym typeface="Calibri"/>
            </a:endParaRPr>
          </a:p>
        </p:txBody>
      </p:sp>
      <p:sp>
        <p:nvSpPr>
          <p:cNvPr id="430" name="Google Shape;430;p15"/>
          <p:cNvSpPr/>
          <p:nvPr/>
        </p:nvSpPr>
        <p:spPr>
          <a:xfrm>
            <a:off x="1028700" y="2675424"/>
            <a:ext cx="4905300" cy="487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700" u="none" cap="none" strike="noStrike">
                <a:solidFill>
                  <a:srgbClr val="4A5163"/>
                </a:solidFill>
                <a:latin typeface="Nunito Sans"/>
                <a:ea typeface="Nunito Sans"/>
                <a:cs typeface="Nunito Sans"/>
                <a:sym typeface="Nunito Sans"/>
              </a:rPr>
              <a:t>The absolute difference in their ages: the size of the gap, not its direction.</a:t>
            </a:r>
            <a:endParaRPr b="0" i="0" sz="1700" u="none" cap="none" strike="noStrike">
              <a:solidFill>
                <a:schemeClr val="dk1"/>
              </a:solidFill>
              <a:latin typeface="Calibri"/>
              <a:ea typeface="Calibri"/>
              <a:cs typeface="Calibri"/>
              <a:sym typeface="Calibri"/>
            </a:endParaRPr>
          </a:p>
        </p:txBody>
      </p:sp>
      <p:sp>
        <p:nvSpPr>
          <p:cNvPr id="431" name="Google Shape;431;p15"/>
          <p:cNvSpPr/>
          <p:nvPr/>
        </p:nvSpPr>
        <p:spPr>
          <a:xfrm>
            <a:off x="6191250" y="2036779"/>
            <a:ext cx="5181600" cy="1554300"/>
          </a:xfrm>
          <a:prstGeom prst="roundRect">
            <a:avLst>
              <a:gd fmla="val 12807"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5"/>
          <p:cNvSpPr/>
          <p:nvPr/>
        </p:nvSpPr>
        <p:spPr>
          <a:xfrm>
            <a:off x="6400800" y="2220913"/>
            <a:ext cx="4905300" cy="28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700"/>
              <a:buFont typeface="Nunito"/>
              <a:buNone/>
            </a:pPr>
            <a:r>
              <a:rPr b="1" i="0" lang="en-US" sz="1700" u="none" cap="none" strike="noStrike">
                <a:solidFill>
                  <a:srgbClr val="1B2440"/>
                </a:solidFill>
                <a:latin typeface="Nunito"/>
                <a:ea typeface="Nunito"/>
                <a:cs typeface="Nunito"/>
                <a:sym typeface="Nunito"/>
              </a:rPr>
              <a:t>Interest similarity</a:t>
            </a:r>
            <a:endParaRPr b="0" i="0" sz="1700" u="none" cap="none" strike="noStrike">
              <a:solidFill>
                <a:schemeClr val="dk1"/>
              </a:solidFill>
              <a:latin typeface="Calibri"/>
              <a:ea typeface="Calibri"/>
              <a:cs typeface="Calibri"/>
              <a:sym typeface="Calibri"/>
            </a:endParaRPr>
          </a:p>
        </p:txBody>
      </p:sp>
      <p:sp>
        <p:nvSpPr>
          <p:cNvPr id="433" name="Google Shape;433;p15"/>
          <p:cNvSpPr/>
          <p:nvPr/>
        </p:nvSpPr>
        <p:spPr>
          <a:xfrm>
            <a:off x="6400800" y="2534276"/>
            <a:ext cx="4905300" cy="770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700" u="none" cap="none" strike="noStrike">
                <a:solidFill>
                  <a:srgbClr val="4A5163"/>
                </a:solidFill>
                <a:latin typeface="Nunito Sans"/>
                <a:ea typeface="Nunito Sans"/>
                <a:cs typeface="Nunito Sans"/>
                <a:sym typeface="Nunito Sans"/>
              </a:rPr>
              <a:t>Pearson correlation of their ratings of 16 activities (sports, reading, tv): high when they like and dislike the same things.</a:t>
            </a:r>
            <a:endParaRPr b="0" i="0" sz="1700" u="none" cap="none" strike="noStrike">
              <a:solidFill>
                <a:schemeClr val="dk1"/>
              </a:solidFill>
              <a:latin typeface="Calibri"/>
              <a:ea typeface="Calibri"/>
              <a:cs typeface="Calibri"/>
              <a:sym typeface="Calibri"/>
            </a:endParaRPr>
          </a:p>
        </p:txBody>
      </p:sp>
      <p:sp>
        <p:nvSpPr>
          <p:cNvPr id="434" name="Google Shape;434;p15"/>
          <p:cNvSpPr/>
          <p:nvPr/>
        </p:nvSpPr>
        <p:spPr>
          <a:xfrm>
            <a:off x="819150" y="3978151"/>
            <a:ext cx="5181600" cy="1524300"/>
          </a:xfrm>
          <a:prstGeom prst="roundRect">
            <a:avLst>
              <a:gd fmla="val 12807"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5"/>
          <p:cNvSpPr/>
          <p:nvPr/>
        </p:nvSpPr>
        <p:spPr>
          <a:xfrm>
            <a:off x="1028700" y="4162296"/>
            <a:ext cx="4905300" cy="28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700"/>
              <a:buFont typeface="Nunito"/>
              <a:buNone/>
            </a:pPr>
            <a:r>
              <a:rPr b="1" i="0" lang="en-US" sz="1700" u="none" cap="none" strike="noStrike">
                <a:solidFill>
                  <a:srgbClr val="1B2440"/>
                </a:solidFill>
                <a:latin typeface="Nunito"/>
                <a:ea typeface="Nunito"/>
                <a:cs typeface="Nunito"/>
                <a:sym typeface="Nunito"/>
              </a:rPr>
              <a:t>Shared field and goal</a:t>
            </a:r>
            <a:endParaRPr b="0" i="0" sz="1700" u="none" cap="none" strike="noStrike">
              <a:solidFill>
                <a:schemeClr val="dk1"/>
              </a:solidFill>
              <a:latin typeface="Calibri"/>
              <a:ea typeface="Calibri"/>
              <a:cs typeface="Calibri"/>
              <a:sym typeface="Calibri"/>
            </a:endParaRPr>
          </a:p>
        </p:txBody>
      </p:sp>
      <p:sp>
        <p:nvSpPr>
          <p:cNvPr id="436" name="Google Shape;436;p15"/>
          <p:cNvSpPr/>
          <p:nvPr/>
        </p:nvSpPr>
        <p:spPr>
          <a:xfrm>
            <a:off x="1028700" y="4540022"/>
            <a:ext cx="4905300" cy="770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lang="en-US" sz="1700">
                <a:solidFill>
                  <a:srgbClr val="4A5163"/>
                </a:solidFill>
                <a:latin typeface="Nunito Sans"/>
                <a:ea typeface="Nunito Sans"/>
                <a:cs typeface="Nunito Sans"/>
                <a:sym typeface="Nunito Sans"/>
              </a:rPr>
              <a:t>Y</a:t>
            </a:r>
            <a:r>
              <a:rPr b="0" i="0" lang="en-US" sz="1700" u="none" cap="none" strike="noStrike">
                <a:solidFill>
                  <a:srgbClr val="4A5163"/>
                </a:solidFill>
                <a:latin typeface="Nunito Sans"/>
                <a:ea typeface="Nunito Sans"/>
                <a:cs typeface="Nunito Sans"/>
                <a:sym typeface="Nunito Sans"/>
              </a:rPr>
              <a:t>es/no indicators: same field of study, and same main goal for coming to the event</a:t>
            </a:r>
            <a:endParaRPr b="0" i="0" sz="1700" u="none" cap="none" strike="noStrike">
              <a:solidFill>
                <a:schemeClr val="dk1"/>
              </a:solidFill>
              <a:latin typeface="Calibri"/>
              <a:ea typeface="Calibri"/>
              <a:cs typeface="Calibri"/>
              <a:sym typeface="Calibri"/>
            </a:endParaRPr>
          </a:p>
        </p:txBody>
      </p:sp>
      <p:sp>
        <p:nvSpPr>
          <p:cNvPr id="437" name="Google Shape;437;p15"/>
          <p:cNvSpPr/>
          <p:nvPr/>
        </p:nvSpPr>
        <p:spPr>
          <a:xfrm>
            <a:off x="6191250" y="3978152"/>
            <a:ext cx="5181600" cy="1554300"/>
          </a:xfrm>
          <a:prstGeom prst="roundRect">
            <a:avLst>
              <a:gd fmla="val 12807"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5"/>
          <p:cNvSpPr/>
          <p:nvPr/>
        </p:nvSpPr>
        <p:spPr>
          <a:xfrm>
            <a:off x="6400800" y="4162296"/>
            <a:ext cx="4905300" cy="28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700"/>
              <a:buFont typeface="Nunito"/>
              <a:buNone/>
            </a:pPr>
            <a:r>
              <a:rPr b="1" i="0" lang="en-US" sz="1700" u="none" cap="none" strike="noStrike">
                <a:solidFill>
                  <a:srgbClr val="1B2440"/>
                </a:solidFill>
                <a:latin typeface="Nunito"/>
                <a:ea typeface="Nunito"/>
                <a:cs typeface="Nunito"/>
                <a:sym typeface="Nunito"/>
              </a:rPr>
              <a:t>Preference fit</a:t>
            </a:r>
            <a:endParaRPr b="0" i="0" sz="1700" u="none" cap="none" strike="noStrike">
              <a:solidFill>
                <a:schemeClr val="dk1"/>
              </a:solidFill>
              <a:latin typeface="Calibri"/>
              <a:ea typeface="Calibri"/>
              <a:cs typeface="Calibri"/>
              <a:sym typeface="Calibri"/>
            </a:endParaRPr>
          </a:p>
        </p:txBody>
      </p:sp>
      <p:sp>
        <p:nvSpPr>
          <p:cNvPr id="439" name="Google Shape;439;p15"/>
          <p:cNvSpPr/>
          <p:nvPr/>
        </p:nvSpPr>
        <p:spPr>
          <a:xfrm>
            <a:off x="6400800" y="4472147"/>
            <a:ext cx="4905300" cy="770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700" u="none" cap="none" strike="noStrike">
                <a:solidFill>
                  <a:srgbClr val="4A5163"/>
                </a:solidFill>
                <a:latin typeface="Nunito Sans"/>
                <a:ea typeface="Nunito Sans"/>
                <a:cs typeface="Nunito Sans"/>
                <a:sym typeface="Nunito Sans"/>
              </a:rPr>
              <a:t>Are the traits he rates himself highest on the ones she weigh</a:t>
            </a:r>
            <a:r>
              <a:rPr lang="en-US" sz="1700">
                <a:solidFill>
                  <a:srgbClr val="4A5163"/>
                </a:solidFill>
                <a:latin typeface="Nunito Sans"/>
                <a:ea typeface="Nunito Sans"/>
                <a:cs typeface="Nunito Sans"/>
                <a:sym typeface="Nunito Sans"/>
              </a:rPr>
              <a:t>s</a:t>
            </a:r>
            <a:r>
              <a:rPr b="0" i="0" lang="en-US" sz="1700" u="none" cap="none" strike="noStrike">
                <a:solidFill>
                  <a:srgbClr val="4A5163"/>
                </a:solidFill>
                <a:latin typeface="Nunito Sans"/>
                <a:ea typeface="Nunito Sans"/>
                <a:cs typeface="Nunito Sans"/>
                <a:sym typeface="Nunito Sans"/>
              </a:rPr>
              <a:t> most? </a:t>
            </a:r>
            <a:endParaRPr b="0" i="0" sz="1700" u="none" cap="none" strike="noStrike">
              <a:solidFill>
                <a:schemeClr val="dk1"/>
              </a:solidFill>
              <a:latin typeface="Calibri"/>
              <a:ea typeface="Calibri"/>
              <a:cs typeface="Calibri"/>
              <a:sym typeface="Calibri"/>
            </a:endParaRPr>
          </a:p>
        </p:txBody>
      </p:sp>
      <p:sp>
        <p:nvSpPr>
          <p:cNvPr id="440" name="Google Shape;440;p15"/>
          <p:cNvSpPr/>
          <p:nvPr/>
        </p:nvSpPr>
        <p:spPr>
          <a:xfrm>
            <a:off x="812800" y="62890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13</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445" name="Shape 445"/>
        <p:cNvGrpSpPr/>
        <p:nvPr/>
      </p:nvGrpSpPr>
      <p:grpSpPr>
        <a:xfrm>
          <a:off x="0" y="0"/>
          <a:ext cx="0" cy="0"/>
          <a:chOff x="0" y="0"/>
          <a:chExt cx="0" cy="0"/>
        </a:xfrm>
      </p:grpSpPr>
      <p:sp>
        <p:nvSpPr>
          <p:cNvPr id="446" name="Google Shape;446;p16"/>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4 · TECHNICAL IMPLEMENTATION</a:t>
            </a:r>
            <a:endParaRPr b="0" i="0" sz="1200" u="none" cap="none" strike="noStrike">
              <a:solidFill>
                <a:schemeClr val="dk1"/>
              </a:solidFill>
              <a:latin typeface="Calibri"/>
              <a:ea typeface="Calibri"/>
              <a:cs typeface="Calibri"/>
              <a:sym typeface="Calibri"/>
            </a:endParaRPr>
          </a:p>
        </p:txBody>
      </p:sp>
      <p:sp>
        <p:nvSpPr>
          <p:cNvPr id="447" name="Google Shape;447;p16"/>
          <p:cNvSpPr/>
          <p:nvPr/>
        </p:nvSpPr>
        <p:spPr>
          <a:xfrm>
            <a:off x="812800" y="13055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lang="en-US" sz="3200">
                <a:solidFill>
                  <a:srgbClr val="1B2440"/>
                </a:solidFill>
                <a:latin typeface="Nunito"/>
                <a:ea typeface="Nunito"/>
                <a:cs typeface="Nunito"/>
                <a:sym typeface="Nunito"/>
              </a:rPr>
              <a:t>The same pre-processing pipeline for each model</a:t>
            </a:r>
            <a:endParaRPr b="0" i="0" sz="3200" u="none" cap="none" strike="noStrike">
              <a:solidFill>
                <a:schemeClr val="dk1"/>
              </a:solidFill>
              <a:latin typeface="Calibri"/>
              <a:ea typeface="Calibri"/>
              <a:cs typeface="Calibri"/>
              <a:sym typeface="Calibri"/>
            </a:endParaRPr>
          </a:p>
        </p:txBody>
      </p:sp>
      <p:sp>
        <p:nvSpPr>
          <p:cNvPr id="448" name="Google Shape;448;p16"/>
          <p:cNvSpPr/>
          <p:nvPr/>
        </p:nvSpPr>
        <p:spPr>
          <a:xfrm>
            <a:off x="819150" y="2038300"/>
            <a:ext cx="1755130" cy="1313111"/>
          </a:xfrm>
          <a:prstGeom prst="roundRect">
            <a:avLst>
              <a:gd fmla="val 11122"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Database" id="449" name="Google Shape;449;p16"/>
          <p:cNvPicPr preferRelativeResize="0"/>
          <p:nvPr/>
        </p:nvPicPr>
        <p:blipFill rotWithShape="1">
          <a:blip r:embed="rId3">
            <a:alphaModFix/>
          </a:blip>
          <a:srcRect b="0" l="0" r="0" t="0"/>
          <a:stretch/>
        </p:blipFill>
        <p:spPr>
          <a:xfrm>
            <a:off x="1518890" y="2222450"/>
            <a:ext cx="355600" cy="355600"/>
          </a:xfrm>
          <a:prstGeom prst="rect">
            <a:avLst/>
          </a:prstGeom>
          <a:noFill/>
          <a:ln>
            <a:noFill/>
          </a:ln>
        </p:spPr>
      </p:pic>
      <p:sp>
        <p:nvSpPr>
          <p:cNvPr id="450" name="Google Shape;450;p16"/>
          <p:cNvSpPr/>
          <p:nvPr/>
        </p:nvSpPr>
        <p:spPr>
          <a:xfrm>
            <a:off x="1119351" y="2641550"/>
            <a:ext cx="1154728" cy="27429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B2440"/>
              </a:buClr>
              <a:buSzPts val="1400"/>
              <a:buFont typeface="Nunito Sans"/>
              <a:buNone/>
            </a:pPr>
            <a:r>
              <a:rPr b="1" i="0" lang="en-US" sz="1400" u="none" cap="none" strike="noStrike">
                <a:solidFill>
                  <a:srgbClr val="1B2440"/>
                </a:solidFill>
                <a:latin typeface="Nunito Sans"/>
                <a:ea typeface="Nunito Sans"/>
                <a:cs typeface="Nunito Sans"/>
                <a:sym typeface="Nunito Sans"/>
              </a:rPr>
              <a:t>Raw survey</a:t>
            </a:r>
            <a:endParaRPr b="0" i="0" sz="1400" u="none" cap="none" strike="noStrike">
              <a:solidFill>
                <a:schemeClr val="dk1"/>
              </a:solidFill>
              <a:latin typeface="Calibri"/>
              <a:ea typeface="Calibri"/>
              <a:cs typeface="Calibri"/>
              <a:sym typeface="Calibri"/>
            </a:endParaRPr>
          </a:p>
        </p:txBody>
      </p:sp>
      <p:sp>
        <p:nvSpPr>
          <p:cNvPr id="451" name="Google Shape;451;p16"/>
          <p:cNvSpPr/>
          <p:nvPr/>
        </p:nvSpPr>
        <p:spPr>
          <a:xfrm>
            <a:off x="1230615" y="2953941"/>
            <a:ext cx="932200" cy="23872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4A5163"/>
              </a:buClr>
              <a:buSzPts val="1200"/>
              <a:buFont typeface="Nunito Sans"/>
              <a:buNone/>
            </a:pPr>
            <a:r>
              <a:rPr b="0" i="0" lang="en-US" sz="1200" u="none" cap="none" strike="noStrike">
                <a:solidFill>
                  <a:srgbClr val="4A5163"/>
                </a:solidFill>
                <a:latin typeface="Nunito Sans"/>
                <a:ea typeface="Nunito Sans"/>
                <a:cs typeface="Nunito Sans"/>
                <a:sym typeface="Nunito Sans"/>
              </a:rPr>
              <a:t>8,378 rows</a:t>
            </a:r>
            <a:endParaRPr b="0" i="0" sz="1200" u="none" cap="none" strike="noStrike">
              <a:solidFill>
                <a:schemeClr val="dk1"/>
              </a:solidFill>
              <a:latin typeface="Calibri"/>
              <a:ea typeface="Calibri"/>
              <a:cs typeface="Calibri"/>
              <a:sym typeface="Calibri"/>
            </a:endParaRPr>
          </a:p>
        </p:txBody>
      </p:sp>
      <p:pic>
        <p:nvPicPr>
          <p:cNvPr descr="arrow-right" id="452" name="Google Shape;452;p16"/>
          <p:cNvPicPr preferRelativeResize="0"/>
          <p:nvPr/>
        </p:nvPicPr>
        <p:blipFill rotWithShape="1">
          <a:blip r:embed="rId4">
            <a:alphaModFix/>
          </a:blip>
          <a:srcRect b="0" l="0" r="0" t="0"/>
          <a:stretch/>
        </p:blipFill>
        <p:spPr>
          <a:xfrm>
            <a:off x="2669530" y="2612281"/>
            <a:ext cx="254000" cy="165100"/>
          </a:xfrm>
          <a:prstGeom prst="rect">
            <a:avLst/>
          </a:prstGeom>
          <a:noFill/>
          <a:ln>
            <a:noFill/>
          </a:ln>
        </p:spPr>
      </p:pic>
      <p:sp>
        <p:nvSpPr>
          <p:cNvPr id="453" name="Google Shape;453;p16"/>
          <p:cNvSpPr/>
          <p:nvPr/>
        </p:nvSpPr>
        <p:spPr>
          <a:xfrm>
            <a:off x="3018780" y="2038300"/>
            <a:ext cx="1755180" cy="1313111"/>
          </a:xfrm>
          <a:prstGeom prst="roundRect">
            <a:avLst>
              <a:gd fmla="val 11122"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Wrench" id="454" name="Google Shape;454;p16"/>
          <p:cNvPicPr preferRelativeResize="0"/>
          <p:nvPr/>
        </p:nvPicPr>
        <p:blipFill rotWithShape="1">
          <a:blip r:embed="rId5">
            <a:alphaModFix/>
          </a:blip>
          <a:srcRect b="0" l="0" r="0" t="0"/>
          <a:stretch/>
        </p:blipFill>
        <p:spPr>
          <a:xfrm>
            <a:off x="3718570" y="2222450"/>
            <a:ext cx="355600" cy="355600"/>
          </a:xfrm>
          <a:prstGeom prst="rect">
            <a:avLst/>
          </a:prstGeom>
          <a:noFill/>
          <a:ln>
            <a:noFill/>
          </a:ln>
        </p:spPr>
      </p:pic>
      <p:sp>
        <p:nvSpPr>
          <p:cNvPr id="455" name="Google Shape;455;p16"/>
          <p:cNvSpPr/>
          <p:nvPr/>
        </p:nvSpPr>
        <p:spPr>
          <a:xfrm>
            <a:off x="3365178" y="2641550"/>
            <a:ext cx="1062335" cy="27429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B2440"/>
              </a:buClr>
              <a:buSzPts val="1400"/>
              <a:buFont typeface="Nunito Sans"/>
              <a:buNone/>
            </a:pPr>
            <a:r>
              <a:rPr b="1" i="0" lang="en-US" sz="1400" u="none" cap="none" strike="noStrike">
                <a:solidFill>
                  <a:srgbClr val="1B2440"/>
                </a:solidFill>
                <a:latin typeface="Nunito Sans"/>
                <a:ea typeface="Nunito Sans"/>
                <a:cs typeface="Nunito Sans"/>
                <a:sym typeface="Nunito Sans"/>
              </a:rPr>
              <a:t>Clean, pair</a:t>
            </a:r>
            <a:endParaRPr b="0" i="0" sz="1400" u="none" cap="none" strike="noStrike">
              <a:solidFill>
                <a:schemeClr val="dk1"/>
              </a:solidFill>
              <a:latin typeface="Calibri"/>
              <a:ea typeface="Calibri"/>
              <a:cs typeface="Calibri"/>
              <a:sym typeface="Calibri"/>
            </a:endParaRPr>
          </a:p>
        </p:txBody>
      </p:sp>
      <p:sp>
        <p:nvSpPr>
          <p:cNvPr id="456" name="Google Shape;456;p16"/>
          <p:cNvSpPr/>
          <p:nvPr/>
        </p:nvSpPr>
        <p:spPr>
          <a:xfrm>
            <a:off x="3433281" y="2953941"/>
            <a:ext cx="926128" cy="23872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4A5163"/>
              </a:buClr>
              <a:buSzPts val="1200"/>
              <a:buFont typeface="Nunito Sans"/>
              <a:buNone/>
            </a:pPr>
            <a:r>
              <a:rPr b="0" i="0" lang="en-US" sz="1200" u="none" cap="none" strike="noStrike">
                <a:solidFill>
                  <a:srgbClr val="4A5163"/>
                </a:solidFill>
                <a:latin typeface="Nunito Sans"/>
                <a:ea typeface="Nunito Sans"/>
                <a:cs typeface="Nunito Sans"/>
                <a:sym typeface="Nunito Sans"/>
              </a:rPr>
              <a:t>4,184 pairs</a:t>
            </a:r>
            <a:endParaRPr b="0" i="0" sz="1200" u="none" cap="none" strike="noStrike">
              <a:solidFill>
                <a:schemeClr val="dk1"/>
              </a:solidFill>
              <a:latin typeface="Calibri"/>
              <a:ea typeface="Calibri"/>
              <a:cs typeface="Calibri"/>
              <a:sym typeface="Calibri"/>
            </a:endParaRPr>
          </a:p>
        </p:txBody>
      </p:sp>
      <p:pic>
        <p:nvPicPr>
          <p:cNvPr descr="arrow-right" id="457" name="Google Shape;457;p16"/>
          <p:cNvPicPr preferRelativeResize="0"/>
          <p:nvPr/>
        </p:nvPicPr>
        <p:blipFill rotWithShape="1">
          <a:blip r:embed="rId4">
            <a:alphaModFix/>
          </a:blip>
          <a:srcRect b="0" l="0" r="0" t="0"/>
          <a:stretch/>
        </p:blipFill>
        <p:spPr>
          <a:xfrm>
            <a:off x="4869210" y="2612281"/>
            <a:ext cx="254000" cy="165100"/>
          </a:xfrm>
          <a:prstGeom prst="rect">
            <a:avLst/>
          </a:prstGeom>
          <a:noFill/>
          <a:ln>
            <a:noFill/>
          </a:ln>
        </p:spPr>
      </p:pic>
      <p:sp>
        <p:nvSpPr>
          <p:cNvPr id="458" name="Google Shape;458;p16"/>
          <p:cNvSpPr/>
          <p:nvPr/>
        </p:nvSpPr>
        <p:spPr>
          <a:xfrm>
            <a:off x="5218460" y="2038300"/>
            <a:ext cx="1755130" cy="1313111"/>
          </a:xfrm>
          <a:prstGeom prst="roundRect">
            <a:avLst>
              <a:gd fmla="val 11122"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sers" id="459" name="Google Shape;459;p16"/>
          <p:cNvPicPr preferRelativeResize="0"/>
          <p:nvPr/>
        </p:nvPicPr>
        <p:blipFill rotWithShape="1">
          <a:blip r:embed="rId6">
            <a:alphaModFix/>
          </a:blip>
          <a:srcRect b="0" l="0" r="0" t="0"/>
          <a:stretch/>
        </p:blipFill>
        <p:spPr>
          <a:xfrm>
            <a:off x="5918200" y="2222450"/>
            <a:ext cx="355600" cy="355600"/>
          </a:xfrm>
          <a:prstGeom prst="rect">
            <a:avLst/>
          </a:prstGeom>
          <a:noFill/>
          <a:ln>
            <a:noFill/>
          </a:ln>
        </p:spPr>
      </p:pic>
      <p:sp>
        <p:nvSpPr>
          <p:cNvPr id="460" name="Google Shape;460;p16"/>
          <p:cNvSpPr/>
          <p:nvPr/>
        </p:nvSpPr>
        <p:spPr>
          <a:xfrm>
            <a:off x="5269880" y="2641550"/>
            <a:ext cx="1652290" cy="27429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B2440"/>
              </a:buClr>
              <a:buSzPts val="1400"/>
              <a:buFont typeface="Nunito Sans"/>
              <a:buNone/>
            </a:pPr>
            <a:r>
              <a:rPr b="1" i="0" lang="en-US" sz="1400" u="none" cap="none" strike="noStrike">
                <a:solidFill>
                  <a:srgbClr val="1B2440"/>
                </a:solidFill>
                <a:latin typeface="Nunito Sans"/>
                <a:ea typeface="Nunito Sans"/>
                <a:cs typeface="Nunito Sans"/>
                <a:sym typeface="Nunito Sans"/>
              </a:rPr>
              <a:t>Two feature sets</a:t>
            </a:r>
            <a:endParaRPr b="0" i="0" sz="1400" u="none" cap="none" strike="noStrike">
              <a:solidFill>
                <a:schemeClr val="dk1"/>
              </a:solidFill>
              <a:latin typeface="Calibri"/>
              <a:ea typeface="Calibri"/>
              <a:cs typeface="Calibri"/>
              <a:sym typeface="Calibri"/>
            </a:endParaRPr>
          </a:p>
        </p:txBody>
      </p:sp>
      <p:sp>
        <p:nvSpPr>
          <p:cNvPr id="461" name="Google Shape;461;p16"/>
          <p:cNvSpPr/>
          <p:nvPr/>
        </p:nvSpPr>
        <p:spPr>
          <a:xfrm>
            <a:off x="5224810" y="2953941"/>
            <a:ext cx="1742380" cy="23872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4A5163"/>
              </a:buClr>
              <a:buSzPts val="1200"/>
              <a:buFont typeface="Nunito Sans"/>
              <a:buNone/>
            </a:pPr>
            <a:r>
              <a:rPr b="0" i="0" lang="en-US" sz="1200" u="none" cap="none" strike="noStrike">
                <a:solidFill>
                  <a:srgbClr val="4A5163"/>
                </a:solidFill>
                <a:latin typeface="Nunito Sans"/>
                <a:ea typeface="Nunito Sans"/>
                <a:cs typeface="Nunito Sans"/>
                <a:sym typeface="Nunito Sans"/>
              </a:rPr>
              <a:t>pre: 74 · pre+date: 90</a:t>
            </a:r>
            <a:endParaRPr b="0" i="0" sz="1200" u="none" cap="none" strike="noStrike">
              <a:solidFill>
                <a:schemeClr val="dk1"/>
              </a:solidFill>
              <a:latin typeface="Calibri"/>
              <a:ea typeface="Calibri"/>
              <a:cs typeface="Calibri"/>
              <a:sym typeface="Calibri"/>
            </a:endParaRPr>
          </a:p>
        </p:txBody>
      </p:sp>
      <p:pic>
        <p:nvPicPr>
          <p:cNvPr descr="arrow-right" id="462" name="Google Shape;462;p16"/>
          <p:cNvPicPr preferRelativeResize="0"/>
          <p:nvPr/>
        </p:nvPicPr>
        <p:blipFill rotWithShape="1">
          <a:blip r:embed="rId4">
            <a:alphaModFix/>
          </a:blip>
          <a:srcRect b="0" l="0" r="0" t="0"/>
          <a:stretch/>
        </p:blipFill>
        <p:spPr>
          <a:xfrm>
            <a:off x="7068840" y="2612281"/>
            <a:ext cx="254000" cy="165100"/>
          </a:xfrm>
          <a:prstGeom prst="rect">
            <a:avLst/>
          </a:prstGeom>
          <a:noFill/>
          <a:ln>
            <a:noFill/>
          </a:ln>
        </p:spPr>
      </p:pic>
      <p:sp>
        <p:nvSpPr>
          <p:cNvPr id="463" name="Google Shape;463;p16"/>
          <p:cNvSpPr/>
          <p:nvPr/>
        </p:nvSpPr>
        <p:spPr>
          <a:xfrm>
            <a:off x="7418090" y="2038300"/>
            <a:ext cx="1755130" cy="1313111"/>
          </a:xfrm>
          <a:prstGeom prst="roundRect">
            <a:avLst>
              <a:gd fmla="val 11122"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ttings" id="464" name="Google Shape;464;p16"/>
          <p:cNvPicPr preferRelativeResize="0"/>
          <p:nvPr/>
        </p:nvPicPr>
        <p:blipFill rotWithShape="1">
          <a:blip r:embed="rId7">
            <a:alphaModFix/>
          </a:blip>
          <a:srcRect b="0" l="0" r="0" t="0"/>
          <a:stretch/>
        </p:blipFill>
        <p:spPr>
          <a:xfrm>
            <a:off x="8117830" y="2222450"/>
            <a:ext cx="355600" cy="355600"/>
          </a:xfrm>
          <a:prstGeom prst="rect">
            <a:avLst/>
          </a:prstGeom>
          <a:noFill/>
          <a:ln>
            <a:noFill/>
          </a:ln>
        </p:spPr>
      </p:pic>
      <p:sp>
        <p:nvSpPr>
          <p:cNvPr id="465" name="Google Shape;465;p16"/>
          <p:cNvSpPr/>
          <p:nvPr/>
        </p:nvSpPr>
        <p:spPr>
          <a:xfrm>
            <a:off x="7841049" y="2641550"/>
            <a:ext cx="909161" cy="27429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B2440"/>
              </a:buClr>
              <a:buSzPts val="1400"/>
              <a:buFont typeface="Nunito Sans"/>
              <a:buNone/>
            </a:pPr>
            <a:r>
              <a:rPr b="1" i="0" lang="en-US" sz="1400" u="none" cap="none" strike="noStrike">
                <a:solidFill>
                  <a:srgbClr val="1B2440"/>
                </a:solidFill>
                <a:latin typeface="Nunito Sans"/>
                <a:ea typeface="Nunito Sans"/>
                <a:cs typeface="Nunito Sans"/>
                <a:sym typeface="Nunito Sans"/>
              </a:rPr>
              <a:t>Event CV</a:t>
            </a:r>
            <a:endParaRPr b="0" i="0" sz="1400" u="none" cap="none" strike="noStrike">
              <a:solidFill>
                <a:schemeClr val="dk1"/>
              </a:solidFill>
              <a:latin typeface="Calibri"/>
              <a:ea typeface="Calibri"/>
              <a:cs typeface="Calibri"/>
              <a:sym typeface="Calibri"/>
            </a:endParaRPr>
          </a:p>
        </p:txBody>
      </p:sp>
      <p:sp>
        <p:nvSpPr>
          <p:cNvPr id="466" name="Google Shape;466;p16"/>
          <p:cNvSpPr/>
          <p:nvPr/>
        </p:nvSpPr>
        <p:spPr>
          <a:xfrm>
            <a:off x="7468319" y="2953941"/>
            <a:ext cx="1654671" cy="23872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4A5163"/>
              </a:buClr>
              <a:buSzPts val="1200"/>
              <a:buFont typeface="Nunito Sans"/>
              <a:buNone/>
            </a:pPr>
            <a:r>
              <a:rPr b="0" i="0" lang="en-US" sz="1200" u="none" cap="none" strike="noStrike">
                <a:solidFill>
                  <a:srgbClr val="4A5163"/>
                </a:solidFill>
                <a:latin typeface="Nunito Sans"/>
                <a:ea typeface="Nunito Sans"/>
                <a:cs typeface="Nunito Sans"/>
                <a:sym typeface="Nunito Sans"/>
              </a:rPr>
              <a:t>5 folds</a:t>
            </a:r>
            <a:endParaRPr b="0" i="0" sz="1200" u="none" cap="none" strike="noStrike">
              <a:solidFill>
                <a:schemeClr val="dk1"/>
              </a:solidFill>
              <a:latin typeface="Calibri"/>
              <a:ea typeface="Calibri"/>
              <a:cs typeface="Calibri"/>
              <a:sym typeface="Calibri"/>
            </a:endParaRPr>
          </a:p>
        </p:txBody>
      </p:sp>
      <p:pic>
        <p:nvPicPr>
          <p:cNvPr descr="arrow-right" id="467" name="Google Shape;467;p16"/>
          <p:cNvPicPr preferRelativeResize="0"/>
          <p:nvPr/>
        </p:nvPicPr>
        <p:blipFill rotWithShape="1">
          <a:blip r:embed="rId4">
            <a:alphaModFix/>
          </a:blip>
          <a:srcRect b="0" l="0" r="0" t="0"/>
          <a:stretch/>
        </p:blipFill>
        <p:spPr>
          <a:xfrm>
            <a:off x="9268470" y="2612281"/>
            <a:ext cx="254000" cy="165100"/>
          </a:xfrm>
          <a:prstGeom prst="rect">
            <a:avLst/>
          </a:prstGeom>
          <a:noFill/>
          <a:ln>
            <a:noFill/>
          </a:ln>
        </p:spPr>
      </p:pic>
      <p:sp>
        <p:nvSpPr>
          <p:cNvPr id="468" name="Google Shape;468;p16"/>
          <p:cNvSpPr/>
          <p:nvPr/>
        </p:nvSpPr>
        <p:spPr>
          <a:xfrm>
            <a:off x="9617720" y="2038300"/>
            <a:ext cx="1755130" cy="1313111"/>
          </a:xfrm>
          <a:prstGeom prst="roundRect">
            <a:avLst>
              <a:gd fmla="val 11122" name="adj"/>
            </a:avLst>
          </a:prstGeom>
          <a:solidFill>
            <a:srgbClr val="F6ECE9"/>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art" id="469" name="Google Shape;469;p16"/>
          <p:cNvPicPr preferRelativeResize="0"/>
          <p:nvPr/>
        </p:nvPicPr>
        <p:blipFill rotWithShape="1">
          <a:blip r:embed="rId8">
            <a:alphaModFix/>
          </a:blip>
          <a:srcRect b="0" l="0" r="0" t="0"/>
          <a:stretch/>
        </p:blipFill>
        <p:spPr>
          <a:xfrm>
            <a:off x="10317460" y="2222450"/>
            <a:ext cx="355600" cy="355600"/>
          </a:xfrm>
          <a:prstGeom prst="rect">
            <a:avLst/>
          </a:prstGeom>
          <a:noFill/>
          <a:ln>
            <a:noFill/>
          </a:ln>
        </p:spPr>
      </p:pic>
      <p:sp>
        <p:nvSpPr>
          <p:cNvPr id="470" name="Google Shape;470;p16"/>
          <p:cNvSpPr/>
          <p:nvPr/>
        </p:nvSpPr>
        <p:spPr>
          <a:xfrm>
            <a:off x="10218435" y="2641550"/>
            <a:ext cx="553700" cy="27429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B2440"/>
              </a:buClr>
              <a:buSzPts val="1400"/>
              <a:buFont typeface="Nunito Sans"/>
              <a:buNone/>
            </a:pPr>
            <a:r>
              <a:rPr b="1" i="0" lang="en-US" sz="1400" u="none" cap="none" strike="noStrike">
                <a:solidFill>
                  <a:srgbClr val="1B2440"/>
                </a:solidFill>
                <a:latin typeface="Nunito Sans"/>
                <a:ea typeface="Nunito Sans"/>
                <a:cs typeface="Nunito Sans"/>
                <a:sym typeface="Nunito Sans"/>
              </a:rPr>
              <a:t>Score</a:t>
            </a:r>
            <a:endParaRPr b="0" i="0" sz="1400" u="none" cap="none" strike="noStrike">
              <a:solidFill>
                <a:schemeClr val="dk1"/>
              </a:solidFill>
              <a:latin typeface="Calibri"/>
              <a:ea typeface="Calibri"/>
              <a:cs typeface="Calibri"/>
              <a:sym typeface="Calibri"/>
            </a:endParaRPr>
          </a:p>
        </p:txBody>
      </p:sp>
      <p:sp>
        <p:nvSpPr>
          <p:cNvPr id="471" name="Google Shape;471;p16"/>
          <p:cNvSpPr/>
          <p:nvPr/>
        </p:nvSpPr>
        <p:spPr>
          <a:xfrm>
            <a:off x="9673367" y="2953941"/>
            <a:ext cx="1643836" cy="23872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4A5163"/>
              </a:buClr>
              <a:buSzPts val="1200"/>
              <a:buFont typeface="Nunito Sans"/>
              <a:buNone/>
            </a:pPr>
            <a:r>
              <a:rPr b="0" i="0" lang="en-US" sz="1200" u="none" cap="none" strike="noStrike">
                <a:solidFill>
                  <a:srgbClr val="4A5163"/>
                </a:solidFill>
                <a:latin typeface="Nunito Sans"/>
                <a:ea typeface="Nunito Sans"/>
                <a:cs typeface="Nunito Sans"/>
                <a:sym typeface="Nunito Sans"/>
              </a:rPr>
              <a:t>AUC with error bars</a:t>
            </a:r>
            <a:endParaRPr b="0" i="0" sz="1200" u="none" cap="none" strike="noStrike">
              <a:solidFill>
                <a:schemeClr val="dk1"/>
              </a:solidFill>
              <a:latin typeface="Calibri"/>
              <a:ea typeface="Calibri"/>
              <a:cs typeface="Calibri"/>
              <a:sym typeface="Calibri"/>
            </a:endParaRPr>
          </a:p>
        </p:txBody>
      </p:sp>
      <p:sp>
        <p:nvSpPr>
          <p:cNvPr id="472" name="Google Shape;472;p16"/>
          <p:cNvSpPr/>
          <p:nvPr/>
        </p:nvSpPr>
        <p:spPr>
          <a:xfrm>
            <a:off x="819150" y="3643511"/>
            <a:ext cx="5168900" cy="1419820"/>
          </a:xfrm>
          <a:prstGeom prst="roundRect">
            <a:avLst>
              <a:gd fmla="val 10287"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6"/>
          <p:cNvSpPr/>
          <p:nvPr/>
        </p:nvSpPr>
        <p:spPr>
          <a:xfrm>
            <a:off x="1028700" y="3853061"/>
            <a:ext cx="4892294" cy="2692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600"/>
              <a:buFont typeface="Nunito"/>
              <a:buNone/>
            </a:pPr>
            <a:r>
              <a:rPr b="1" i="0" lang="en-US" sz="1600" u="none" cap="none" strike="noStrike">
                <a:solidFill>
                  <a:srgbClr val="1B2440"/>
                </a:solidFill>
                <a:latin typeface="Nunito"/>
                <a:ea typeface="Nunito"/>
                <a:cs typeface="Nunito"/>
                <a:sym typeface="Nunito"/>
              </a:rPr>
              <a:t>No peeking at test events</a:t>
            </a:r>
            <a:endParaRPr b="0" i="0" sz="1600" u="none" cap="none" strike="noStrike">
              <a:solidFill>
                <a:schemeClr val="dk1"/>
              </a:solidFill>
              <a:latin typeface="Calibri"/>
              <a:ea typeface="Calibri"/>
              <a:cs typeface="Calibri"/>
              <a:sym typeface="Calibri"/>
            </a:endParaRPr>
          </a:p>
        </p:txBody>
      </p:sp>
      <p:sp>
        <p:nvSpPr>
          <p:cNvPr id="474" name="Google Shape;474;p16"/>
          <p:cNvSpPr/>
          <p:nvPr/>
        </p:nvSpPr>
        <p:spPr>
          <a:xfrm>
            <a:off x="1028700" y="4160391"/>
            <a:ext cx="4892294" cy="7187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Inside each training fold: log-transform skewed columns, fill medians, one-hot categories, standardize. Everything is learned from training events only.</a:t>
            </a:r>
            <a:endParaRPr b="0" i="0" sz="1300" u="none" cap="none" strike="noStrike">
              <a:solidFill>
                <a:schemeClr val="dk1"/>
              </a:solidFill>
              <a:latin typeface="Calibri"/>
              <a:ea typeface="Calibri"/>
              <a:cs typeface="Calibri"/>
              <a:sym typeface="Calibri"/>
            </a:endParaRPr>
          </a:p>
        </p:txBody>
      </p:sp>
      <p:sp>
        <p:nvSpPr>
          <p:cNvPr id="475" name="Google Shape;475;p16"/>
          <p:cNvSpPr/>
          <p:nvPr/>
        </p:nvSpPr>
        <p:spPr>
          <a:xfrm>
            <a:off x="6203950" y="3643511"/>
            <a:ext cx="5168900" cy="1419820"/>
          </a:xfrm>
          <a:prstGeom prst="roundRect">
            <a:avLst>
              <a:gd fmla="val 10287"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6"/>
          <p:cNvSpPr/>
          <p:nvPr/>
        </p:nvSpPr>
        <p:spPr>
          <a:xfrm>
            <a:off x="6413500" y="3853061"/>
            <a:ext cx="4892294" cy="2692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600"/>
              <a:buFont typeface="Nunito"/>
              <a:buNone/>
            </a:pPr>
            <a:r>
              <a:rPr b="1" lang="en-US" sz="1600">
                <a:solidFill>
                  <a:srgbClr val="1B2440"/>
                </a:solidFill>
                <a:latin typeface="Nunito"/>
                <a:ea typeface="Nunito"/>
                <a:cs typeface="Nunito"/>
                <a:sym typeface="Nunito"/>
              </a:rPr>
              <a:t>A Fair Comparison</a:t>
            </a:r>
            <a:endParaRPr b="0" i="0" sz="1600" u="none" cap="none" strike="noStrike">
              <a:solidFill>
                <a:schemeClr val="dk1"/>
              </a:solidFill>
              <a:latin typeface="Calibri"/>
              <a:ea typeface="Calibri"/>
              <a:cs typeface="Calibri"/>
              <a:sym typeface="Calibri"/>
            </a:endParaRPr>
          </a:p>
        </p:txBody>
      </p:sp>
      <p:sp>
        <p:nvSpPr>
          <p:cNvPr id="477" name="Google Shape;477;p16"/>
          <p:cNvSpPr/>
          <p:nvPr/>
        </p:nvSpPr>
        <p:spPr>
          <a:xfrm>
            <a:off x="6413500" y="4160391"/>
            <a:ext cx="4892294" cy="7187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lang="en-US" sz="1300">
                <a:solidFill>
                  <a:srgbClr val="4A5163"/>
                </a:solidFill>
                <a:highlight>
                  <a:srgbClr val="FFFFFF"/>
                </a:highlight>
                <a:latin typeface="Nunito Sans"/>
                <a:ea typeface="Nunito Sans"/>
                <a:cs typeface="Nunito Sans"/>
                <a:sym typeface="Nunito Sans"/>
              </a:rPr>
              <a:t>Every model gets the same folds, the same preparation and the same scoring, so differences come from the model, not the setup.</a:t>
            </a:r>
            <a:endParaRPr b="0" i="0" sz="1300" u="none" cap="none" strike="noStrike">
              <a:solidFill>
                <a:schemeClr val="dk1"/>
              </a:solidFill>
              <a:latin typeface="Calibri"/>
              <a:ea typeface="Calibri"/>
              <a:cs typeface="Calibri"/>
              <a:sym typeface="Calibri"/>
            </a:endParaRPr>
          </a:p>
        </p:txBody>
      </p:sp>
      <p:sp>
        <p:nvSpPr>
          <p:cNvPr id="478" name="Google Shape;478;p16"/>
          <p:cNvSpPr/>
          <p:nvPr/>
        </p:nvSpPr>
        <p:spPr>
          <a:xfrm>
            <a:off x="812800" y="62890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14</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483" name="Shape 483"/>
        <p:cNvGrpSpPr/>
        <p:nvPr/>
      </p:nvGrpSpPr>
      <p:grpSpPr>
        <a:xfrm>
          <a:off x="0" y="0"/>
          <a:ext cx="0" cy="0"/>
          <a:chOff x="0" y="0"/>
          <a:chExt cx="0" cy="0"/>
        </a:xfrm>
      </p:grpSpPr>
      <p:sp>
        <p:nvSpPr>
          <p:cNvPr id="484" name="Google Shape;484;p17"/>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3 · STATISTICAL CONCEPTS</a:t>
            </a:r>
            <a:endParaRPr b="0" i="0" sz="1200" u="none" cap="none" strike="noStrike">
              <a:solidFill>
                <a:schemeClr val="dk1"/>
              </a:solidFill>
              <a:latin typeface="Calibri"/>
              <a:ea typeface="Calibri"/>
              <a:cs typeface="Calibri"/>
              <a:sym typeface="Calibri"/>
            </a:endParaRPr>
          </a:p>
        </p:txBody>
      </p:sp>
      <p:sp>
        <p:nvSpPr>
          <p:cNvPr id="485" name="Google Shape;485;p17"/>
          <p:cNvSpPr/>
          <p:nvPr/>
        </p:nvSpPr>
        <p:spPr>
          <a:xfrm>
            <a:off x="812800" y="1229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lang="en-US" sz="3200">
                <a:solidFill>
                  <a:srgbClr val="1B2440"/>
                </a:solidFill>
                <a:latin typeface="Nunito"/>
                <a:ea typeface="Nunito"/>
                <a:cs typeface="Nunito"/>
                <a:sym typeface="Nunito"/>
              </a:rPr>
              <a:t>Classification Models and </a:t>
            </a:r>
            <a:r>
              <a:rPr b="1" lang="en-US" sz="3200">
                <a:solidFill>
                  <a:srgbClr val="1B2440"/>
                </a:solidFill>
                <a:latin typeface="Nunito"/>
                <a:ea typeface="Nunito"/>
                <a:cs typeface="Nunito"/>
                <a:sym typeface="Nunito"/>
              </a:rPr>
              <a:t>Logistic Regression</a:t>
            </a:r>
            <a:endParaRPr b="0" i="0" sz="3200" u="none" cap="none" strike="noStrike">
              <a:solidFill>
                <a:schemeClr val="dk1"/>
              </a:solidFill>
              <a:latin typeface="Calibri"/>
              <a:ea typeface="Calibri"/>
              <a:cs typeface="Calibri"/>
              <a:sym typeface="Calibri"/>
            </a:endParaRPr>
          </a:p>
        </p:txBody>
      </p:sp>
      <p:sp>
        <p:nvSpPr>
          <p:cNvPr id="486" name="Google Shape;486;p17"/>
          <p:cNvSpPr/>
          <p:nvPr/>
        </p:nvSpPr>
        <p:spPr>
          <a:xfrm>
            <a:off x="819150" y="1885900"/>
            <a:ext cx="10458000" cy="4188600"/>
          </a:xfrm>
          <a:prstGeom prst="roundRect">
            <a:avLst>
              <a:gd fmla="val 4039"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7"/>
          <p:cNvSpPr/>
          <p:nvPr/>
        </p:nvSpPr>
        <p:spPr>
          <a:xfrm>
            <a:off x="1028750" y="2108463"/>
            <a:ext cx="4133700" cy="28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700"/>
              <a:buFont typeface="Nunito"/>
              <a:buNone/>
            </a:pPr>
            <a:r>
              <a:rPr b="1" i="0" lang="en-US" sz="2200" u="none" cap="none" strike="noStrike">
                <a:solidFill>
                  <a:srgbClr val="1B2440"/>
                </a:solidFill>
                <a:latin typeface="Nunito"/>
                <a:ea typeface="Nunito"/>
                <a:cs typeface="Nunito"/>
                <a:sym typeface="Nunito"/>
              </a:rPr>
              <a:t>Logistic regression</a:t>
            </a:r>
            <a:endParaRPr b="0" i="0" sz="2200" u="none" cap="none" strike="noStrike">
              <a:solidFill>
                <a:schemeClr val="dk1"/>
              </a:solidFill>
              <a:latin typeface="Calibri"/>
              <a:ea typeface="Calibri"/>
              <a:cs typeface="Calibri"/>
              <a:sym typeface="Calibri"/>
            </a:endParaRPr>
          </a:p>
        </p:txBody>
      </p:sp>
      <p:sp>
        <p:nvSpPr>
          <p:cNvPr id="488" name="Google Shape;488;p17"/>
          <p:cNvSpPr/>
          <p:nvPr/>
        </p:nvSpPr>
        <p:spPr>
          <a:xfrm>
            <a:off x="1028750" y="2556322"/>
            <a:ext cx="9848700" cy="3382200"/>
          </a:xfrm>
          <a:prstGeom prst="rect">
            <a:avLst/>
          </a:prstGeom>
          <a:noFill/>
          <a:ln>
            <a:noFill/>
          </a:ln>
        </p:spPr>
        <p:txBody>
          <a:bodyPr anchorCtr="0" anchor="t" bIns="0" lIns="0" spcFirstLastPara="1" rIns="0" wrap="square" tIns="0">
            <a:noAutofit/>
          </a:bodyPr>
          <a:lstStyle/>
          <a:p>
            <a:pPr indent="-342900" lvl="0" marL="457200" marR="0" rtl="0" algn="l">
              <a:lnSpc>
                <a:spcPct val="140000"/>
              </a:lnSpc>
              <a:spcBef>
                <a:spcPts val="0"/>
              </a:spcBef>
              <a:spcAft>
                <a:spcPts val="0"/>
              </a:spcAft>
              <a:buClr>
                <a:srgbClr val="4A5163"/>
              </a:buClr>
              <a:buSzPts val="1800"/>
              <a:buFont typeface="Nunito Sans"/>
              <a:buChar char="●"/>
            </a:pPr>
            <a:r>
              <a:rPr lang="en-US" sz="1800">
                <a:solidFill>
                  <a:srgbClr val="4A5163"/>
                </a:solidFill>
                <a:latin typeface="Nunito Sans"/>
                <a:ea typeface="Nunito Sans"/>
                <a:cs typeface="Nunito Sans"/>
                <a:sym typeface="Nunito Sans"/>
              </a:rPr>
              <a:t>Predicts categorical binary outcome </a:t>
            </a:r>
            <a:r>
              <a:rPr lang="en-US" sz="1800">
                <a:solidFill>
                  <a:srgbClr val="4A5163"/>
                </a:solidFill>
                <a:latin typeface="Nunito Sans"/>
                <a:ea typeface="Nunito Sans"/>
                <a:cs typeface="Nunito Sans"/>
                <a:sym typeface="Nunito Sans"/>
              </a:rPr>
              <a:t>based</a:t>
            </a:r>
            <a:r>
              <a:rPr lang="en-US" sz="1800">
                <a:solidFill>
                  <a:srgbClr val="4A5163"/>
                </a:solidFill>
                <a:latin typeface="Nunito Sans"/>
                <a:ea typeface="Nunito Sans"/>
                <a:cs typeface="Nunito Sans"/>
                <a:sym typeface="Nunito Sans"/>
              </a:rPr>
              <a:t> on predictor variables </a:t>
            </a:r>
            <a:endParaRPr sz="1800">
              <a:solidFill>
                <a:srgbClr val="4A5163"/>
              </a:solidFill>
              <a:latin typeface="Nunito Sans"/>
              <a:ea typeface="Nunito Sans"/>
              <a:cs typeface="Nunito Sans"/>
              <a:sym typeface="Nunito Sans"/>
            </a:endParaRPr>
          </a:p>
          <a:p>
            <a:pPr indent="0" lvl="0" marL="0" marR="0" rtl="0" algn="l">
              <a:lnSpc>
                <a:spcPct val="140000"/>
              </a:lnSpc>
              <a:spcBef>
                <a:spcPts val="0"/>
              </a:spcBef>
              <a:spcAft>
                <a:spcPts val="0"/>
              </a:spcAft>
              <a:buNone/>
            </a:pPr>
            <a:r>
              <a:t/>
            </a:r>
            <a:endParaRPr sz="1600">
              <a:solidFill>
                <a:srgbClr val="4A5163"/>
              </a:solidFill>
              <a:latin typeface="Nunito Sans"/>
              <a:ea typeface="Nunito Sans"/>
              <a:cs typeface="Nunito Sans"/>
              <a:sym typeface="Nunito Sans"/>
            </a:endParaRPr>
          </a:p>
          <a:p>
            <a:pPr indent="0" lvl="0" marL="0" marR="0" rtl="0" algn="l">
              <a:lnSpc>
                <a:spcPct val="140000"/>
              </a:lnSpc>
              <a:spcBef>
                <a:spcPts val="0"/>
              </a:spcBef>
              <a:spcAft>
                <a:spcPts val="0"/>
              </a:spcAft>
              <a:buNone/>
            </a:pPr>
            <a:r>
              <a:t/>
            </a:r>
            <a:endParaRPr sz="1600">
              <a:solidFill>
                <a:srgbClr val="4A5163"/>
              </a:solidFill>
              <a:latin typeface="Nunito Sans"/>
              <a:ea typeface="Nunito Sans"/>
              <a:cs typeface="Nunito Sans"/>
              <a:sym typeface="Nunito Sans"/>
            </a:endParaRPr>
          </a:p>
          <a:p>
            <a:pPr indent="0" lvl="0" marL="0" marR="0" rtl="0" algn="l">
              <a:lnSpc>
                <a:spcPct val="140000"/>
              </a:lnSpc>
              <a:spcBef>
                <a:spcPts val="0"/>
              </a:spcBef>
              <a:spcAft>
                <a:spcPts val="0"/>
              </a:spcAft>
              <a:buNone/>
            </a:pPr>
            <a:r>
              <a:t/>
            </a:r>
            <a:endParaRPr sz="1600">
              <a:solidFill>
                <a:srgbClr val="4A5163"/>
              </a:solidFill>
              <a:latin typeface="Nunito Sans"/>
              <a:ea typeface="Nunito Sans"/>
              <a:cs typeface="Nunito Sans"/>
              <a:sym typeface="Nunito Sans"/>
            </a:endParaRPr>
          </a:p>
          <a:p>
            <a:pPr indent="0" lvl="0" marL="0" marR="0" rtl="0" algn="l">
              <a:lnSpc>
                <a:spcPct val="140000"/>
              </a:lnSpc>
              <a:spcBef>
                <a:spcPts val="0"/>
              </a:spcBef>
              <a:spcAft>
                <a:spcPts val="0"/>
              </a:spcAft>
              <a:buNone/>
            </a:pPr>
            <a:r>
              <a:t/>
            </a:r>
            <a:endParaRPr sz="1600">
              <a:solidFill>
                <a:srgbClr val="4A5163"/>
              </a:solidFill>
              <a:latin typeface="Nunito Sans"/>
              <a:ea typeface="Nunito Sans"/>
              <a:cs typeface="Nunito Sans"/>
              <a:sym typeface="Nunito Sans"/>
            </a:endParaRPr>
          </a:p>
          <a:p>
            <a:pPr indent="-342900" lvl="0" marL="457200" marR="0" rtl="0" algn="l">
              <a:lnSpc>
                <a:spcPct val="140000"/>
              </a:lnSpc>
              <a:spcBef>
                <a:spcPts val="0"/>
              </a:spcBef>
              <a:spcAft>
                <a:spcPts val="0"/>
              </a:spcAft>
              <a:buClr>
                <a:srgbClr val="4A5163"/>
              </a:buClr>
              <a:buSzPts val="1800"/>
              <a:buFont typeface="Nunito Sans"/>
              <a:buChar char="●"/>
            </a:pPr>
            <a:r>
              <a:rPr lang="en-US" sz="1800">
                <a:solidFill>
                  <a:srgbClr val="4A5163"/>
                </a:solidFill>
                <a:latin typeface="Nunito Sans"/>
                <a:ea typeface="Nunito Sans"/>
                <a:cs typeface="Nunito Sans"/>
                <a:sym typeface="Nunito Sans"/>
              </a:rPr>
              <a:t>Logistic equation and maximum likelihood</a:t>
            </a:r>
            <a:endParaRPr sz="1800">
              <a:solidFill>
                <a:srgbClr val="4A5163"/>
              </a:solidFill>
              <a:latin typeface="Nunito Sans"/>
              <a:ea typeface="Nunito Sans"/>
              <a:cs typeface="Nunito Sans"/>
              <a:sym typeface="Nunito Sans"/>
            </a:endParaRPr>
          </a:p>
          <a:p>
            <a:pPr indent="0" lvl="0" marL="0" marR="0" rtl="0" algn="l">
              <a:lnSpc>
                <a:spcPct val="140000"/>
              </a:lnSpc>
              <a:spcBef>
                <a:spcPts val="0"/>
              </a:spcBef>
              <a:spcAft>
                <a:spcPts val="0"/>
              </a:spcAft>
              <a:buNone/>
            </a:pPr>
            <a:r>
              <a:t/>
            </a:r>
            <a:endParaRPr sz="1600">
              <a:solidFill>
                <a:srgbClr val="4A5163"/>
              </a:solidFill>
              <a:latin typeface="Nunito Sans"/>
              <a:ea typeface="Nunito Sans"/>
              <a:cs typeface="Nunito Sans"/>
              <a:sym typeface="Nunito Sans"/>
            </a:endParaRPr>
          </a:p>
          <a:p>
            <a:pPr indent="0" lvl="0" marL="0" marR="0" rtl="0" algn="l">
              <a:lnSpc>
                <a:spcPct val="140000"/>
              </a:lnSpc>
              <a:spcBef>
                <a:spcPts val="0"/>
              </a:spcBef>
              <a:spcAft>
                <a:spcPts val="0"/>
              </a:spcAft>
              <a:buNone/>
            </a:pPr>
            <a:r>
              <a:t/>
            </a:r>
            <a:endParaRPr sz="1600">
              <a:solidFill>
                <a:srgbClr val="4A5163"/>
              </a:solidFill>
              <a:latin typeface="Nunito Sans"/>
              <a:ea typeface="Nunito Sans"/>
              <a:cs typeface="Nunito Sans"/>
              <a:sym typeface="Nunito Sans"/>
            </a:endParaRPr>
          </a:p>
          <a:p>
            <a:pPr indent="0" lvl="0" marL="0" marR="0" rtl="0" algn="l">
              <a:lnSpc>
                <a:spcPct val="140000"/>
              </a:lnSpc>
              <a:spcBef>
                <a:spcPts val="0"/>
              </a:spcBef>
              <a:spcAft>
                <a:spcPts val="0"/>
              </a:spcAft>
              <a:buNone/>
            </a:pPr>
            <a:r>
              <a:t/>
            </a:r>
            <a:endParaRPr sz="1600">
              <a:solidFill>
                <a:srgbClr val="4A5163"/>
              </a:solidFill>
              <a:latin typeface="Nunito Sans"/>
              <a:ea typeface="Nunito Sans"/>
              <a:cs typeface="Nunito Sans"/>
              <a:sym typeface="Nunito Sans"/>
            </a:endParaRPr>
          </a:p>
        </p:txBody>
      </p:sp>
      <p:sp>
        <p:nvSpPr>
          <p:cNvPr id="489" name="Google Shape;489;p17"/>
          <p:cNvSpPr/>
          <p:nvPr/>
        </p:nvSpPr>
        <p:spPr>
          <a:xfrm>
            <a:off x="812800" y="62890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15 · James et al. (2023), An Introduction to Statistical Learning, Sections 4.3–4.4</a:t>
            </a:r>
            <a:endParaRPr b="0" i="0" sz="1200" u="none" cap="none" strike="noStrike">
              <a:solidFill>
                <a:schemeClr val="dk1"/>
              </a:solidFill>
              <a:latin typeface="Calibri"/>
              <a:ea typeface="Calibri"/>
              <a:cs typeface="Calibri"/>
              <a:sym typeface="Calibri"/>
            </a:endParaRPr>
          </a:p>
        </p:txBody>
      </p:sp>
      <p:pic>
        <p:nvPicPr>
          <p:cNvPr descr="An S-shaped curve rising from 0 to 1" id="490" name="Google Shape;490;p17"/>
          <p:cNvPicPr preferRelativeResize="0"/>
          <p:nvPr/>
        </p:nvPicPr>
        <p:blipFill rotWithShape="1">
          <a:blip r:embed="rId4">
            <a:alphaModFix/>
          </a:blip>
          <a:srcRect b="0" l="0" r="0" t="0"/>
          <a:stretch/>
        </p:blipFill>
        <p:spPr>
          <a:xfrm>
            <a:off x="5231763" y="3087200"/>
            <a:ext cx="1728469" cy="864225"/>
          </a:xfrm>
          <a:prstGeom prst="rect">
            <a:avLst/>
          </a:prstGeom>
          <a:noFill/>
          <a:ln>
            <a:noFill/>
          </a:ln>
        </p:spPr>
      </p:pic>
      <p:pic>
        <p:nvPicPr>
          <p:cNvPr id="491" name="Google Shape;491;p17"/>
          <p:cNvPicPr preferRelativeResize="0"/>
          <p:nvPr/>
        </p:nvPicPr>
        <p:blipFill rotWithShape="1">
          <a:blip r:embed="rId5">
            <a:alphaModFix/>
          </a:blip>
          <a:srcRect b="0" l="4347" r="17332" t="0"/>
          <a:stretch/>
        </p:blipFill>
        <p:spPr>
          <a:xfrm>
            <a:off x="4862688" y="4725850"/>
            <a:ext cx="2370925" cy="9227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496" name="Shape 496"/>
        <p:cNvGrpSpPr/>
        <p:nvPr/>
      </p:nvGrpSpPr>
      <p:grpSpPr>
        <a:xfrm>
          <a:off x="0" y="0"/>
          <a:ext cx="0" cy="0"/>
          <a:chOff x="0" y="0"/>
          <a:chExt cx="0" cy="0"/>
        </a:xfrm>
      </p:grpSpPr>
      <p:sp>
        <p:nvSpPr>
          <p:cNvPr id="497" name="Google Shape;497;p18"/>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3 · STATISTICAL CONCEPTS</a:t>
            </a:r>
            <a:endParaRPr b="0" i="0" sz="1200" u="none" cap="none" strike="noStrike">
              <a:solidFill>
                <a:schemeClr val="dk1"/>
              </a:solidFill>
              <a:latin typeface="Calibri"/>
              <a:ea typeface="Calibri"/>
              <a:cs typeface="Calibri"/>
              <a:sym typeface="Calibri"/>
            </a:endParaRPr>
          </a:p>
        </p:txBody>
      </p:sp>
      <p:sp>
        <p:nvSpPr>
          <p:cNvPr id="498" name="Google Shape;498;p18"/>
          <p:cNvSpPr/>
          <p:nvPr/>
        </p:nvSpPr>
        <p:spPr>
          <a:xfrm>
            <a:off x="812800" y="1229320"/>
            <a:ext cx="108834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lang="en-US" sz="3200">
                <a:solidFill>
                  <a:srgbClr val="1B2440"/>
                </a:solidFill>
                <a:latin typeface="Nunito"/>
                <a:ea typeface="Nunito"/>
                <a:cs typeface="Nunito"/>
                <a:sym typeface="Nunito"/>
              </a:rPr>
              <a:t>BIC and Stepwise Logistic Regression</a:t>
            </a:r>
            <a:endParaRPr b="0" i="0" sz="3200" u="none" cap="none" strike="noStrike">
              <a:solidFill>
                <a:schemeClr val="dk1"/>
              </a:solidFill>
              <a:latin typeface="Calibri"/>
              <a:ea typeface="Calibri"/>
              <a:cs typeface="Calibri"/>
              <a:sym typeface="Calibri"/>
            </a:endParaRPr>
          </a:p>
        </p:txBody>
      </p:sp>
      <p:sp>
        <p:nvSpPr>
          <p:cNvPr id="499" name="Google Shape;499;p18"/>
          <p:cNvSpPr/>
          <p:nvPr/>
        </p:nvSpPr>
        <p:spPr>
          <a:xfrm>
            <a:off x="812800" y="6289080"/>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16 · James et al. (2023), An Introduction to Statistical Learning, Sections 4.3–4.4</a:t>
            </a:r>
            <a:endParaRPr b="0" i="0" sz="1200" u="none" cap="none" strike="noStrike">
              <a:solidFill>
                <a:schemeClr val="dk1"/>
              </a:solidFill>
              <a:latin typeface="Calibri"/>
              <a:ea typeface="Calibri"/>
              <a:cs typeface="Calibri"/>
              <a:sym typeface="Calibri"/>
            </a:endParaRPr>
          </a:p>
        </p:txBody>
      </p:sp>
      <p:sp>
        <p:nvSpPr>
          <p:cNvPr id="500" name="Google Shape;500;p18"/>
          <p:cNvSpPr/>
          <p:nvPr/>
        </p:nvSpPr>
        <p:spPr>
          <a:xfrm>
            <a:off x="819150" y="1885900"/>
            <a:ext cx="4884000" cy="4188600"/>
          </a:xfrm>
          <a:prstGeom prst="roundRect">
            <a:avLst>
              <a:gd fmla="val 4039"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8"/>
          <p:cNvSpPr/>
          <p:nvPr/>
        </p:nvSpPr>
        <p:spPr>
          <a:xfrm>
            <a:off x="6150100" y="1901150"/>
            <a:ext cx="4938600" cy="4188600"/>
          </a:xfrm>
          <a:prstGeom prst="roundRect">
            <a:avLst>
              <a:gd fmla="val 4039"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8"/>
          <p:cNvSpPr/>
          <p:nvPr/>
        </p:nvSpPr>
        <p:spPr>
          <a:xfrm>
            <a:off x="1972650" y="2138606"/>
            <a:ext cx="2577000" cy="2844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B2440"/>
              </a:buClr>
              <a:buSzPts val="1700"/>
              <a:buFont typeface="Nunito"/>
              <a:buNone/>
            </a:pPr>
            <a:r>
              <a:rPr b="1" lang="en-US" sz="2200">
                <a:solidFill>
                  <a:srgbClr val="1B2440"/>
                </a:solidFill>
                <a:latin typeface="Nunito"/>
                <a:ea typeface="Nunito"/>
                <a:cs typeface="Nunito"/>
                <a:sym typeface="Nunito"/>
              </a:rPr>
              <a:t>BIC</a:t>
            </a:r>
            <a:endParaRPr b="0" i="0" sz="2200" u="none" cap="none" strike="noStrike">
              <a:solidFill>
                <a:schemeClr val="dk1"/>
              </a:solidFill>
              <a:latin typeface="Calibri"/>
              <a:ea typeface="Calibri"/>
              <a:cs typeface="Calibri"/>
              <a:sym typeface="Calibri"/>
            </a:endParaRPr>
          </a:p>
        </p:txBody>
      </p:sp>
      <p:sp>
        <p:nvSpPr>
          <p:cNvPr id="503" name="Google Shape;503;p18"/>
          <p:cNvSpPr/>
          <p:nvPr/>
        </p:nvSpPr>
        <p:spPr>
          <a:xfrm>
            <a:off x="6436750" y="2138600"/>
            <a:ext cx="4365300" cy="2844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B2440"/>
              </a:buClr>
              <a:buSzPts val="1700"/>
              <a:buFont typeface="Nunito"/>
              <a:buNone/>
            </a:pPr>
            <a:r>
              <a:rPr b="1" lang="en-US" sz="2200">
                <a:solidFill>
                  <a:srgbClr val="1B2440"/>
                </a:solidFill>
                <a:latin typeface="Nunito"/>
                <a:ea typeface="Nunito"/>
                <a:cs typeface="Nunito"/>
                <a:sym typeface="Nunito"/>
              </a:rPr>
              <a:t>Stepwise Logistic Regression</a:t>
            </a:r>
            <a:endParaRPr b="0" i="0" sz="2200" u="none" cap="none" strike="noStrike">
              <a:solidFill>
                <a:schemeClr val="dk1"/>
              </a:solidFill>
              <a:latin typeface="Calibri"/>
              <a:ea typeface="Calibri"/>
              <a:cs typeface="Calibri"/>
              <a:sym typeface="Calibri"/>
            </a:endParaRPr>
          </a:p>
        </p:txBody>
      </p:sp>
      <p:sp>
        <p:nvSpPr>
          <p:cNvPr id="504" name="Google Shape;504;p18"/>
          <p:cNvSpPr/>
          <p:nvPr/>
        </p:nvSpPr>
        <p:spPr>
          <a:xfrm>
            <a:off x="1200350" y="2693203"/>
            <a:ext cx="4091400" cy="2951400"/>
          </a:xfrm>
          <a:prstGeom prst="rect">
            <a:avLst/>
          </a:prstGeom>
          <a:noFill/>
          <a:ln>
            <a:noFill/>
          </a:ln>
        </p:spPr>
        <p:txBody>
          <a:bodyPr anchorCtr="0" anchor="t" bIns="0" lIns="0" spcFirstLastPara="1" rIns="0" wrap="square" tIns="0">
            <a:noAutofit/>
          </a:bodyPr>
          <a:lstStyle/>
          <a:p>
            <a:pPr indent="-342900" lvl="0" marL="457200" marR="0" rtl="0" algn="l">
              <a:lnSpc>
                <a:spcPct val="140000"/>
              </a:lnSpc>
              <a:spcBef>
                <a:spcPts val="0"/>
              </a:spcBef>
              <a:spcAft>
                <a:spcPts val="0"/>
              </a:spcAft>
              <a:buClr>
                <a:srgbClr val="4A5163"/>
              </a:buClr>
              <a:buSzPts val="1800"/>
              <a:buFont typeface="Nunito Sans"/>
              <a:buChar char="●"/>
            </a:pPr>
            <a:r>
              <a:rPr lang="en-US" sz="1800">
                <a:solidFill>
                  <a:srgbClr val="4A5163"/>
                </a:solidFill>
                <a:latin typeface="Nunito Sans"/>
                <a:ea typeface="Nunito Sans"/>
                <a:cs typeface="Nunito Sans"/>
                <a:sym typeface="Nunito Sans"/>
              </a:rPr>
              <a:t>Model-selection criterion</a:t>
            </a:r>
            <a:endParaRPr sz="1800">
              <a:solidFill>
                <a:srgbClr val="4A5163"/>
              </a:solidFill>
              <a:latin typeface="Nunito Sans"/>
              <a:ea typeface="Nunito Sans"/>
              <a:cs typeface="Nunito Sans"/>
              <a:sym typeface="Nunito Sans"/>
            </a:endParaRPr>
          </a:p>
          <a:p>
            <a:pPr indent="-342900" lvl="0" marL="457200" marR="0" rtl="0" algn="l">
              <a:lnSpc>
                <a:spcPct val="140000"/>
              </a:lnSpc>
              <a:spcBef>
                <a:spcPts val="0"/>
              </a:spcBef>
              <a:spcAft>
                <a:spcPts val="0"/>
              </a:spcAft>
              <a:buClr>
                <a:srgbClr val="4A5163"/>
              </a:buClr>
              <a:buSzPts val="1800"/>
              <a:buFont typeface="Nunito Sans"/>
              <a:buChar char="●"/>
            </a:pPr>
            <a:r>
              <a:rPr lang="en-US" sz="1800">
                <a:solidFill>
                  <a:srgbClr val="4A5163"/>
                </a:solidFill>
                <a:latin typeface="Nunito Sans"/>
                <a:ea typeface="Nunito Sans"/>
                <a:cs typeface="Nunito Sans"/>
                <a:sym typeface="Nunito Sans"/>
              </a:rPr>
              <a:t>Lower BIC is better</a:t>
            </a:r>
            <a:endParaRPr sz="1800">
              <a:solidFill>
                <a:srgbClr val="4A5163"/>
              </a:solidFill>
              <a:latin typeface="Nunito Sans"/>
              <a:ea typeface="Nunito Sans"/>
              <a:cs typeface="Nunito Sans"/>
              <a:sym typeface="Nunito Sans"/>
            </a:endParaRPr>
          </a:p>
        </p:txBody>
      </p:sp>
      <p:sp>
        <p:nvSpPr>
          <p:cNvPr id="505" name="Google Shape;505;p18"/>
          <p:cNvSpPr/>
          <p:nvPr/>
        </p:nvSpPr>
        <p:spPr>
          <a:xfrm>
            <a:off x="6573700" y="2693203"/>
            <a:ext cx="4091400" cy="2951400"/>
          </a:xfrm>
          <a:prstGeom prst="rect">
            <a:avLst/>
          </a:prstGeom>
          <a:noFill/>
          <a:ln>
            <a:noFill/>
          </a:ln>
        </p:spPr>
        <p:txBody>
          <a:bodyPr anchorCtr="0" anchor="t" bIns="0" lIns="0" spcFirstLastPara="1" rIns="0" wrap="square" tIns="0">
            <a:noAutofit/>
          </a:bodyPr>
          <a:lstStyle/>
          <a:p>
            <a:pPr indent="-342900" lvl="0" marL="457200" marR="0" rtl="0" algn="l">
              <a:lnSpc>
                <a:spcPct val="140000"/>
              </a:lnSpc>
              <a:spcBef>
                <a:spcPts val="0"/>
              </a:spcBef>
              <a:spcAft>
                <a:spcPts val="0"/>
              </a:spcAft>
              <a:buClr>
                <a:srgbClr val="4A5163"/>
              </a:buClr>
              <a:buSzPts val="1800"/>
              <a:buFont typeface="Nunito Sans"/>
              <a:buChar char="●"/>
            </a:pPr>
            <a:r>
              <a:rPr lang="en-US" sz="1800">
                <a:solidFill>
                  <a:srgbClr val="4A5163"/>
                </a:solidFill>
                <a:latin typeface="Nunito Sans"/>
                <a:ea typeface="Nunito Sans"/>
                <a:cs typeface="Nunito Sans"/>
                <a:sym typeface="Nunito Sans"/>
              </a:rPr>
              <a:t>Add/remove predictors as we go</a:t>
            </a:r>
            <a:endParaRPr sz="1800">
              <a:solidFill>
                <a:srgbClr val="4A5163"/>
              </a:solidFill>
              <a:latin typeface="Nunito Sans"/>
              <a:ea typeface="Nunito Sans"/>
              <a:cs typeface="Nunito Sans"/>
              <a:sym typeface="Nunito Sans"/>
            </a:endParaRPr>
          </a:p>
          <a:p>
            <a:pPr indent="-342900" lvl="0" marL="457200" marR="0" rtl="0" algn="l">
              <a:lnSpc>
                <a:spcPct val="140000"/>
              </a:lnSpc>
              <a:spcBef>
                <a:spcPts val="0"/>
              </a:spcBef>
              <a:spcAft>
                <a:spcPts val="0"/>
              </a:spcAft>
              <a:buClr>
                <a:srgbClr val="4A5163"/>
              </a:buClr>
              <a:buSzPts val="1800"/>
              <a:buFont typeface="Nunito Sans"/>
              <a:buChar char="●"/>
            </a:pPr>
            <a:r>
              <a:rPr lang="en-US" sz="1800">
                <a:solidFill>
                  <a:srgbClr val="4A5163"/>
                </a:solidFill>
                <a:latin typeface="Nunito Sans"/>
                <a:ea typeface="Nunito Sans"/>
                <a:cs typeface="Nunito Sans"/>
                <a:sym typeface="Nunito Sans"/>
              </a:rPr>
              <a:t>Forward, backwards, mixed</a:t>
            </a:r>
            <a:endParaRPr sz="1800">
              <a:solidFill>
                <a:srgbClr val="4A5163"/>
              </a:solidFill>
              <a:latin typeface="Nunito Sans"/>
              <a:ea typeface="Nunito Sans"/>
              <a:cs typeface="Nunito Sans"/>
              <a:sym typeface="Nunito Sans"/>
            </a:endParaRPr>
          </a:p>
        </p:txBody>
      </p:sp>
      <p:pic>
        <p:nvPicPr>
          <p:cNvPr id="506" name="Google Shape;506;p18"/>
          <p:cNvPicPr preferRelativeResize="0"/>
          <p:nvPr/>
        </p:nvPicPr>
        <p:blipFill>
          <a:blip r:embed="rId3">
            <a:alphaModFix/>
          </a:blip>
          <a:stretch>
            <a:fillRect/>
          </a:stretch>
        </p:blipFill>
        <p:spPr>
          <a:xfrm>
            <a:off x="2312988" y="3748275"/>
            <a:ext cx="1896325" cy="1896325"/>
          </a:xfrm>
          <a:prstGeom prst="rect">
            <a:avLst/>
          </a:prstGeom>
          <a:noFill/>
          <a:ln>
            <a:noFill/>
          </a:ln>
        </p:spPr>
      </p:pic>
      <p:pic>
        <p:nvPicPr>
          <p:cNvPr id="507" name="Google Shape;507;p18"/>
          <p:cNvPicPr preferRelativeResize="0"/>
          <p:nvPr/>
        </p:nvPicPr>
        <p:blipFill>
          <a:blip r:embed="rId4">
            <a:alphaModFix/>
          </a:blip>
          <a:stretch>
            <a:fillRect/>
          </a:stretch>
        </p:blipFill>
        <p:spPr>
          <a:xfrm>
            <a:off x="7671238" y="3748275"/>
            <a:ext cx="1896325" cy="18963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517" name="Shape 517"/>
        <p:cNvGrpSpPr/>
        <p:nvPr/>
      </p:nvGrpSpPr>
      <p:grpSpPr>
        <a:xfrm>
          <a:off x="0" y="0"/>
          <a:ext cx="0" cy="0"/>
          <a:chOff x="0" y="0"/>
          <a:chExt cx="0" cy="0"/>
        </a:xfrm>
      </p:grpSpPr>
      <p:sp>
        <p:nvSpPr>
          <p:cNvPr id="518" name="Google Shape;518;p20"/>
          <p:cNvSpPr/>
          <p:nvPr/>
        </p:nvSpPr>
        <p:spPr>
          <a:xfrm>
            <a:off x="812800" y="6289080"/>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19 · James et al. (2023), An Introduction to Statistical Learning, Sections 4.3–4.4</a:t>
            </a:r>
            <a:endParaRPr b="0" i="0" sz="1200" u="none" cap="none" strike="noStrike">
              <a:solidFill>
                <a:schemeClr val="dk1"/>
              </a:solidFill>
              <a:latin typeface="Calibri"/>
              <a:ea typeface="Calibri"/>
              <a:cs typeface="Calibri"/>
              <a:sym typeface="Calibri"/>
            </a:endParaRPr>
          </a:p>
        </p:txBody>
      </p:sp>
      <p:sp>
        <p:nvSpPr>
          <p:cNvPr id="519" name="Google Shape;519;p20"/>
          <p:cNvSpPr/>
          <p:nvPr/>
        </p:nvSpPr>
        <p:spPr>
          <a:xfrm>
            <a:off x="812800" y="1901150"/>
            <a:ext cx="10458000" cy="4188600"/>
          </a:xfrm>
          <a:prstGeom prst="roundRect">
            <a:avLst>
              <a:gd fmla="val 4039"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0"/>
          <p:cNvSpPr/>
          <p:nvPr/>
        </p:nvSpPr>
        <p:spPr>
          <a:xfrm>
            <a:off x="1278750" y="2232263"/>
            <a:ext cx="9634500" cy="3318000"/>
          </a:xfrm>
          <a:prstGeom prst="rect">
            <a:avLst/>
          </a:prstGeom>
          <a:noFill/>
          <a:ln>
            <a:noFill/>
          </a:ln>
        </p:spPr>
        <p:txBody>
          <a:bodyPr anchorCtr="0" anchor="t" bIns="0" lIns="0" spcFirstLastPara="1" rIns="0" wrap="square" tIns="0">
            <a:noAutofit/>
          </a:bodyPr>
          <a:lstStyle/>
          <a:p>
            <a:pPr indent="-342900" lvl="0" marL="457200" rtl="0" algn="l">
              <a:lnSpc>
                <a:spcPct val="140000"/>
              </a:lnSpc>
              <a:spcBef>
                <a:spcPts val="0"/>
              </a:spcBef>
              <a:spcAft>
                <a:spcPts val="0"/>
              </a:spcAft>
              <a:buClr>
                <a:srgbClr val="4A5163"/>
              </a:buClr>
              <a:buSzPts val="1800"/>
              <a:buFont typeface="Nunito Sans"/>
              <a:buChar char="●"/>
            </a:pPr>
            <a:r>
              <a:rPr lang="en-US" sz="1800">
                <a:solidFill>
                  <a:srgbClr val="4A5163"/>
                </a:solidFill>
                <a:latin typeface="Nunito Sans"/>
                <a:ea typeface="Nunito Sans"/>
                <a:cs typeface="Nunito Sans"/>
                <a:sym typeface="Nunito Sans"/>
              </a:rPr>
              <a:t>Before: predicting the class based on its predictors</a:t>
            </a:r>
            <a:endParaRPr sz="1800">
              <a:solidFill>
                <a:srgbClr val="4A5163"/>
              </a:solidFill>
              <a:latin typeface="Nunito Sans"/>
              <a:ea typeface="Nunito Sans"/>
              <a:cs typeface="Nunito Sans"/>
              <a:sym typeface="Nunito Sans"/>
            </a:endParaRPr>
          </a:p>
          <a:p>
            <a:pPr indent="-342900" lvl="0" marL="457200" rtl="0" algn="l">
              <a:lnSpc>
                <a:spcPct val="140000"/>
              </a:lnSpc>
              <a:spcBef>
                <a:spcPts val="0"/>
              </a:spcBef>
              <a:spcAft>
                <a:spcPts val="0"/>
              </a:spcAft>
              <a:buClr>
                <a:srgbClr val="4A5163"/>
              </a:buClr>
              <a:buSzPts val="1800"/>
              <a:buFont typeface="Nunito Sans"/>
              <a:buChar char="●"/>
            </a:pPr>
            <a:r>
              <a:rPr lang="en-US" sz="1800">
                <a:solidFill>
                  <a:srgbClr val="4A5163"/>
                </a:solidFill>
                <a:latin typeface="Nunito Sans"/>
                <a:ea typeface="Nunito Sans"/>
                <a:cs typeface="Nunito Sans"/>
                <a:sym typeface="Nunito Sans"/>
              </a:rPr>
              <a:t>Now: predict the observation’s predictors based on the class</a:t>
            </a:r>
            <a:endParaRPr sz="1800">
              <a:solidFill>
                <a:srgbClr val="4A5163"/>
              </a:solidFill>
              <a:latin typeface="Nunito Sans"/>
              <a:ea typeface="Nunito Sans"/>
              <a:cs typeface="Nunito Sans"/>
              <a:sym typeface="Nunito Sans"/>
            </a:endParaRPr>
          </a:p>
          <a:p>
            <a:pPr indent="-342900" lvl="0" marL="457200" rtl="0" algn="l">
              <a:lnSpc>
                <a:spcPct val="140000"/>
              </a:lnSpc>
              <a:spcBef>
                <a:spcPts val="0"/>
              </a:spcBef>
              <a:spcAft>
                <a:spcPts val="0"/>
              </a:spcAft>
              <a:buClr>
                <a:srgbClr val="4A5163"/>
              </a:buClr>
              <a:buSzPts val="1800"/>
              <a:buFont typeface="Nunito Sans"/>
              <a:buChar char="●"/>
            </a:pPr>
            <a:r>
              <a:rPr lang="en-US" sz="1800">
                <a:solidFill>
                  <a:srgbClr val="4A5163"/>
                </a:solidFill>
                <a:latin typeface="Nunito Sans"/>
                <a:ea typeface="Nunito Sans"/>
                <a:cs typeface="Nunito Sans"/>
                <a:sym typeface="Nunito Sans"/>
              </a:rPr>
              <a:t>Bayes’ Theorem flips it back around</a:t>
            </a:r>
            <a:endParaRPr sz="1800">
              <a:solidFill>
                <a:srgbClr val="4A5163"/>
              </a:solidFill>
              <a:latin typeface="Nunito Sans"/>
              <a:ea typeface="Nunito Sans"/>
              <a:cs typeface="Nunito Sans"/>
              <a:sym typeface="Nunito Sans"/>
            </a:endParaRPr>
          </a:p>
          <a:p>
            <a:pPr indent="-342900" lvl="0" marL="457200" rtl="0" algn="l">
              <a:lnSpc>
                <a:spcPct val="140000"/>
              </a:lnSpc>
              <a:spcBef>
                <a:spcPts val="0"/>
              </a:spcBef>
              <a:spcAft>
                <a:spcPts val="0"/>
              </a:spcAft>
              <a:buClr>
                <a:srgbClr val="4A5163"/>
              </a:buClr>
              <a:buSzPts val="1800"/>
              <a:buFont typeface="Nunito Sans"/>
              <a:buChar char="●"/>
            </a:pPr>
            <a:r>
              <a:rPr lang="en-US" sz="1800">
                <a:solidFill>
                  <a:srgbClr val="4A5163"/>
                </a:solidFill>
                <a:latin typeface="Nunito Sans"/>
                <a:ea typeface="Nunito Sans"/>
                <a:cs typeface="Nunito Sans"/>
                <a:sym typeface="Nunito Sans"/>
              </a:rPr>
              <a:t>Place each observation in the class with the greatest probability</a:t>
            </a:r>
            <a:endParaRPr sz="1800">
              <a:solidFill>
                <a:srgbClr val="4A5163"/>
              </a:solidFill>
              <a:latin typeface="Nunito Sans"/>
              <a:ea typeface="Nunito Sans"/>
              <a:cs typeface="Nunito Sans"/>
              <a:sym typeface="Nunito Sans"/>
            </a:endParaRPr>
          </a:p>
        </p:txBody>
      </p:sp>
      <p:sp>
        <p:nvSpPr>
          <p:cNvPr id="521" name="Google Shape;521;p20"/>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3 · STATISTICAL CONCEPTS</a:t>
            </a:r>
            <a:endParaRPr b="0" i="0" sz="1200" u="none" cap="none" strike="noStrike">
              <a:solidFill>
                <a:schemeClr val="dk1"/>
              </a:solidFill>
              <a:latin typeface="Calibri"/>
              <a:ea typeface="Calibri"/>
              <a:cs typeface="Calibri"/>
              <a:sym typeface="Calibri"/>
            </a:endParaRPr>
          </a:p>
        </p:txBody>
      </p:sp>
      <p:sp>
        <p:nvSpPr>
          <p:cNvPr id="522" name="Google Shape;522;p20"/>
          <p:cNvSpPr/>
          <p:nvPr/>
        </p:nvSpPr>
        <p:spPr>
          <a:xfrm>
            <a:off x="812800" y="1229320"/>
            <a:ext cx="108834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lang="en-US" sz="3200">
                <a:solidFill>
                  <a:srgbClr val="1B2440"/>
                </a:solidFill>
                <a:latin typeface="Nunito"/>
                <a:ea typeface="Nunito"/>
                <a:cs typeface="Nunito"/>
                <a:sym typeface="Nunito"/>
              </a:rPr>
              <a:t>Generative Models</a:t>
            </a:r>
            <a:endParaRPr b="0" i="0" sz="3200" u="none" cap="none" strike="noStrike">
              <a:solidFill>
                <a:schemeClr val="dk1"/>
              </a:solidFill>
              <a:latin typeface="Calibri"/>
              <a:ea typeface="Calibri"/>
              <a:cs typeface="Calibri"/>
              <a:sym typeface="Calibri"/>
            </a:endParaRPr>
          </a:p>
        </p:txBody>
      </p:sp>
      <p:sp>
        <p:nvSpPr>
          <p:cNvPr id="523" name="Google Shape;523;p20"/>
          <p:cNvSpPr/>
          <p:nvPr/>
        </p:nvSpPr>
        <p:spPr>
          <a:xfrm>
            <a:off x="3229838" y="4526662"/>
            <a:ext cx="2067600" cy="666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440"/>
              </a:buClr>
              <a:buSzPts val="3500"/>
              <a:buFont typeface="Nunito Sans"/>
              <a:buNone/>
            </a:pPr>
            <a:r>
              <a:rPr b="0" i="1" lang="en-US" sz="3500" u="none" cap="none" strike="noStrike">
                <a:solidFill>
                  <a:srgbClr val="1B2440"/>
                </a:solidFill>
                <a:latin typeface="Nunito Sans"/>
                <a:ea typeface="Nunito Sans"/>
                <a:cs typeface="Nunito Sans"/>
                <a:sym typeface="Nunito Sans"/>
              </a:rPr>
              <a:t>P</a:t>
            </a:r>
            <a:r>
              <a:rPr b="0" i="0" lang="en-US" sz="3500" u="none" cap="none" strike="noStrike">
                <a:solidFill>
                  <a:srgbClr val="1B2440"/>
                </a:solidFill>
                <a:latin typeface="Nunito Sans"/>
                <a:ea typeface="Nunito Sans"/>
                <a:cs typeface="Nunito Sans"/>
                <a:sym typeface="Nunito Sans"/>
              </a:rPr>
              <a:t>(</a:t>
            </a:r>
            <a:r>
              <a:rPr b="0" i="1" lang="en-US" sz="3500" u="none" cap="none" strike="noStrike">
                <a:solidFill>
                  <a:srgbClr val="1B2440"/>
                </a:solidFill>
                <a:latin typeface="Nunito Sans"/>
                <a:ea typeface="Nunito Sans"/>
                <a:cs typeface="Nunito Sans"/>
                <a:sym typeface="Nunito Sans"/>
              </a:rPr>
              <a:t>Y</a:t>
            </a:r>
            <a:r>
              <a:rPr b="0" i="0" lang="en-US" sz="3500" u="none" cap="none" strike="noStrike">
                <a:solidFill>
                  <a:srgbClr val="1B2440"/>
                </a:solidFill>
                <a:latin typeface="Nunito Sans"/>
                <a:ea typeface="Nunito Sans"/>
                <a:cs typeface="Nunito Sans"/>
                <a:sym typeface="Nunito Sans"/>
              </a:rPr>
              <a:t> | </a:t>
            </a:r>
            <a:r>
              <a:rPr b="0" i="1" lang="en-US" sz="3500" u="none" cap="none" strike="noStrike">
                <a:solidFill>
                  <a:srgbClr val="1B2440"/>
                </a:solidFill>
                <a:latin typeface="Nunito Sans"/>
                <a:ea typeface="Nunito Sans"/>
                <a:cs typeface="Nunito Sans"/>
                <a:sym typeface="Nunito Sans"/>
              </a:rPr>
              <a:t>X</a:t>
            </a:r>
            <a:r>
              <a:rPr b="0" i="0" lang="en-US" sz="3500" u="none" cap="none" strike="noStrike">
                <a:solidFill>
                  <a:srgbClr val="1B2440"/>
                </a:solidFill>
                <a:latin typeface="Nunito Sans"/>
                <a:ea typeface="Nunito Sans"/>
                <a:cs typeface="Nunito Sans"/>
                <a:sym typeface="Nunito Sans"/>
              </a:rPr>
              <a:t>) =</a:t>
            </a:r>
            <a:endParaRPr b="0" i="0" sz="3500" u="none" cap="none" strike="noStrike">
              <a:solidFill>
                <a:schemeClr val="dk1"/>
              </a:solidFill>
              <a:latin typeface="Calibri"/>
              <a:ea typeface="Calibri"/>
              <a:cs typeface="Calibri"/>
              <a:sym typeface="Calibri"/>
            </a:endParaRPr>
          </a:p>
        </p:txBody>
      </p:sp>
      <p:sp>
        <p:nvSpPr>
          <p:cNvPr id="524" name="Google Shape;524;p20"/>
          <p:cNvSpPr/>
          <p:nvPr/>
        </p:nvSpPr>
        <p:spPr>
          <a:xfrm>
            <a:off x="5659439" y="4169926"/>
            <a:ext cx="2832600" cy="6042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B2440"/>
              </a:buClr>
              <a:buSzPts val="3150"/>
              <a:buFont typeface="Nunito Sans"/>
              <a:buNone/>
            </a:pPr>
            <a:r>
              <a:rPr b="0" i="1" lang="en-US" sz="3150" u="none" cap="none" strike="noStrike">
                <a:solidFill>
                  <a:srgbClr val="1B2440"/>
                </a:solidFill>
                <a:latin typeface="Nunito Sans"/>
                <a:ea typeface="Nunito Sans"/>
                <a:cs typeface="Nunito Sans"/>
                <a:sym typeface="Nunito Sans"/>
              </a:rPr>
              <a:t>P</a:t>
            </a:r>
            <a:r>
              <a:rPr b="0" i="0" lang="en-US" sz="3150" u="none" cap="none" strike="noStrike">
                <a:solidFill>
                  <a:srgbClr val="1B2440"/>
                </a:solidFill>
                <a:latin typeface="Nunito Sans"/>
                <a:ea typeface="Nunito Sans"/>
                <a:cs typeface="Nunito Sans"/>
                <a:sym typeface="Nunito Sans"/>
              </a:rPr>
              <a:t>(</a:t>
            </a:r>
            <a:r>
              <a:rPr b="0" i="1" lang="en-US" sz="3150" u="none" cap="none" strike="noStrike">
                <a:solidFill>
                  <a:srgbClr val="1B2440"/>
                </a:solidFill>
                <a:latin typeface="Nunito Sans"/>
                <a:ea typeface="Nunito Sans"/>
                <a:cs typeface="Nunito Sans"/>
                <a:sym typeface="Nunito Sans"/>
              </a:rPr>
              <a:t>X</a:t>
            </a:r>
            <a:r>
              <a:rPr b="0" i="0" lang="en-US" sz="3150" u="none" cap="none" strike="noStrike">
                <a:solidFill>
                  <a:srgbClr val="1B2440"/>
                </a:solidFill>
                <a:latin typeface="Nunito Sans"/>
                <a:ea typeface="Nunito Sans"/>
                <a:cs typeface="Nunito Sans"/>
                <a:sym typeface="Nunito Sans"/>
              </a:rPr>
              <a:t> | </a:t>
            </a:r>
            <a:r>
              <a:rPr b="0" i="1" lang="en-US" sz="3150" u="none" cap="none" strike="noStrike">
                <a:solidFill>
                  <a:srgbClr val="1B2440"/>
                </a:solidFill>
                <a:latin typeface="Nunito Sans"/>
                <a:ea typeface="Nunito Sans"/>
                <a:cs typeface="Nunito Sans"/>
                <a:sym typeface="Nunito Sans"/>
              </a:rPr>
              <a:t>Y</a:t>
            </a:r>
            <a:r>
              <a:rPr b="0" i="0" lang="en-US" sz="3150" u="none" cap="none" strike="noStrike">
                <a:solidFill>
                  <a:srgbClr val="1B2440"/>
                </a:solidFill>
                <a:latin typeface="Nunito Sans"/>
                <a:ea typeface="Nunito Sans"/>
                <a:cs typeface="Nunito Sans"/>
                <a:sym typeface="Nunito Sans"/>
              </a:rPr>
              <a:t>) · </a:t>
            </a:r>
            <a:r>
              <a:rPr b="0" i="1" lang="en-US" sz="3150" u="none" cap="none" strike="noStrike">
                <a:solidFill>
                  <a:srgbClr val="1B2440"/>
                </a:solidFill>
                <a:latin typeface="Nunito Sans"/>
                <a:ea typeface="Nunito Sans"/>
                <a:cs typeface="Nunito Sans"/>
                <a:sym typeface="Nunito Sans"/>
              </a:rPr>
              <a:t>P</a:t>
            </a:r>
            <a:r>
              <a:rPr b="0" i="0" lang="en-US" sz="3150" u="none" cap="none" strike="noStrike">
                <a:solidFill>
                  <a:srgbClr val="1B2440"/>
                </a:solidFill>
                <a:latin typeface="Nunito Sans"/>
                <a:ea typeface="Nunito Sans"/>
                <a:cs typeface="Nunito Sans"/>
                <a:sym typeface="Nunito Sans"/>
              </a:rPr>
              <a:t>(</a:t>
            </a:r>
            <a:r>
              <a:rPr b="0" i="1" lang="en-US" sz="3150" u="none" cap="none" strike="noStrike">
                <a:solidFill>
                  <a:srgbClr val="1B2440"/>
                </a:solidFill>
                <a:latin typeface="Nunito Sans"/>
                <a:ea typeface="Nunito Sans"/>
                <a:cs typeface="Nunito Sans"/>
                <a:sym typeface="Nunito Sans"/>
              </a:rPr>
              <a:t>Y</a:t>
            </a:r>
            <a:r>
              <a:rPr b="0" i="0" lang="en-US" sz="3150" u="none" cap="none" strike="noStrike">
                <a:solidFill>
                  <a:srgbClr val="1B2440"/>
                </a:solidFill>
                <a:latin typeface="Nunito Sans"/>
                <a:ea typeface="Nunito Sans"/>
                <a:cs typeface="Nunito Sans"/>
                <a:sym typeface="Nunito Sans"/>
              </a:rPr>
              <a:t>)</a:t>
            </a:r>
            <a:endParaRPr b="0" i="0" sz="3150" u="none" cap="none" strike="noStrike">
              <a:solidFill>
                <a:schemeClr val="dk1"/>
              </a:solidFill>
              <a:latin typeface="Calibri"/>
              <a:ea typeface="Calibri"/>
              <a:cs typeface="Calibri"/>
              <a:sym typeface="Calibri"/>
            </a:endParaRPr>
          </a:p>
        </p:txBody>
      </p:sp>
      <p:sp>
        <p:nvSpPr>
          <p:cNvPr id="525" name="Google Shape;525;p20"/>
          <p:cNvSpPr/>
          <p:nvPr/>
        </p:nvSpPr>
        <p:spPr>
          <a:xfrm>
            <a:off x="5297658" y="4843304"/>
            <a:ext cx="3556200" cy="33600"/>
          </a:xfrm>
          <a:prstGeom prst="rect">
            <a:avLst/>
          </a:prstGeom>
          <a:solidFill>
            <a:srgbClr val="1B2440"/>
          </a:solidFill>
          <a:ln>
            <a:noFill/>
          </a:ln>
        </p:spPr>
        <p:txBody>
          <a:bodyPr anchorCtr="0" anchor="ctr" bIns="160025" lIns="160025" spcFirstLastPara="1" rIns="160025" wrap="square" tIns="160025">
            <a:noAutofit/>
          </a:bodyPr>
          <a:lstStyle/>
          <a:p>
            <a:pPr indent="0" lvl="0" marL="0" rtl="0" algn="l">
              <a:spcBef>
                <a:spcPts val="0"/>
              </a:spcBef>
              <a:spcAft>
                <a:spcPts val="0"/>
              </a:spcAft>
              <a:buNone/>
            </a:pPr>
            <a:r>
              <a:t/>
            </a:r>
            <a:endParaRPr/>
          </a:p>
        </p:txBody>
      </p:sp>
      <p:sp>
        <p:nvSpPr>
          <p:cNvPr id="526" name="Google Shape;526;p20"/>
          <p:cNvSpPr/>
          <p:nvPr/>
        </p:nvSpPr>
        <p:spPr>
          <a:xfrm>
            <a:off x="6615257" y="4946078"/>
            <a:ext cx="921000" cy="6042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B2440"/>
              </a:buClr>
              <a:buSzPts val="3150"/>
              <a:buFont typeface="Nunito Sans"/>
              <a:buNone/>
            </a:pPr>
            <a:r>
              <a:rPr b="0" i="1" lang="en-US" sz="3150" u="none" cap="none" strike="noStrike">
                <a:solidFill>
                  <a:srgbClr val="1B2440"/>
                </a:solidFill>
                <a:latin typeface="Nunito Sans"/>
                <a:ea typeface="Nunito Sans"/>
                <a:cs typeface="Nunito Sans"/>
                <a:sym typeface="Nunito Sans"/>
              </a:rPr>
              <a:t>P</a:t>
            </a:r>
            <a:r>
              <a:rPr b="0" i="0" lang="en-US" sz="3150" u="none" cap="none" strike="noStrike">
                <a:solidFill>
                  <a:srgbClr val="1B2440"/>
                </a:solidFill>
                <a:latin typeface="Nunito Sans"/>
                <a:ea typeface="Nunito Sans"/>
                <a:cs typeface="Nunito Sans"/>
                <a:sym typeface="Nunito Sans"/>
              </a:rPr>
              <a:t>(</a:t>
            </a:r>
            <a:r>
              <a:rPr b="0" i="1" lang="en-US" sz="3150" u="none" cap="none" strike="noStrike">
                <a:solidFill>
                  <a:srgbClr val="1B2440"/>
                </a:solidFill>
                <a:latin typeface="Nunito Sans"/>
                <a:ea typeface="Nunito Sans"/>
                <a:cs typeface="Nunito Sans"/>
                <a:sym typeface="Nunito Sans"/>
              </a:rPr>
              <a:t>X</a:t>
            </a:r>
            <a:r>
              <a:rPr b="0" i="0" lang="en-US" sz="3150" u="none" cap="none" strike="noStrike">
                <a:solidFill>
                  <a:srgbClr val="1B2440"/>
                </a:solidFill>
                <a:latin typeface="Nunito Sans"/>
                <a:ea typeface="Nunito Sans"/>
                <a:cs typeface="Nunito Sans"/>
                <a:sym typeface="Nunito Sans"/>
              </a:rPr>
              <a:t>)</a:t>
            </a:r>
            <a:endParaRPr b="0" i="0" sz="315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531" name="Shape 531"/>
        <p:cNvGrpSpPr/>
        <p:nvPr/>
      </p:nvGrpSpPr>
      <p:grpSpPr>
        <a:xfrm>
          <a:off x="0" y="0"/>
          <a:ext cx="0" cy="0"/>
          <a:chOff x="0" y="0"/>
          <a:chExt cx="0" cy="0"/>
        </a:xfrm>
      </p:grpSpPr>
      <p:sp>
        <p:nvSpPr>
          <p:cNvPr id="532" name="Google Shape;532;p21"/>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3 · STATISTICAL CONCEPTS</a:t>
            </a:r>
            <a:endParaRPr b="0" i="0" sz="1200" u="none" cap="none" strike="noStrike">
              <a:solidFill>
                <a:schemeClr val="dk1"/>
              </a:solidFill>
              <a:latin typeface="Calibri"/>
              <a:ea typeface="Calibri"/>
              <a:cs typeface="Calibri"/>
              <a:sym typeface="Calibri"/>
            </a:endParaRPr>
          </a:p>
        </p:txBody>
      </p:sp>
      <p:sp>
        <p:nvSpPr>
          <p:cNvPr id="533" name="Google Shape;533;p21"/>
          <p:cNvSpPr/>
          <p:nvPr/>
        </p:nvSpPr>
        <p:spPr>
          <a:xfrm>
            <a:off x="812800" y="1229320"/>
            <a:ext cx="108834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lang="en-US" sz="3200">
                <a:solidFill>
                  <a:srgbClr val="1B2440"/>
                </a:solidFill>
                <a:latin typeface="Nunito"/>
                <a:ea typeface="Nunito"/>
                <a:cs typeface="Nunito"/>
                <a:sym typeface="Nunito"/>
              </a:rPr>
              <a:t>LDA and QDA</a:t>
            </a:r>
            <a:endParaRPr b="0" i="0" sz="3200" u="none" cap="none" strike="noStrike">
              <a:solidFill>
                <a:schemeClr val="dk1"/>
              </a:solidFill>
              <a:latin typeface="Calibri"/>
              <a:ea typeface="Calibri"/>
              <a:cs typeface="Calibri"/>
              <a:sym typeface="Calibri"/>
            </a:endParaRPr>
          </a:p>
        </p:txBody>
      </p:sp>
      <p:sp>
        <p:nvSpPr>
          <p:cNvPr id="534" name="Google Shape;534;p21"/>
          <p:cNvSpPr/>
          <p:nvPr/>
        </p:nvSpPr>
        <p:spPr>
          <a:xfrm>
            <a:off x="812800" y="6289080"/>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20 · James et al. (2023), An Introduction to Statistical Learning, Sections 4.3–4.4</a:t>
            </a:r>
            <a:endParaRPr b="0" i="0" sz="1200" u="none" cap="none" strike="noStrike">
              <a:solidFill>
                <a:schemeClr val="dk1"/>
              </a:solidFill>
              <a:latin typeface="Calibri"/>
              <a:ea typeface="Calibri"/>
              <a:cs typeface="Calibri"/>
              <a:sym typeface="Calibri"/>
            </a:endParaRPr>
          </a:p>
        </p:txBody>
      </p:sp>
      <p:sp>
        <p:nvSpPr>
          <p:cNvPr id="535" name="Google Shape;535;p21"/>
          <p:cNvSpPr/>
          <p:nvPr/>
        </p:nvSpPr>
        <p:spPr>
          <a:xfrm>
            <a:off x="366325" y="1901150"/>
            <a:ext cx="3652200" cy="4188600"/>
          </a:xfrm>
          <a:prstGeom prst="roundRect">
            <a:avLst>
              <a:gd fmla="val 4039"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21"/>
          <p:cNvSpPr/>
          <p:nvPr/>
        </p:nvSpPr>
        <p:spPr>
          <a:xfrm>
            <a:off x="4269900" y="1901150"/>
            <a:ext cx="3652200" cy="4188600"/>
          </a:xfrm>
          <a:prstGeom prst="roundRect">
            <a:avLst>
              <a:gd fmla="val 4039"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1"/>
          <p:cNvSpPr/>
          <p:nvPr/>
        </p:nvSpPr>
        <p:spPr>
          <a:xfrm>
            <a:off x="8173475" y="1901150"/>
            <a:ext cx="3652200" cy="4188600"/>
          </a:xfrm>
          <a:prstGeom prst="roundRect">
            <a:avLst>
              <a:gd fmla="val 4039"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21"/>
          <p:cNvSpPr/>
          <p:nvPr/>
        </p:nvSpPr>
        <p:spPr>
          <a:xfrm>
            <a:off x="861325" y="2108475"/>
            <a:ext cx="2662200" cy="2844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B2440"/>
              </a:buClr>
              <a:buSzPts val="1700"/>
              <a:buFont typeface="Nunito"/>
              <a:buNone/>
            </a:pPr>
            <a:r>
              <a:rPr b="1" lang="en-US" sz="2200">
                <a:solidFill>
                  <a:srgbClr val="1B2440"/>
                </a:solidFill>
                <a:latin typeface="Nunito"/>
                <a:ea typeface="Nunito"/>
                <a:cs typeface="Nunito"/>
                <a:sym typeface="Nunito"/>
              </a:rPr>
              <a:t>LDA</a:t>
            </a:r>
            <a:endParaRPr b="0" i="0" sz="2200" u="none" cap="none" strike="noStrike">
              <a:solidFill>
                <a:schemeClr val="dk1"/>
              </a:solidFill>
              <a:latin typeface="Calibri"/>
              <a:ea typeface="Calibri"/>
              <a:cs typeface="Calibri"/>
              <a:sym typeface="Calibri"/>
            </a:endParaRPr>
          </a:p>
        </p:txBody>
      </p:sp>
      <p:sp>
        <p:nvSpPr>
          <p:cNvPr id="539" name="Google Shape;539;p21"/>
          <p:cNvSpPr/>
          <p:nvPr/>
        </p:nvSpPr>
        <p:spPr>
          <a:xfrm>
            <a:off x="4764900" y="2108475"/>
            <a:ext cx="2662200" cy="2844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B2440"/>
              </a:buClr>
              <a:buSzPts val="1700"/>
              <a:buFont typeface="Nunito"/>
              <a:buNone/>
            </a:pPr>
            <a:r>
              <a:rPr b="1" lang="en-US" sz="2200">
                <a:solidFill>
                  <a:srgbClr val="1B2440"/>
                </a:solidFill>
                <a:latin typeface="Nunito"/>
                <a:ea typeface="Nunito"/>
                <a:cs typeface="Nunito"/>
                <a:sym typeface="Nunito"/>
              </a:rPr>
              <a:t>QDA</a:t>
            </a:r>
            <a:endParaRPr b="0" i="0" sz="2200" u="none" cap="none" strike="noStrike">
              <a:solidFill>
                <a:schemeClr val="dk1"/>
              </a:solidFill>
              <a:latin typeface="Calibri"/>
              <a:ea typeface="Calibri"/>
              <a:cs typeface="Calibri"/>
              <a:sym typeface="Calibri"/>
            </a:endParaRPr>
          </a:p>
        </p:txBody>
      </p:sp>
      <p:sp>
        <p:nvSpPr>
          <p:cNvPr id="540" name="Google Shape;540;p21"/>
          <p:cNvSpPr/>
          <p:nvPr/>
        </p:nvSpPr>
        <p:spPr>
          <a:xfrm>
            <a:off x="8668475" y="2108475"/>
            <a:ext cx="2662200" cy="28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700"/>
              <a:buFont typeface="Nunito"/>
              <a:buNone/>
            </a:pPr>
            <a:r>
              <a:rPr b="1" lang="en-US" sz="2200">
                <a:solidFill>
                  <a:srgbClr val="1B2440"/>
                </a:solidFill>
                <a:latin typeface="Nunito"/>
                <a:ea typeface="Nunito"/>
                <a:cs typeface="Nunito"/>
                <a:sym typeface="Nunito"/>
              </a:rPr>
              <a:t>Covariance Matrices</a:t>
            </a:r>
            <a:endParaRPr b="0" i="0" sz="2200" u="none" cap="none" strike="noStrike">
              <a:solidFill>
                <a:schemeClr val="dk1"/>
              </a:solidFill>
              <a:latin typeface="Calibri"/>
              <a:ea typeface="Calibri"/>
              <a:cs typeface="Calibri"/>
              <a:sym typeface="Calibri"/>
            </a:endParaRPr>
          </a:p>
        </p:txBody>
      </p:sp>
      <p:sp>
        <p:nvSpPr>
          <p:cNvPr id="541" name="Google Shape;541;p21"/>
          <p:cNvSpPr/>
          <p:nvPr/>
        </p:nvSpPr>
        <p:spPr>
          <a:xfrm>
            <a:off x="619925" y="2693200"/>
            <a:ext cx="3056100" cy="2951400"/>
          </a:xfrm>
          <a:prstGeom prst="rect">
            <a:avLst/>
          </a:prstGeom>
          <a:noFill/>
          <a:ln>
            <a:noFill/>
          </a:ln>
        </p:spPr>
        <p:txBody>
          <a:bodyPr anchorCtr="0" anchor="t" bIns="0" lIns="0" spcFirstLastPara="1" rIns="0" wrap="square" tIns="0">
            <a:noAutofit/>
          </a:bodyPr>
          <a:lstStyle/>
          <a:p>
            <a:pPr indent="-342900" lvl="0" marL="457200" marR="0" rtl="0" algn="l">
              <a:lnSpc>
                <a:spcPct val="140000"/>
              </a:lnSpc>
              <a:spcBef>
                <a:spcPts val="0"/>
              </a:spcBef>
              <a:spcAft>
                <a:spcPts val="0"/>
              </a:spcAft>
              <a:buClr>
                <a:srgbClr val="4A5163"/>
              </a:buClr>
              <a:buSzPts val="1800"/>
              <a:buFont typeface="Nunito Sans"/>
              <a:buChar char="●"/>
            </a:pPr>
            <a:r>
              <a:rPr b="1" lang="en-US" sz="1800">
                <a:solidFill>
                  <a:srgbClr val="4A5163"/>
                </a:solidFill>
                <a:latin typeface="Nunito Sans"/>
                <a:ea typeface="Nunito Sans"/>
                <a:cs typeface="Nunito Sans"/>
                <a:sym typeface="Nunito Sans"/>
              </a:rPr>
              <a:t>Linear</a:t>
            </a:r>
            <a:r>
              <a:rPr lang="en-US" sz="1800">
                <a:solidFill>
                  <a:srgbClr val="4A5163"/>
                </a:solidFill>
                <a:latin typeface="Nunito Sans"/>
                <a:ea typeface="Nunito Sans"/>
                <a:cs typeface="Nunito Sans"/>
                <a:sym typeface="Nunito Sans"/>
              </a:rPr>
              <a:t> decision boundary</a:t>
            </a:r>
            <a:endParaRPr sz="1800">
              <a:solidFill>
                <a:srgbClr val="4A5163"/>
              </a:solidFill>
              <a:latin typeface="Nunito Sans"/>
              <a:ea typeface="Nunito Sans"/>
              <a:cs typeface="Nunito Sans"/>
              <a:sym typeface="Nunito Sans"/>
            </a:endParaRPr>
          </a:p>
          <a:p>
            <a:pPr indent="-342900" lvl="0" marL="457200" marR="0" rtl="0" algn="l">
              <a:lnSpc>
                <a:spcPct val="140000"/>
              </a:lnSpc>
              <a:spcBef>
                <a:spcPts val="0"/>
              </a:spcBef>
              <a:spcAft>
                <a:spcPts val="0"/>
              </a:spcAft>
              <a:buClr>
                <a:srgbClr val="4A5163"/>
              </a:buClr>
              <a:buSzPts val="1800"/>
              <a:buFont typeface="Nunito Sans"/>
              <a:buChar char="●"/>
            </a:pPr>
            <a:r>
              <a:rPr b="1" lang="en-US" sz="1800">
                <a:solidFill>
                  <a:srgbClr val="4A5163"/>
                </a:solidFill>
                <a:latin typeface="Nunito Sans"/>
                <a:ea typeface="Nunito Sans"/>
                <a:cs typeface="Nunito Sans"/>
                <a:sym typeface="Nunito Sans"/>
              </a:rPr>
              <a:t>Same</a:t>
            </a:r>
            <a:r>
              <a:rPr lang="en-US" sz="1800">
                <a:solidFill>
                  <a:srgbClr val="4A5163"/>
                </a:solidFill>
                <a:latin typeface="Nunito Sans"/>
                <a:ea typeface="Nunito Sans"/>
                <a:cs typeface="Nunito Sans"/>
                <a:sym typeface="Nunito Sans"/>
              </a:rPr>
              <a:t> covariance matrix across classes</a:t>
            </a:r>
            <a:endParaRPr sz="1800">
              <a:solidFill>
                <a:srgbClr val="4A5163"/>
              </a:solidFill>
              <a:latin typeface="Nunito Sans"/>
              <a:ea typeface="Nunito Sans"/>
              <a:cs typeface="Nunito Sans"/>
              <a:sym typeface="Nunito Sans"/>
            </a:endParaRPr>
          </a:p>
        </p:txBody>
      </p:sp>
      <p:sp>
        <p:nvSpPr>
          <p:cNvPr id="542" name="Google Shape;542;p21"/>
          <p:cNvSpPr/>
          <p:nvPr/>
        </p:nvSpPr>
        <p:spPr>
          <a:xfrm>
            <a:off x="4567950" y="2693200"/>
            <a:ext cx="3056100" cy="2951400"/>
          </a:xfrm>
          <a:prstGeom prst="rect">
            <a:avLst/>
          </a:prstGeom>
          <a:noFill/>
          <a:ln>
            <a:noFill/>
          </a:ln>
        </p:spPr>
        <p:txBody>
          <a:bodyPr anchorCtr="0" anchor="t" bIns="0" lIns="0" spcFirstLastPara="1" rIns="0" wrap="square" tIns="0">
            <a:noAutofit/>
          </a:bodyPr>
          <a:lstStyle/>
          <a:p>
            <a:pPr indent="-342900" lvl="0" marL="457200" marR="0" rtl="0" algn="l">
              <a:lnSpc>
                <a:spcPct val="140000"/>
              </a:lnSpc>
              <a:spcBef>
                <a:spcPts val="0"/>
              </a:spcBef>
              <a:spcAft>
                <a:spcPts val="0"/>
              </a:spcAft>
              <a:buClr>
                <a:srgbClr val="4A5163"/>
              </a:buClr>
              <a:buSzPts val="1800"/>
              <a:buFont typeface="Nunito Sans"/>
              <a:buChar char="●"/>
            </a:pPr>
            <a:r>
              <a:rPr b="1" lang="en-US" sz="1800">
                <a:solidFill>
                  <a:srgbClr val="4A5163"/>
                </a:solidFill>
                <a:latin typeface="Nunito Sans"/>
                <a:ea typeface="Nunito Sans"/>
                <a:cs typeface="Nunito Sans"/>
                <a:sym typeface="Nunito Sans"/>
              </a:rPr>
              <a:t>Curvy</a:t>
            </a:r>
            <a:r>
              <a:rPr lang="en-US" sz="1800">
                <a:solidFill>
                  <a:srgbClr val="4A5163"/>
                </a:solidFill>
                <a:latin typeface="Nunito Sans"/>
                <a:ea typeface="Nunito Sans"/>
                <a:cs typeface="Nunito Sans"/>
                <a:sym typeface="Nunito Sans"/>
              </a:rPr>
              <a:t> decision boundary</a:t>
            </a:r>
            <a:endParaRPr sz="1800">
              <a:solidFill>
                <a:srgbClr val="4A5163"/>
              </a:solidFill>
              <a:latin typeface="Nunito Sans"/>
              <a:ea typeface="Nunito Sans"/>
              <a:cs typeface="Nunito Sans"/>
              <a:sym typeface="Nunito Sans"/>
            </a:endParaRPr>
          </a:p>
          <a:p>
            <a:pPr indent="-342900" lvl="0" marL="457200" marR="0" rtl="0" algn="l">
              <a:lnSpc>
                <a:spcPct val="140000"/>
              </a:lnSpc>
              <a:spcBef>
                <a:spcPts val="0"/>
              </a:spcBef>
              <a:spcAft>
                <a:spcPts val="0"/>
              </a:spcAft>
              <a:buClr>
                <a:srgbClr val="4A5163"/>
              </a:buClr>
              <a:buSzPts val="1800"/>
              <a:buFont typeface="Nunito Sans"/>
              <a:buChar char="●"/>
            </a:pPr>
            <a:r>
              <a:rPr b="1" lang="en-US" sz="1800">
                <a:solidFill>
                  <a:srgbClr val="4A5163"/>
                </a:solidFill>
                <a:latin typeface="Nunito Sans"/>
                <a:ea typeface="Nunito Sans"/>
                <a:cs typeface="Nunito Sans"/>
                <a:sym typeface="Nunito Sans"/>
              </a:rPr>
              <a:t>Different</a:t>
            </a:r>
            <a:r>
              <a:rPr lang="en-US" sz="1800">
                <a:solidFill>
                  <a:srgbClr val="4A5163"/>
                </a:solidFill>
                <a:latin typeface="Nunito Sans"/>
                <a:ea typeface="Nunito Sans"/>
                <a:cs typeface="Nunito Sans"/>
                <a:sym typeface="Nunito Sans"/>
              </a:rPr>
              <a:t> covariance matrices by class</a:t>
            </a:r>
            <a:endParaRPr sz="1800">
              <a:solidFill>
                <a:srgbClr val="4A5163"/>
              </a:solidFill>
              <a:latin typeface="Nunito Sans"/>
              <a:ea typeface="Nunito Sans"/>
              <a:cs typeface="Nunito Sans"/>
              <a:sym typeface="Nunito Sans"/>
            </a:endParaRPr>
          </a:p>
        </p:txBody>
      </p:sp>
      <p:sp>
        <p:nvSpPr>
          <p:cNvPr id="543" name="Google Shape;543;p21"/>
          <p:cNvSpPr/>
          <p:nvPr/>
        </p:nvSpPr>
        <p:spPr>
          <a:xfrm>
            <a:off x="8471525" y="2693200"/>
            <a:ext cx="3056100" cy="29514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t/>
            </a:r>
            <a:endParaRPr sz="1800">
              <a:solidFill>
                <a:srgbClr val="4A5163"/>
              </a:solidFill>
              <a:latin typeface="Nunito Sans"/>
              <a:ea typeface="Nunito Sans"/>
              <a:cs typeface="Nunito Sans"/>
              <a:sym typeface="Nunito Sans"/>
            </a:endParaRPr>
          </a:p>
        </p:txBody>
      </p:sp>
      <p:pic>
        <p:nvPicPr>
          <p:cNvPr id="544" name="Google Shape;544;p21"/>
          <p:cNvPicPr preferRelativeResize="0"/>
          <p:nvPr/>
        </p:nvPicPr>
        <p:blipFill>
          <a:blip r:embed="rId3">
            <a:alphaModFix/>
          </a:blip>
          <a:stretch>
            <a:fillRect/>
          </a:stretch>
        </p:blipFill>
        <p:spPr>
          <a:xfrm>
            <a:off x="8471522" y="3833200"/>
            <a:ext cx="3056102" cy="1941394"/>
          </a:xfrm>
          <a:prstGeom prst="rect">
            <a:avLst/>
          </a:prstGeom>
          <a:noFill/>
          <a:ln>
            <a:noFill/>
          </a:ln>
        </p:spPr>
      </p:pic>
      <p:sp>
        <p:nvSpPr>
          <p:cNvPr id="545" name="Google Shape;545;p21"/>
          <p:cNvSpPr/>
          <p:nvPr/>
        </p:nvSpPr>
        <p:spPr>
          <a:xfrm>
            <a:off x="8515975" y="2693200"/>
            <a:ext cx="3056100" cy="29514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lang="en-US" sz="1800">
                <a:solidFill>
                  <a:srgbClr val="4A5163"/>
                </a:solidFill>
                <a:latin typeface="Nunito Sans"/>
                <a:ea typeface="Nunito Sans"/>
                <a:cs typeface="Nunito Sans"/>
                <a:sym typeface="Nunito Sans"/>
              </a:rPr>
              <a:t>Encodes relationship between pairs of predictors</a:t>
            </a:r>
            <a:endParaRPr sz="1800">
              <a:solidFill>
                <a:srgbClr val="4A5163"/>
              </a:solidFill>
              <a:latin typeface="Nunito Sans"/>
              <a:ea typeface="Nunito Sans"/>
              <a:cs typeface="Nunito Sans"/>
              <a:sym typeface="Nunito Sans"/>
            </a:endParaRPr>
          </a:p>
        </p:txBody>
      </p:sp>
      <p:pic>
        <p:nvPicPr>
          <p:cNvPr id="546" name="Google Shape;546;p21"/>
          <p:cNvPicPr preferRelativeResize="0"/>
          <p:nvPr/>
        </p:nvPicPr>
        <p:blipFill>
          <a:blip r:embed="rId4">
            <a:alphaModFix/>
          </a:blip>
          <a:stretch>
            <a:fillRect/>
          </a:stretch>
        </p:blipFill>
        <p:spPr>
          <a:xfrm>
            <a:off x="1273700" y="3929625"/>
            <a:ext cx="1748552" cy="1748552"/>
          </a:xfrm>
          <a:prstGeom prst="rect">
            <a:avLst/>
          </a:prstGeom>
          <a:noFill/>
          <a:ln>
            <a:noFill/>
          </a:ln>
        </p:spPr>
      </p:pic>
      <p:pic>
        <p:nvPicPr>
          <p:cNvPr id="547" name="Google Shape;547;p21"/>
          <p:cNvPicPr preferRelativeResize="0"/>
          <p:nvPr/>
        </p:nvPicPr>
        <p:blipFill>
          <a:blip r:embed="rId5">
            <a:alphaModFix/>
          </a:blip>
          <a:stretch>
            <a:fillRect/>
          </a:stretch>
        </p:blipFill>
        <p:spPr>
          <a:xfrm>
            <a:off x="5221725" y="3906575"/>
            <a:ext cx="1748552" cy="174855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557" name="Shape 557"/>
        <p:cNvGrpSpPr/>
        <p:nvPr/>
      </p:nvGrpSpPr>
      <p:grpSpPr>
        <a:xfrm>
          <a:off x="0" y="0"/>
          <a:ext cx="0" cy="0"/>
          <a:chOff x="0" y="0"/>
          <a:chExt cx="0" cy="0"/>
        </a:xfrm>
      </p:grpSpPr>
      <p:sp>
        <p:nvSpPr>
          <p:cNvPr id="558" name="Google Shape;558;p23"/>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3 · STATISTICAL CONCEPTS</a:t>
            </a:r>
            <a:endParaRPr b="0" i="0" sz="1200" u="none" cap="none" strike="noStrike">
              <a:solidFill>
                <a:schemeClr val="dk1"/>
              </a:solidFill>
              <a:latin typeface="Calibri"/>
              <a:ea typeface="Calibri"/>
              <a:cs typeface="Calibri"/>
              <a:sym typeface="Calibri"/>
            </a:endParaRPr>
          </a:p>
        </p:txBody>
      </p:sp>
      <p:sp>
        <p:nvSpPr>
          <p:cNvPr id="559" name="Google Shape;559;p23"/>
          <p:cNvSpPr/>
          <p:nvPr/>
        </p:nvSpPr>
        <p:spPr>
          <a:xfrm>
            <a:off x="812800" y="1229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Validation</a:t>
            </a:r>
            <a:endParaRPr b="0" i="0" sz="3200" u="none" cap="none" strike="noStrike">
              <a:solidFill>
                <a:schemeClr val="dk1"/>
              </a:solidFill>
              <a:latin typeface="Calibri"/>
              <a:ea typeface="Calibri"/>
              <a:cs typeface="Calibri"/>
              <a:sym typeface="Calibri"/>
            </a:endParaRPr>
          </a:p>
        </p:txBody>
      </p:sp>
      <p:sp>
        <p:nvSpPr>
          <p:cNvPr id="560" name="Google Shape;560;p23"/>
          <p:cNvSpPr/>
          <p:nvPr/>
        </p:nvSpPr>
        <p:spPr>
          <a:xfrm>
            <a:off x="812800" y="1878400"/>
            <a:ext cx="5169000" cy="3583800"/>
          </a:xfrm>
          <a:prstGeom prst="roundRect">
            <a:avLst>
              <a:gd fmla="val 4075"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3"/>
          <p:cNvSpPr/>
          <p:nvPr/>
        </p:nvSpPr>
        <p:spPr>
          <a:xfrm>
            <a:off x="1028700" y="2095450"/>
            <a:ext cx="4892294" cy="28446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B2440"/>
              </a:buClr>
              <a:buSzPts val="1700"/>
              <a:buFont typeface="Nunito"/>
              <a:buNone/>
            </a:pPr>
            <a:r>
              <a:rPr b="1" i="0" lang="en-US" sz="1800" u="none" cap="none" strike="noStrike">
                <a:solidFill>
                  <a:srgbClr val="1B2440"/>
                </a:solidFill>
                <a:latin typeface="Nunito"/>
                <a:ea typeface="Nunito"/>
                <a:cs typeface="Nunito"/>
                <a:sym typeface="Nunito"/>
              </a:rPr>
              <a:t>k-</a:t>
            </a:r>
            <a:r>
              <a:rPr b="1" lang="en-US" sz="1800">
                <a:solidFill>
                  <a:srgbClr val="1B2440"/>
                </a:solidFill>
                <a:latin typeface="Nunito"/>
                <a:ea typeface="Nunito"/>
                <a:cs typeface="Nunito"/>
                <a:sym typeface="Nunito"/>
              </a:rPr>
              <a:t>F</a:t>
            </a:r>
            <a:r>
              <a:rPr b="1" i="0" lang="en-US" sz="1800" u="none" cap="none" strike="noStrike">
                <a:solidFill>
                  <a:srgbClr val="1B2440"/>
                </a:solidFill>
                <a:latin typeface="Nunito"/>
                <a:ea typeface="Nunito"/>
                <a:cs typeface="Nunito"/>
                <a:sym typeface="Nunito"/>
              </a:rPr>
              <a:t>old </a:t>
            </a:r>
            <a:r>
              <a:rPr b="1" lang="en-US" sz="1800">
                <a:solidFill>
                  <a:srgbClr val="1B2440"/>
                </a:solidFill>
                <a:latin typeface="Nunito"/>
                <a:ea typeface="Nunito"/>
                <a:cs typeface="Nunito"/>
                <a:sym typeface="Nunito"/>
              </a:rPr>
              <a:t>C</a:t>
            </a:r>
            <a:r>
              <a:rPr b="1" i="0" lang="en-US" sz="1800" u="none" cap="none" strike="noStrike">
                <a:solidFill>
                  <a:srgbClr val="1B2440"/>
                </a:solidFill>
                <a:latin typeface="Nunito"/>
                <a:ea typeface="Nunito"/>
                <a:cs typeface="Nunito"/>
                <a:sym typeface="Nunito"/>
              </a:rPr>
              <a:t>ross-</a:t>
            </a:r>
            <a:r>
              <a:rPr b="1" lang="en-US" sz="1800">
                <a:solidFill>
                  <a:srgbClr val="1B2440"/>
                </a:solidFill>
                <a:latin typeface="Nunito"/>
                <a:ea typeface="Nunito"/>
                <a:cs typeface="Nunito"/>
                <a:sym typeface="Nunito"/>
              </a:rPr>
              <a:t>V</a:t>
            </a:r>
            <a:r>
              <a:rPr b="1" i="0" lang="en-US" sz="1800" u="none" cap="none" strike="noStrike">
                <a:solidFill>
                  <a:srgbClr val="1B2440"/>
                </a:solidFill>
                <a:latin typeface="Nunito"/>
                <a:ea typeface="Nunito"/>
                <a:cs typeface="Nunito"/>
                <a:sym typeface="Nunito"/>
              </a:rPr>
              <a:t>alidation</a:t>
            </a:r>
            <a:endParaRPr b="0" i="0" sz="1800" u="none" cap="none" strike="noStrike">
              <a:solidFill>
                <a:schemeClr val="dk1"/>
              </a:solidFill>
              <a:latin typeface="Calibri"/>
              <a:ea typeface="Calibri"/>
              <a:cs typeface="Calibri"/>
              <a:sym typeface="Calibri"/>
            </a:endParaRPr>
          </a:p>
        </p:txBody>
      </p:sp>
      <p:sp>
        <p:nvSpPr>
          <p:cNvPr id="562" name="Google Shape;562;p23"/>
          <p:cNvSpPr/>
          <p:nvPr/>
        </p:nvSpPr>
        <p:spPr>
          <a:xfrm>
            <a:off x="6275150" y="1878400"/>
            <a:ext cx="5169000" cy="3583800"/>
          </a:xfrm>
          <a:prstGeom prst="roundRect">
            <a:avLst>
              <a:gd fmla="val 4075"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23"/>
          <p:cNvSpPr/>
          <p:nvPr/>
        </p:nvSpPr>
        <p:spPr>
          <a:xfrm>
            <a:off x="6413500" y="2095450"/>
            <a:ext cx="4892294" cy="28446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B2440"/>
              </a:buClr>
              <a:buSzPts val="1700"/>
              <a:buFont typeface="Nunito"/>
              <a:buNone/>
            </a:pPr>
            <a:r>
              <a:rPr b="1" i="0" lang="en-US" sz="1800" u="none" cap="none" strike="noStrike">
                <a:solidFill>
                  <a:srgbClr val="1B2440"/>
                </a:solidFill>
                <a:latin typeface="Nunito"/>
                <a:ea typeface="Nunito"/>
                <a:cs typeface="Nunito"/>
                <a:sym typeface="Nunito"/>
              </a:rPr>
              <a:t>The </a:t>
            </a:r>
            <a:r>
              <a:rPr b="1" lang="en-US" sz="1800">
                <a:solidFill>
                  <a:srgbClr val="1B2440"/>
                </a:solidFill>
                <a:latin typeface="Nunito"/>
                <a:ea typeface="Nunito"/>
                <a:cs typeface="Nunito"/>
                <a:sym typeface="Nunito"/>
              </a:rPr>
              <a:t>Bootstrap</a:t>
            </a:r>
            <a:endParaRPr b="0" i="0" sz="1800" u="none" cap="none" strike="noStrike">
              <a:solidFill>
                <a:schemeClr val="dk1"/>
              </a:solidFill>
              <a:latin typeface="Calibri"/>
              <a:ea typeface="Calibri"/>
              <a:cs typeface="Calibri"/>
              <a:sym typeface="Calibri"/>
            </a:endParaRPr>
          </a:p>
        </p:txBody>
      </p:sp>
      <p:sp>
        <p:nvSpPr>
          <p:cNvPr id="564" name="Google Shape;564;p23"/>
          <p:cNvSpPr/>
          <p:nvPr/>
        </p:nvSpPr>
        <p:spPr>
          <a:xfrm>
            <a:off x="812800" y="62890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23 · James et al. (2023), ISL Sections 5.1.3 and 5.2 · Our folds are whole events: slide 24</a:t>
            </a:r>
            <a:endParaRPr b="0" i="0" sz="1200" u="none" cap="none" strike="noStrike">
              <a:solidFill>
                <a:schemeClr val="dk1"/>
              </a:solidFill>
              <a:latin typeface="Calibri"/>
              <a:ea typeface="Calibri"/>
              <a:cs typeface="Calibri"/>
              <a:sym typeface="Calibri"/>
            </a:endParaRPr>
          </a:p>
        </p:txBody>
      </p:sp>
      <p:sp>
        <p:nvSpPr>
          <p:cNvPr id="565" name="Google Shape;565;p23"/>
          <p:cNvSpPr/>
          <p:nvPr/>
        </p:nvSpPr>
        <p:spPr>
          <a:xfrm>
            <a:off x="2484300" y="2806711"/>
            <a:ext cx="355500" cy="304800"/>
          </a:xfrm>
          <a:prstGeom prst="roundRect">
            <a:avLst>
              <a:gd fmla="val 20833" name="adj"/>
            </a:avLst>
          </a:prstGeom>
          <a:solidFill>
            <a:srgbClr val="E060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23"/>
          <p:cNvSpPr/>
          <p:nvPr/>
        </p:nvSpPr>
        <p:spPr>
          <a:xfrm>
            <a:off x="2890700" y="2806711"/>
            <a:ext cx="355500" cy="304800"/>
          </a:xfrm>
          <a:prstGeom prst="roundRect">
            <a:avLst>
              <a:gd fmla="val 20833"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3"/>
          <p:cNvSpPr/>
          <p:nvPr/>
        </p:nvSpPr>
        <p:spPr>
          <a:xfrm>
            <a:off x="3297100" y="2806711"/>
            <a:ext cx="355500" cy="304800"/>
          </a:xfrm>
          <a:prstGeom prst="roundRect">
            <a:avLst>
              <a:gd fmla="val 20833"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23"/>
          <p:cNvSpPr/>
          <p:nvPr/>
        </p:nvSpPr>
        <p:spPr>
          <a:xfrm>
            <a:off x="3703500" y="2806711"/>
            <a:ext cx="355500" cy="304800"/>
          </a:xfrm>
          <a:prstGeom prst="roundRect">
            <a:avLst>
              <a:gd fmla="val 20833"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23"/>
          <p:cNvSpPr/>
          <p:nvPr/>
        </p:nvSpPr>
        <p:spPr>
          <a:xfrm>
            <a:off x="4109900" y="2806711"/>
            <a:ext cx="355500" cy="304800"/>
          </a:xfrm>
          <a:prstGeom prst="roundRect">
            <a:avLst>
              <a:gd fmla="val 20833"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23"/>
          <p:cNvSpPr/>
          <p:nvPr/>
        </p:nvSpPr>
        <p:spPr>
          <a:xfrm>
            <a:off x="2484300" y="3162311"/>
            <a:ext cx="355500" cy="304800"/>
          </a:xfrm>
          <a:prstGeom prst="roundRect">
            <a:avLst>
              <a:gd fmla="val 20833"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23"/>
          <p:cNvSpPr/>
          <p:nvPr/>
        </p:nvSpPr>
        <p:spPr>
          <a:xfrm>
            <a:off x="2890700" y="3162311"/>
            <a:ext cx="355500" cy="304800"/>
          </a:xfrm>
          <a:prstGeom prst="roundRect">
            <a:avLst>
              <a:gd fmla="val 20833" name="adj"/>
            </a:avLst>
          </a:prstGeom>
          <a:solidFill>
            <a:srgbClr val="E060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23"/>
          <p:cNvSpPr/>
          <p:nvPr/>
        </p:nvSpPr>
        <p:spPr>
          <a:xfrm>
            <a:off x="3297100" y="3162311"/>
            <a:ext cx="355500" cy="304800"/>
          </a:xfrm>
          <a:prstGeom prst="roundRect">
            <a:avLst>
              <a:gd fmla="val 20833"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23"/>
          <p:cNvSpPr/>
          <p:nvPr/>
        </p:nvSpPr>
        <p:spPr>
          <a:xfrm>
            <a:off x="3703500" y="3162311"/>
            <a:ext cx="355500" cy="304800"/>
          </a:xfrm>
          <a:prstGeom prst="roundRect">
            <a:avLst>
              <a:gd fmla="val 20833"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23"/>
          <p:cNvSpPr/>
          <p:nvPr/>
        </p:nvSpPr>
        <p:spPr>
          <a:xfrm>
            <a:off x="4109900" y="3162311"/>
            <a:ext cx="355500" cy="304800"/>
          </a:xfrm>
          <a:prstGeom prst="roundRect">
            <a:avLst>
              <a:gd fmla="val 20833"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23"/>
          <p:cNvSpPr/>
          <p:nvPr/>
        </p:nvSpPr>
        <p:spPr>
          <a:xfrm>
            <a:off x="2484300" y="3517911"/>
            <a:ext cx="355500" cy="304800"/>
          </a:xfrm>
          <a:prstGeom prst="roundRect">
            <a:avLst>
              <a:gd fmla="val 20833"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23"/>
          <p:cNvSpPr/>
          <p:nvPr/>
        </p:nvSpPr>
        <p:spPr>
          <a:xfrm>
            <a:off x="2890700" y="3517911"/>
            <a:ext cx="355500" cy="304800"/>
          </a:xfrm>
          <a:prstGeom prst="roundRect">
            <a:avLst>
              <a:gd fmla="val 20833"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23"/>
          <p:cNvSpPr/>
          <p:nvPr/>
        </p:nvSpPr>
        <p:spPr>
          <a:xfrm>
            <a:off x="3297100" y="3517911"/>
            <a:ext cx="355500" cy="304800"/>
          </a:xfrm>
          <a:prstGeom prst="roundRect">
            <a:avLst>
              <a:gd fmla="val 20833" name="adj"/>
            </a:avLst>
          </a:prstGeom>
          <a:solidFill>
            <a:srgbClr val="E060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23"/>
          <p:cNvSpPr/>
          <p:nvPr/>
        </p:nvSpPr>
        <p:spPr>
          <a:xfrm>
            <a:off x="3703500" y="3517911"/>
            <a:ext cx="355500" cy="304800"/>
          </a:xfrm>
          <a:prstGeom prst="roundRect">
            <a:avLst>
              <a:gd fmla="val 20833"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23"/>
          <p:cNvSpPr/>
          <p:nvPr/>
        </p:nvSpPr>
        <p:spPr>
          <a:xfrm>
            <a:off x="4109900" y="3517911"/>
            <a:ext cx="355500" cy="304800"/>
          </a:xfrm>
          <a:prstGeom prst="roundRect">
            <a:avLst>
              <a:gd fmla="val 20833"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23"/>
          <p:cNvSpPr/>
          <p:nvPr/>
        </p:nvSpPr>
        <p:spPr>
          <a:xfrm>
            <a:off x="2484300" y="3873511"/>
            <a:ext cx="355500" cy="304800"/>
          </a:xfrm>
          <a:prstGeom prst="roundRect">
            <a:avLst>
              <a:gd fmla="val 20833"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23"/>
          <p:cNvSpPr/>
          <p:nvPr/>
        </p:nvSpPr>
        <p:spPr>
          <a:xfrm>
            <a:off x="2890700" y="3873511"/>
            <a:ext cx="355500" cy="304800"/>
          </a:xfrm>
          <a:prstGeom prst="roundRect">
            <a:avLst>
              <a:gd fmla="val 20833"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23"/>
          <p:cNvSpPr/>
          <p:nvPr/>
        </p:nvSpPr>
        <p:spPr>
          <a:xfrm>
            <a:off x="3297100" y="3873511"/>
            <a:ext cx="355500" cy="304800"/>
          </a:xfrm>
          <a:prstGeom prst="roundRect">
            <a:avLst>
              <a:gd fmla="val 20833"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23"/>
          <p:cNvSpPr/>
          <p:nvPr/>
        </p:nvSpPr>
        <p:spPr>
          <a:xfrm>
            <a:off x="3703500" y="3873511"/>
            <a:ext cx="355500" cy="304800"/>
          </a:xfrm>
          <a:prstGeom prst="roundRect">
            <a:avLst>
              <a:gd fmla="val 20833" name="adj"/>
            </a:avLst>
          </a:prstGeom>
          <a:solidFill>
            <a:srgbClr val="E060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23"/>
          <p:cNvSpPr/>
          <p:nvPr/>
        </p:nvSpPr>
        <p:spPr>
          <a:xfrm>
            <a:off x="4109900" y="3873511"/>
            <a:ext cx="355500" cy="304800"/>
          </a:xfrm>
          <a:prstGeom prst="roundRect">
            <a:avLst>
              <a:gd fmla="val 20833"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23"/>
          <p:cNvSpPr/>
          <p:nvPr/>
        </p:nvSpPr>
        <p:spPr>
          <a:xfrm>
            <a:off x="2484300" y="4229111"/>
            <a:ext cx="355500" cy="304800"/>
          </a:xfrm>
          <a:prstGeom prst="roundRect">
            <a:avLst>
              <a:gd fmla="val 20833"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23"/>
          <p:cNvSpPr/>
          <p:nvPr/>
        </p:nvSpPr>
        <p:spPr>
          <a:xfrm>
            <a:off x="2890700" y="4229111"/>
            <a:ext cx="355500" cy="304800"/>
          </a:xfrm>
          <a:prstGeom prst="roundRect">
            <a:avLst>
              <a:gd fmla="val 20833"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23"/>
          <p:cNvSpPr/>
          <p:nvPr/>
        </p:nvSpPr>
        <p:spPr>
          <a:xfrm>
            <a:off x="3297100" y="4229111"/>
            <a:ext cx="355500" cy="304800"/>
          </a:xfrm>
          <a:prstGeom prst="roundRect">
            <a:avLst>
              <a:gd fmla="val 20833"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23"/>
          <p:cNvSpPr/>
          <p:nvPr/>
        </p:nvSpPr>
        <p:spPr>
          <a:xfrm>
            <a:off x="3703500" y="4229111"/>
            <a:ext cx="355500" cy="304800"/>
          </a:xfrm>
          <a:prstGeom prst="roundRect">
            <a:avLst>
              <a:gd fmla="val 20833"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23"/>
          <p:cNvSpPr/>
          <p:nvPr/>
        </p:nvSpPr>
        <p:spPr>
          <a:xfrm>
            <a:off x="4109900" y="4229111"/>
            <a:ext cx="355500" cy="304800"/>
          </a:xfrm>
          <a:prstGeom prst="roundRect">
            <a:avLst>
              <a:gd fmla="val 20833" name="adj"/>
            </a:avLst>
          </a:prstGeom>
          <a:solidFill>
            <a:srgbClr val="E060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23"/>
          <p:cNvSpPr/>
          <p:nvPr/>
        </p:nvSpPr>
        <p:spPr>
          <a:xfrm>
            <a:off x="7183250" y="2992150"/>
            <a:ext cx="11937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Data</a:t>
            </a:r>
            <a:endParaRPr b="0" i="0" sz="1200" u="none" cap="none" strike="noStrike">
              <a:solidFill>
                <a:schemeClr val="dk1"/>
              </a:solidFill>
              <a:latin typeface="Calibri"/>
              <a:ea typeface="Calibri"/>
              <a:cs typeface="Calibri"/>
              <a:sym typeface="Calibri"/>
            </a:endParaRPr>
          </a:p>
        </p:txBody>
      </p:sp>
      <p:sp>
        <p:nvSpPr>
          <p:cNvPr id="591" name="Google Shape;591;p23"/>
          <p:cNvSpPr/>
          <p:nvPr/>
        </p:nvSpPr>
        <p:spPr>
          <a:xfrm>
            <a:off x="8389750" y="2946411"/>
            <a:ext cx="304800" cy="304800"/>
          </a:xfrm>
          <a:prstGeom prst="roundRect">
            <a:avLst>
              <a:gd fmla="val 50000" name="adj"/>
            </a:avLst>
          </a:prstGeom>
          <a:solidFill>
            <a:srgbClr val="C9CED8"/>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1</a:t>
            </a:r>
            <a:endParaRPr b="0" i="0" sz="1200" u="none" cap="none" strike="noStrike">
              <a:solidFill>
                <a:schemeClr val="dk1"/>
              </a:solidFill>
              <a:latin typeface="Calibri"/>
              <a:ea typeface="Calibri"/>
              <a:cs typeface="Calibri"/>
              <a:sym typeface="Calibri"/>
            </a:endParaRPr>
          </a:p>
        </p:txBody>
      </p:sp>
      <p:sp>
        <p:nvSpPr>
          <p:cNvPr id="592" name="Google Shape;592;p23"/>
          <p:cNvSpPr/>
          <p:nvPr/>
        </p:nvSpPr>
        <p:spPr>
          <a:xfrm>
            <a:off x="8758050" y="2946411"/>
            <a:ext cx="304800" cy="304800"/>
          </a:xfrm>
          <a:prstGeom prst="roundRect">
            <a:avLst>
              <a:gd fmla="val 50000" name="adj"/>
            </a:avLst>
          </a:prstGeom>
          <a:solidFill>
            <a:srgbClr val="C9CED8"/>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2</a:t>
            </a:r>
            <a:endParaRPr b="0" i="0" sz="1200" u="none" cap="none" strike="noStrike">
              <a:solidFill>
                <a:schemeClr val="dk1"/>
              </a:solidFill>
              <a:latin typeface="Calibri"/>
              <a:ea typeface="Calibri"/>
              <a:cs typeface="Calibri"/>
              <a:sym typeface="Calibri"/>
            </a:endParaRPr>
          </a:p>
        </p:txBody>
      </p:sp>
      <p:sp>
        <p:nvSpPr>
          <p:cNvPr id="593" name="Google Shape;593;p23"/>
          <p:cNvSpPr/>
          <p:nvPr/>
        </p:nvSpPr>
        <p:spPr>
          <a:xfrm>
            <a:off x="9126350" y="2946411"/>
            <a:ext cx="304800" cy="304800"/>
          </a:xfrm>
          <a:prstGeom prst="roundRect">
            <a:avLst>
              <a:gd fmla="val 50000" name="adj"/>
            </a:avLst>
          </a:prstGeom>
          <a:solidFill>
            <a:srgbClr val="C9CED8"/>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3</a:t>
            </a:r>
            <a:endParaRPr b="0" i="0" sz="1200" u="none" cap="none" strike="noStrike">
              <a:solidFill>
                <a:schemeClr val="dk1"/>
              </a:solidFill>
              <a:latin typeface="Calibri"/>
              <a:ea typeface="Calibri"/>
              <a:cs typeface="Calibri"/>
              <a:sym typeface="Calibri"/>
            </a:endParaRPr>
          </a:p>
        </p:txBody>
      </p:sp>
      <p:sp>
        <p:nvSpPr>
          <p:cNvPr id="594" name="Google Shape;594;p23"/>
          <p:cNvSpPr/>
          <p:nvPr/>
        </p:nvSpPr>
        <p:spPr>
          <a:xfrm>
            <a:off x="9494650" y="2946411"/>
            <a:ext cx="304800" cy="304800"/>
          </a:xfrm>
          <a:prstGeom prst="roundRect">
            <a:avLst>
              <a:gd fmla="val 50000" name="adj"/>
            </a:avLst>
          </a:prstGeom>
          <a:solidFill>
            <a:srgbClr val="C9CED8"/>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4</a:t>
            </a:r>
            <a:endParaRPr b="0" i="0" sz="1200" u="none" cap="none" strike="noStrike">
              <a:solidFill>
                <a:schemeClr val="dk1"/>
              </a:solidFill>
              <a:latin typeface="Calibri"/>
              <a:ea typeface="Calibri"/>
              <a:cs typeface="Calibri"/>
              <a:sym typeface="Calibri"/>
            </a:endParaRPr>
          </a:p>
        </p:txBody>
      </p:sp>
      <p:sp>
        <p:nvSpPr>
          <p:cNvPr id="595" name="Google Shape;595;p23"/>
          <p:cNvSpPr/>
          <p:nvPr/>
        </p:nvSpPr>
        <p:spPr>
          <a:xfrm>
            <a:off x="9862950" y="2946411"/>
            <a:ext cx="304800" cy="304800"/>
          </a:xfrm>
          <a:prstGeom prst="roundRect">
            <a:avLst>
              <a:gd fmla="val 50000" name="adj"/>
            </a:avLst>
          </a:prstGeom>
          <a:solidFill>
            <a:srgbClr val="C9CED8"/>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5</a:t>
            </a:r>
            <a:endParaRPr b="0" i="0" sz="1200" u="none" cap="none" strike="noStrike">
              <a:solidFill>
                <a:schemeClr val="dk1"/>
              </a:solidFill>
              <a:latin typeface="Calibri"/>
              <a:ea typeface="Calibri"/>
              <a:cs typeface="Calibri"/>
              <a:sym typeface="Calibri"/>
            </a:endParaRPr>
          </a:p>
        </p:txBody>
      </p:sp>
      <p:sp>
        <p:nvSpPr>
          <p:cNvPr id="596" name="Google Shape;596;p23"/>
          <p:cNvSpPr/>
          <p:nvPr/>
        </p:nvSpPr>
        <p:spPr>
          <a:xfrm>
            <a:off x="10231250" y="2946411"/>
            <a:ext cx="304800" cy="304800"/>
          </a:xfrm>
          <a:prstGeom prst="roundRect">
            <a:avLst>
              <a:gd fmla="val 50000" name="adj"/>
            </a:avLst>
          </a:prstGeom>
          <a:solidFill>
            <a:srgbClr val="C9CED8"/>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6</a:t>
            </a:r>
            <a:endParaRPr b="0" i="0" sz="1200" u="none" cap="none" strike="noStrike">
              <a:solidFill>
                <a:schemeClr val="dk1"/>
              </a:solidFill>
              <a:latin typeface="Calibri"/>
              <a:ea typeface="Calibri"/>
              <a:cs typeface="Calibri"/>
              <a:sym typeface="Calibri"/>
            </a:endParaRPr>
          </a:p>
        </p:txBody>
      </p:sp>
      <p:sp>
        <p:nvSpPr>
          <p:cNvPr id="597" name="Google Shape;597;p23"/>
          <p:cNvSpPr/>
          <p:nvPr/>
        </p:nvSpPr>
        <p:spPr>
          <a:xfrm>
            <a:off x="7183250" y="3373150"/>
            <a:ext cx="11937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440"/>
              </a:buClr>
              <a:buSzPts val="1200"/>
              <a:buFont typeface="Nunito Sans"/>
              <a:buNone/>
            </a:pPr>
            <a:r>
              <a:rPr b="0" i="0" lang="en-US" sz="1200" u="none" cap="none" strike="noStrike">
                <a:solidFill>
                  <a:srgbClr val="1B2440"/>
                </a:solidFill>
                <a:latin typeface="Nunito Sans"/>
                <a:ea typeface="Nunito Sans"/>
                <a:cs typeface="Nunito Sans"/>
                <a:sym typeface="Nunito Sans"/>
              </a:rPr>
              <a:t>Resample 1</a:t>
            </a:r>
            <a:endParaRPr b="0" i="0" sz="1200" u="none" cap="none" strike="noStrike">
              <a:solidFill>
                <a:schemeClr val="dk1"/>
              </a:solidFill>
              <a:latin typeface="Calibri"/>
              <a:ea typeface="Calibri"/>
              <a:cs typeface="Calibri"/>
              <a:sym typeface="Calibri"/>
            </a:endParaRPr>
          </a:p>
        </p:txBody>
      </p:sp>
      <p:sp>
        <p:nvSpPr>
          <p:cNvPr id="598" name="Google Shape;598;p23"/>
          <p:cNvSpPr/>
          <p:nvPr/>
        </p:nvSpPr>
        <p:spPr>
          <a:xfrm>
            <a:off x="8389750" y="3327411"/>
            <a:ext cx="304800" cy="304800"/>
          </a:xfrm>
          <a:prstGeom prst="roundRect">
            <a:avLst>
              <a:gd fmla="val 50000" name="adj"/>
            </a:avLst>
          </a:prstGeom>
          <a:solidFill>
            <a:srgbClr val="F2A7B5"/>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2</a:t>
            </a:r>
            <a:endParaRPr b="0" i="0" sz="1200" u="none" cap="none" strike="noStrike">
              <a:solidFill>
                <a:schemeClr val="dk1"/>
              </a:solidFill>
              <a:latin typeface="Calibri"/>
              <a:ea typeface="Calibri"/>
              <a:cs typeface="Calibri"/>
              <a:sym typeface="Calibri"/>
            </a:endParaRPr>
          </a:p>
        </p:txBody>
      </p:sp>
      <p:sp>
        <p:nvSpPr>
          <p:cNvPr id="599" name="Google Shape;599;p23"/>
          <p:cNvSpPr/>
          <p:nvPr/>
        </p:nvSpPr>
        <p:spPr>
          <a:xfrm>
            <a:off x="8758050" y="3327411"/>
            <a:ext cx="304800" cy="304800"/>
          </a:xfrm>
          <a:prstGeom prst="roundRect">
            <a:avLst>
              <a:gd fmla="val 50000" name="adj"/>
            </a:avLst>
          </a:prstGeom>
          <a:solidFill>
            <a:srgbClr val="F2A7B5"/>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2</a:t>
            </a:r>
            <a:endParaRPr b="0" i="0" sz="1200" u="none" cap="none" strike="noStrike">
              <a:solidFill>
                <a:schemeClr val="dk1"/>
              </a:solidFill>
              <a:latin typeface="Calibri"/>
              <a:ea typeface="Calibri"/>
              <a:cs typeface="Calibri"/>
              <a:sym typeface="Calibri"/>
            </a:endParaRPr>
          </a:p>
        </p:txBody>
      </p:sp>
      <p:sp>
        <p:nvSpPr>
          <p:cNvPr id="600" name="Google Shape;600;p23"/>
          <p:cNvSpPr/>
          <p:nvPr/>
        </p:nvSpPr>
        <p:spPr>
          <a:xfrm>
            <a:off x="9126350" y="3327411"/>
            <a:ext cx="304800" cy="304800"/>
          </a:xfrm>
          <a:prstGeom prst="roundRect">
            <a:avLst>
              <a:gd fmla="val 50000" name="adj"/>
            </a:avLst>
          </a:prstGeom>
          <a:solidFill>
            <a:srgbClr val="F2A7B5"/>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4</a:t>
            </a:r>
            <a:endParaRPr b="0" i="0" sz="1200" u="none" cap="none" strike="noStrike">
              <a:solidFill>
                <a:schemeClr val="dk1"/>
              </a:solidFill>
              <a:latin typeface="Calibri"/>
              <a:ea typeface="Calibri"/>
              <a:cs typeface="Calibri"/>
              <a:sym typeface="Calibri"/>
            </a:endParaRPr>
          </a:p>
        </p:txBody>
      </p:sp>
      <p:sp>
        <p:nvSpPr>
          <p:cNvPr id="601" name="Google Shape;601;p23"/>
          <p:cNvSpPr/>
          <p:nvPr/>
        </p:nvSpPr>
        <p:spPr>
          <a:xfrm>
            <a:off x="9494650" y="3327411"/>
            <a:ext cx="304800" cy="304800"/>
          </a:xfrm>
          <a:prstGeom prst="roundRect">
            <a:avLst>
              <a:gd fmla="val 50000" name="adj"/>
            </a:avLst>
          </a:prstGeom>
          <a:solidFill>
            <a:srgbClr val="F2A7B5"/>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5</a:t>
            </a:r>
            <a:endParaRPr b="0" i="0" sz="1200" u="none" cap="none" strike="noStrike">
              <a:solidFill>
                <a:schemeClr val="dk1"/>
              </a:solidFill>
              <a:latin typeface="Calibri"/>
              <a:ea typeface="Calibri"/>
              <a:cs typeface="Calibri"/>
              <a:sym typeface="Calibri"/>
            </a:endParaRPr>
          </a:p>
        </p:txBody>
      </p:sp>
      <p:sp>
        <p:nvSpPr>
          <p:cNvPr id="602" name="Google Shape;602;p23"/>
          <p:cNvSpPr/>
          <p:nvPr/>
        </p:nvSpPr>
        <p:spPr>
          <a:xfrm>
            <a:off x="9862950" y="3327411"/>
            <a:ext cx="304800" cy="304800"/>
          </a:xfrm>
          <a:prstGeom prst="roundRect">
            <a:avLst>
              <a:gd fmla="val 50000" name="adj"/>
            </a:avLst>
          </a:prstGeom>
          <a:solidFill>
            <a:srgbClr val="F2A7B5"/>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5</a:t>
            </a:r>
            <a:endParaRPr b="0" i="0" sz="1200" u="none" cap="none" strike="noStrike">
              <a:solidFill>
                <a:schemeClr val="dk1"/>
              </a:solidFill>
              <a:latin typeface="Calibri"/>
              <a:ea typeface="Calibri"/>
              <a:cs typeface="Calibri"/>
              <a:sym typeface="Calibri"/>
            </a:endParaRPr>
          </a:p>
        </p:txBody>
      </p:sp>
      <p:sp>
        <p:nvSpPr>
          <p:cNvPr id="603" name="Google Shape;603;p23"/>
          <p:cNvSpPr/>
          <p:nvPr/>
        </p:nvSpPr>
        <p:spPr>
          <a:xfrm>
            <a:off x="10231250" y="3327411"/>
            <a:ext cx="304800" cy="304800"/>
          </a:xfrm>
          <a:prstGeom prst="roundRect">
            <a:avLst>
              <a:gd fmla="val 50000" name="adj"/>
            </a:avLst>
          </a:prstGeom>
          <a:solidFill>
            <a:srgbClr val="F2A7B5"/>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6</a:t>
            </a:r>
            <a:endParaRPr b="0" i="0" sz="1200" u="none" cap="none" strike="noStrike">
              <a:solidFill>
                <a:schemeClr val="dk1"/>
              </a:solidFill>
              <a:latin typeface="Calibri"/>
              <a:ea typeface="Calibri"/>
              <a:cs typeface="Calibri"/>
              <a:sym typeface="Calibri"/>
            </a:endParaRPr>
          </a:p>
        </p:txBody>
      </p:sp>
      <p:sp>
        <p:nvSpPr>
          <p:cNvPr id="604" name="Google Shape;604;p23"/>
          <p:cNvSpPr/>
          <p:nvPr/>
        </p:nvSpPr>
        <p:spPr>
          <a:xfrm>
            <a:off x="7183250" y="3754150"/>
            <a:ext cx="11937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440"/>
              </a:buClr>
              <a:buSzPts val="1200"/>
              <a:buFont typeface="Nunito Sans"/>
              <a:buNone/>
            </a:pPr>
            <a:r>
              <a:rPr b="0" i="0" lang="en-US" sz="1200" u="none" cap="none" strike="noStrike">
                <a:solidFill>
                  <a:srgbClr val="1B2440"/>
                </a:solidFill>
                <a:latin typeface="Nunito Sans"/>
                <a:ea typeface="Nunito Sans"/>
                <a:cs typeface="Nunito Sans"/>
                <a:sym typeface="Nunito Sans"/>
              </a:rPr>
              <a:t>Resample 2</a:t>
            </a:r>
            <a:endParaRPr b="0" i="0" sz="1200" u="none" cap="none" strike="noStrike">
              <a:solidFill>
                <a:schemeClr val="dk1"/>
              </a:solidFill>
              <a:latin typeface="Calibri"/>
              <a:ea typeface="Calibri"/>
              <a:cs typeface="Calibri"/>
              <a:sym typeface="Calibri"/>
            </a:endParaRPr>
          </a:p>
        </p:txBody>
      </p:sp>
      <p:sp>
        <p:nvSpPr>
          <p:cNvPr id="605" name="Google Shape;605;p23"/>
          <p:cNvSpPr/>
          <p:nvPr/>
        </p:nvSpPr>
        <p:spPr>
          <a:xfrm>
            <a:off x="8389750" y="3708411"/>
            <a:ext cx="304800" cy="304800"/>
          </a:xfrm>
          <a:prstGeom prst="roundRect">
            <a:avLst>
              <a:gd fmla="val 50000" name="adj"/>
            </a:avLst>
          </a:prstGeom>
          <a:solidFill>
            <a:srgbClr val="F2A7B5"/>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1</a:t>
            </a:r>
            <a:endParaRPr b="0" i="0" sz="1200" u="none" cap="none" strike="noStrike">
              <a:solidFill>
                <a:schemeClr val="dk1"/>
              </a:solidFill>
              <a:latin typeface="Calibri"/>
              <a:ea typeface="Calibri"/>
              <a:cs typeface="Calibri"/>
              <a:sym typeface="Calibri"/>
            </a:endParaRPr>
          </a:p>
        </p:txBody>
      </p:sp>
      <p:sp>
        <p:nvSpPr>
          <p:cNvPr id="606" name="Google Shape;606;p23"/>
          <p:cNvSpPr/>
          <p:nvPr/>
        </p:nvSpPr>
        <p:spPr>
          <a:xfrm>
            <a:off x="8758050" y="3708411"/>
            <a:ext cx="304800" cy="304800"/>
          </a:xfrm>
          <a:prstGeom prst="roundRect">
            <a:avLst>
              <a:gd fmla="val 50000" name="adj"/>
            </a:avLst>
          </a:prstGeom>
          <a:solidFill>
            <a:srgbClr val="F2A7B5"/>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1</a:t>
            </a:r>
            <a:endParaRPr b="0" i="0" sz="1200" u="none" cap="none" strike="noStrike">
              <a:solidFill>
                <a:schemeClr val="dk1"/>
              </a:solidFill>
              <a:latin typeface="Calibri"/>
              <a:ea typeface="Calibri"/>
              <a:cs typeface="Calibri"/>
              <a:sym typeface="Calibri"/>
            </a:endParaRPr>
          </a:p>
        </p:txBody>
      </p:sp>
      <p:sp>
        <p:nvSpPr>
          <p:cNvPr id="607" name="Google Shape;607;p23"/>
          <p:cNvSpPr/>
          <p:nvPr/>
        </p:nvSpPr>
        <p:spPr>
          <a:xfrm>
            <a:off x="9126350" y="3708411"/>
            <a:ext cx="304800" cy="304800"/>
          </a:xfrm>
          <a:prstGeom prst="roundRect">
            <a:avLst>
              <a:gd fmla="val 50000" name="adj"/>
            </a:avLst>
          </a:prstGeom>
          <a:solidFill>
            <a:srgbClr val="F2A7B5"/>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3</a:t>
            </a:r>
            <a:endParaRPr b="0" i="0" sz="1200" u="none" cap="none" strike="noStrike">
              <a:solidFill>
                <a:schemeClr val="dk1"/>
              </a:solidFill>
              <a:latin typeface="Calibri"/>
              <a:ea typeface="Calibri"/>
              <a:cs typeface="Calibri"/>
              <a:sym typeface="Calibri"/>
            </a:endParaRPr>
          </a:p>
        </p:txBody>
      </p:sp>
      <p:sp>
        <p:nvSpPr>
          <p:cNvPr id="608" name="Google Shape;608;p23"/>
          <p:cNvSpPr/>
          <p:nvPr/>
        </p:nvSpPr>
        <p:spPr>
          <a:xfrm>
            <a:off x="9494650" y="3708411"/>
            <a:ext cx="304800" cy="304800"/>
          </a:xfrm>
          <a:prstGeom prst="roundRect">
            <a:avLst>
              <a:gd fmla="val 50000" name="adj"/>
            </a:avLst>
          </a:prstGeom>
          <a:solidFill>
            <a:srgbClr val="F2A7B5"/>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3</a:t>
            </a:r>
            <a:endParaRPr b="0" i="0" sz="1200" u="none" cap="none" strike="noStrike">
              <a:solidFill>
                <a:schemeClr val="dk1"/>
              </a:solidFill>
              <a:latin typeface="Calibri"/>
              <a:ea typeface="Calibri"/>
              <a:cs typeface="Calibri"/>
              <a:sym typeface="Calibri"/>
            </a:endParaRPr>
          </a:p>
        </p:txBody>
      </p:sp>
      <p:sp>
        <p:nvSpPr>
          <p:cNvPr id="609" name="Google Shape;609;p23"/>
          <p:cNvSpPr/>
          <p:nvPr/>
        </p:nvSpPr>
        <p:spPr>
          <a:xfrm>
            <a:off x="9862950" y="3708411"/>
            <a:ext cx="304800" cy="304800"/>
          </a:xfrm>
          <a:prstGeom prst="roundRect">
            <a:avLst>
              <a:gd fmla="val 50000" name="adj"/>
            </a:avLst>
          </a:prstGeom>
          <a:solidFill>
            <a:srgbClr val="F2A7B5"/>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4</a:t>
            </a:r>
            <a:endParaRPr b="0" i="0" sz="1200" u="none" cap="none" strike="noStrike">
              <a:solidFill>
                <a:schemeClr val="dk1"/>
              </a:solidFill>
              <a:latin typeface="Calibri"/>
              <a:ea typeface="Calibri"/>
              <a:cs typeface="Calibri"/>
              <a:sym typeface="Calibri"/>
            </a:endParaRPr>
          </a:p>
        </p:txBody>
      </p:sp>
      <p:sp>
        <p:nvSpPr>
          <p:cNvPr id="610" name="Google Shape;610;p23"/>
          <p:cNvSpPr/>
          <p:nvPr/>
        </p:nvSpPr>
        <p:spPr>
          <a:xfrm>
            <a:off x="10231250" y="3708411"/>
            <a:ext cx="304800" cy="304800"/>
          </a:xfrm>
          <a:prstGeom prst="roundRect">
            <a:avLst>
              <a:gd fmla="val 50000" name="adj"/>
            </a:avLst>
          </a:prstGeom>
          <a:solidFill>
            <a:srgbClr val="F2A7B5"/>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6</a:t>
            </a:r>
            <a:endParaRPr b="0" i="0" sz="1200" u="none" cap="none" strike="noStrike">
              <a:solidFill>
                <a:schemeClr val="dk1"/>
              </a:solidFill>
              <a:latin typeface="Calibri"/>
              <a:ea typeface="Calibri"/>
              <a:cs typeface="Calibri"/>
              <a:sym typeface="Calibri"/>
            </a:endParaRPr>
          </a:p>
        </p:txBody>
      </p:sp>
      <p:sp>
        <p:nvSpPr>
          <p:cNvPr id="611" name="Google Shape;611;p23"/>
          <p:cNvSpPr/>
          <p:nvPr/>
        </p:nvSpPr>
        <p:spPr>
          <a:xfrm>
            <a:off x="7183250" y="4135150"/>
            <a:ext cx="11937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440"/>
              </a:buClr>
              <a:buSzPts val="1200"/>
              <a:buFont typeface="Nunito Sans"/>
              <a:buNone/>
            </a:pPr>
            <a:r>
              <a:rPr b="0" i="0" lang="en-US" sz="1200" u="none" cap="none" strike="noStrike">
                <a:solidFill>
                  <a:srgbClr val="1B2440"/>
                </a:solidFill>
                <a:latin typeface="Nunito Sans"/>
                <a:ea typeface="Nunito Sans"/>
                <a:cs typeface="Nunito Sans"/>
                <a:sym typeface="Nunito Sans"/>
              </a:rPr>
              <a:t>Resample 3</a:t>
            </a:r>
            <a:endParaRPr b="0" i="0" sz="1200" u="none" cap="none" strike="noStrike">
              <a:solidFill>
                <a:schemeClr val="dk1"/>
              </a:solidFill>
              <a:latin typeface="Calibri"/>
              <a:ea typeface="Calibri"/>
              <a:cs typeface="Calibri"/>
              <a:sym typeface="Calibri"/>
            </a:endParaRPr>
          </a:p>
        </p:txBody>
      </p:sp>
      <p:sp>
        <p:nvSpPr>
          <p:cNvPr id="612" name="Google Shape;612;p23"/>
          <p:cNvSpPr/>
          <p:nvPr/>
        </p:nvSpPr>
        <p:spPr>
          <a:xfrm>
            <a:off x="8389750" y="4089411"/>
            <a:ext cx="304800" cy="304800"/>
          </a:xfrm>
          <a:prstGeom prst="roundRect">
            <a:avLst>
              <a:gd fmla="val 50000" name="adj"/>
            </a:avLst>
          </a:prstGeom>
          <a:solidFill>
            <a:srgbClr val="F2A7B5"/>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1</a:t>
            </a:r>
            <a:endParaRPr b="0" i="0" sz="1200" u="none" cap="none" strike="noStrike">
              <a:solidFill>
                <a:schemeClr val="dk1"/>
              </a:solidFill>
              <a:latin typeface="Calibri"/>
              <a:ea typeface="Calibri"/>
              <a:cs typeface="Calibri"/>
              <a:sym typeface="Calibri"/>
            </a:endParaRPr>
          </a:p>
        </p:txBody>
      </p:sp>
      <p:sp>
        <p:nvSpPr>
          <p:cNvPr id="613" name="Google Shape;613;p23"/>
          <p:cNvSpPr/>
          <p:nvPr/>
        </p:nvSpPr>
        <p:spPr>
          <a:xfrm>
            <a:off x="8758050" y="4089411"/>
            <a:ext cx="304800" cy="304800"/>
          </a:xfrm>
          <a:prstGeom prst="roundRect">
            <a:avLst>
              <a:gd fmla="val 50000" name="adj"/>
            </a:avLst>
          </a:prstGeom>
          <a:solidFill>
            <a:srgbClr val="F2A7B5"/>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2</a:t>
            </a:r>
            <a:endParaRPr b="0" i="0" sz="1200" u="none" cap="none" strike="noStrike">
              <a:solidFill>
                <a:schemeClr val="dk1"/>
              </a:solidFill>
              <a:latin typeface="Calibri"/>
              <a:ea typeface="Calibri"/>
              <a:cs typeface="Calibri"/>
              <a:sym typeface="Calibri"/>
            </a:endParaRPr>
          </a:p>
        </p:txBody>
      </p:sp>
      <p:sp>
        <p:nvSpPr>
          <p:cNvPr id="614" name="Google Shape;614;p23"/>
          <p:cNvSpPr/>
          <p:nvPr/>
        </p:nvSpPr>
        <p:spPr>
          <a:xfrm>
            <a:off x="9126350" y="4089411"/>
            <a:ext cx="304800" cy="304800"/>
          </a:xfrm>
          <a:prstGeom prst="roundRect">
            <a:avLst>
              <a:gd fmla="val 50000" name="adj"/>
            </a:avLst>
          </a:prstGeom>
          <a:solidFill>
            <a:srgbClr val="F2A7B5"/>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2</a:t>
            </a:r>
            <a:endParaRPr b="0" i="0" sz="1200" u="none" cap="none" strike="noStrike">
              <a:solidFill>
                <a:schemeClr val="dk1"/>
              </a:solidFill>
              <a:latin typeface="Calibri"/>
              <a:ea typeface="Calibri"/>
              <a:cs typeface="Calibri"/>
              <a:sym typeface="Calibri"/>
            </a:endParaRPr>
          </a:p>
        </p:txBody>
      </p:sp>
      <p:sp>
        <p:nvSpPr>
          <p:cNvPr id="615" name="Google Shape;615;p23"/>
          <p:cNvSpPr/>
          <p:nvPr/>
        </p:nvSpPr>
        <p:spPr>
          <a:xfrm>
            <a:off x="9494650" y="4089411"/>
            <a:ext cx="304800" cy="304800"/>
          </a:xfrm>
          <a:prstGeom prst="roundRect">
            <a:avLst>
              <a:gd fmla="val 50000" name="adj"/>
            </a:avLst>
          </a:prstGeom>
          <a:solidFill>
            <a:srgbClr val="F2A7B5"/>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5</a:t>
            </a:r>
            <a:endParaRPr b="0" i="0" sz="1200" u="none" cap="none" strike="noStrike">
              <a:solidFill>
                <a:schemeClr val="dk1"/>
              </a:solidFill>
              <a:latin typeface="Calibri"/>
              <a:ea typeface="Calibri"/>
              <a:cs typeface="Calibri"/>
              <a:sym typeface="Calibri"/>
            </a:endParaRPr>
          </a:p>
        </p:txBody>
      </p:sp>
      <p:sp>
        <p:nvSpPr>
          <p:cNvPr id="616" name="Google Shape;616;p23"/>
          <p:cNvSpPr/>
          <p:nvPr/>
        </p:nvSpPr>
        <p:spPr>
          <a:xfrm>
            <a:off x="9862950" y="4089411"/>
            <a:ext cx="304800" cy="304800"/>
          </a:xfrm>
          <a:prstGeom prst="roundRect">
            <a:avLst>
              <a:gd fmla="val 50000" name="adj"/>
            </a:avLst>
          </a:prstGeom>
          <a:solidFill>
            <a:srgbClr val="F2A7B5"/>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6</a:t>
            </a:r>
            <a:endParaRPr b="0" i="0" sz="1200" u="none" cap="none" strike="noStrike">
              <a:solidFill>
                <a:schemeClr val="dk1"/>
              </a:solidFill>
              <a:latin typeface="Calibri"/>
              <a:ea typeface="Calibri"/>
              <a:cs typeface="Calibri"/>
              <a:sym typeface="Calibri"/>
            </a:endParaRPr>
          </a:p>
        </p:txBody>
      </p:sp>
      <p:sp>
        <p:nvSpPr>
          <p:cNvPr id="617" name="Google Shape;617;p23"/>
          <p:cNvSpPr/>
          <p:nvPr/>
        </p:nvSpPr>
        <p:spPr>
          <a:xfrm>
            <a:off x="10231250" y="4089411"/>
            <a:ext cx="304800" cy="304800"/>
          </a:xfrm>
          <a:prstGeom prst="roundRect">
            <a:avLst>
              <a:gd fmla="val 50000" name="adj"/>
            </a:avLst>
          </a:prstGeom>
          <a:solidFill>
            <a:srgbClr val="F2A7B5"/>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622" name="Shape 622"/>
        <p:cNvGrpSpPr/>
        <p:nvPr/>
      </p:nvGrpSpPr>
      <p:grpSpPr>
        <a:xfrm>
          <a:off x="0" y="0"/>
          <a:ext cx="0" cy="0"/>
          <a:chOff x="0" y="0"/>
          <a:chExt cx="0" cy="0"/>
        </a:xfrm>
      </p:grpSpPr>
      <p:sp>
        <p:nvSpPr>
          <p:cNvPr id="623" name="Google Shape;623;p24"/>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4 · TECHNICAL IMPLEMENTATION</a:t>
            </a:r>
            <a:endParaRPr b="0" i="0" sz="1200" u="none" cap="none" strike="noStrike">
              <a:solidFill>
                <a:schemeClr val="dk1"/>
              </a:solidFill>
              <a:latin typeface="Calibri"/>
              <a:ea typeface="Calibri"/>
              <a:cs typeface="Calibri"/>
              <a:sym typeface="Calibri"/>
            </a:endParaRPr>
          </a:p>
        </p:txBody>
      </p:sp>
      <p:sp>
        <p:nvSpPr>
          <p:cNvPr id="624" name="Google Shape;624;p24"/>
          <p:cNvSpPr/>
          <p:nvPr/>
        </p:nvSpPr>
        <p:spPr>
          <a:xfrm>
            <a:off x="812800" y="11785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Hold out whole events </a:t>
            </a:r>
            <a:r>
              <a:rPr b="1" lang="en-US" sz="3200">
                <a:solidFill>
                  <a:srgbClr val="1B2440"/>
                </a:solidFill>
                <a:latin typeface="Nunito"/>
                <a:ea typeface="Nunito"/>
                <a:cs typeface="Nunito"/>
                <a:sym typeface="Nunito"/>
              </a:rPr>
              <a:t>instead of</a:t>
            </a:r>
            <a:r>
              <a:rPr b="1" i="0" lang="en-US" sz="3200" u="none" cap="none" strike="noStrike">
                <a:solidFill>
                  <a:srgbClr val="1B2440"/>
                </a:solidFill>
                <a:latin typeface="Nunito"/>
                <a:ea typeface="Nunito"/>
                <a:cs typeface="Nunito"/>
                <a:sym typeface="Nunito"/>
              </a:rPr>
              <a:t> pairs in C</a:t>
            </a:r>
            <a:r>
              <a:rPr b="1" lang="en-US" sz="3200">
                <a:solidFill>
                  <a:srgbClr val="1B2440"/>
                </a:solidFill>
                <a:latin typeface="Nunito"/>
                <a:ea typeface="Nunito"/>
                <a:cs typeface="Nunito"/>
                <a:sym typeface="Nunito"/>
              </a:rPr>
              <a:t>V</a:t>
            </a:r>
            <a:endParaRPr b="0" i="0" sz="3200" u="none" cap="none" strike="noStrike">
              <a:solidFill>
                <a:schemeClr val="dk1"/>
              </a:solidFill>
              <a:latin typeface="Calibri"/>
              <a:ea typeface="Calibri"/>
              <a:cs typeface="Calibri"/>
              <a:sym typeface="Calibri"/>
            </a:endParaRPr>
          </a:p>
        </p:txBody>
      </p:sp>
      <p:sp>
        <p:nvSpPr>
          <p:cNvPr id="625" name="Google Shape;625;p24"/>
          <p:cNvSpPr/>
          <p:nvPr/>
        </p:nvSpPr>
        <p:spPr>
          <a:xfrm>
            <a:off x="819150" y="1784300"/>
            <a:ext cx="3407817" cy="1343620"/>
          </a:xfrm>
          <a:prstGeom prst="roundRect">
            <a:avLst>
              <a:gd fmla="val 1087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4"/>
          <p:cNvSpPr/>
          <p:nvPr/>
        </p:nvSpPr>
        <p:spPr>
          <a:xfrm>
            <a:off x="1003300" y="1968450"/>
            <a:ext cx="3130702" cy="2692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600"/>
              <a:buFont typeface="Nunito"/>
              <a:buNone/>
            </a:pPr>
            <a:r>
              <a:rPr b="1" i="0" lang="en-US" sz="1600" u="none" cap="none" strike="noStrike">
                <a:solidFill>
                  <a:srgbClr val="1B2440"/>
                </a:solidFill>
                <a:latin typeface="Nunito"/>
                <a:ea typeface="Nunito"/>
                <a:cs typeface="Nunito"/>
                <a:sym typeface="Nunito"/>
              </a:rPr>
              <a:t>Why</a:t>
            </a:r>
            <a:endParaRPr b="0" i="0" sz="1600" u="none" cap="none" strike="noStrike">
              <a:solidFill>
                <a:schemeClr val="dk1"/>
              </a:solidFill>
              <a:latin typeface="Calibri"/>
              <a:ea typeface="Calibri"/>
              <a:cs typeface="Calibri"/>
              <a:sym typeface="Calibri"/>
            </a:endParaRPr>
          </a:p>
        </p:txBody>
      </p:sp>
      <p:sp>
        <p:nvSpPr>
          <p:cNvPr id="627" name="Google Shape;627;p24"/>
          <p:cNvSpPr/>
          <p:nvPr/>
        </p:nvSpPr>
        <p:spPr>
          <a:xfrm>
            <a:off x="1003300" y="2250380"/>
            <a:ext cx="3130702"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People date up to 22 partners; a random split would test on people already seen.</a:t>
            </a:r>
            <a:endParaRPr b="0" i="0" sz="1300" u="none" cap="none" strike="noStrike">
              <a:solidFill>
                <a:schemeClr val="dk1"/>
              </a:solidFill>
              <a:latin typeface="Calibri"/>
              <a:ea typeface="Calibri"/>
              <a:cs typeface="Calibri"/>
              <a:sym typeface="Calibri"/>
            </a:endParaRPr>
          </a:p>
        </p:txBody>
      </p:sp>
      <p:sp>
        <p:nvSpPr>
          <p:cNvPr id="628" name="Google Shape;628;p24"/>
          <p:cNvSpPr/>
          <p:nvPr/>
        </p:nvSpPr>
        <p:spPr>
          <a:xfrm>
            <a:off x="4392067" y="1784300"/>
            <a:ext cx="3407866" cy="1343620"/>
          </a:xfrm>
          <a:prstGeom prst="roundRect">
            <a:avLst>
              <a:gd fmla="val 1087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24"/>
          <p:cNvSpPr/>
          <p:nvPr/>
        </p:nvSpPr>
        <p:spPr>
          <a:xfrm>
            <a:off x="4576217" y="1968450"/>
            <a:ext cx="3130753" cy="2692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600"/>
              <a:buFont typeface="Nunito"/>
              <a:buNone/>
            </a:pPr>
            <a:r>
              <a:rPr b="1" i="0" lang="en-US" sz="1600" u="none" cap="none" strike="noStrike">
                <a:solidFill>
                  <a:srgbClr val="1B2440"/>
                </a:solidFill>
                <a:latin typeface="Nunito"/>
                <a:ea typeface="Nunito"/>
                <a:cs typeface="Nunito"/>
                <a:sym typeface="Nunito"/>
              </a:rPr>
              <a:t>Tuning</a:t>
            </a:r>
            <a:endParaRPr b="0" i="0" sz="1600" u="none" cap="none" strike="noStrike">
              <a:solidFill>
                <a:schemeClr val="dk1"/>
              </a:solidFill>
              <a:latin typeface="Calibri"/>
              <a:ea typeface="Calibri"/>
              <a:cs typeface="Calibri"/>
              <a:sym typeface="Calibri"/>
            </a:endParaRPr>
          </a:p>
        </p:txBody>
      </p:sp>
      <p:sp>
        <p:nvSpPr>
          <p:cNvPr id="630" name="Google Shape;630;p24"/>
          <p:cNvSpPr/>
          <p:nvPr/>
        </p:nvSpPr>
        <p:spPr>
          <a:xfrm>
            <a:off x="4576217" y="2250380"/>
            <a:ext cx="3130753" cy="7187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An inner cross-validation inside the training events picks each model's settings.</a:t>
            </a:r>
            <a:endParaRPr b="0" i="0" sz="1300" u="none" cap="none" strike="noStrike">
              <a:solidFill>
                <a:schemeClr val="dk1"/>
              </a:solidFill>
              <a:latin typeface="Calibri"/>
              <a:ea typeface="Calibri"/>
              <a:cs typeface="Calibri"/>
              <a:sym typeface="Calibri"/>
            </a:endParaRPr>
          </a:p>
        </p:txBody>
      </p:sp>
      <p:sp>
        <p:nvSpPr>
          <p:cNvPr id="631" name="Google Shape;631;p24"/>
          <p:cNvSpPr/>
          <p:nvPr/>
        </p:nvSpPr>
        <p:spPr>
          <a:xfrm>
            <a:off x="7965033" y="1784300"/>
            <a:ext cx="3407817" cy="1343620"/>
          </a:xfrm>
          <a:prstGeom prst="roundRect">
            <a:avLst>
              <a:gd fmla="val 1087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4"/>
          <p:cNvSpPr/>
          <p:nvPr/>
        </p:nvSpPr>
        <p:spPr>
          <a:xfrm>
            <a:off x="8149183" y="1968450"/>
            <a:ext cx="3130702" cy="2692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600"/>
              <a:buFont typeface="Nunito"/>
              <a:buNone/>
            </a:pPr>
            <a:r>
              <a:rPr b="1" i="0" lang="en-US" sz="1600" u="none" cap="none" strike="noStrike">
                <a:solidFill>
                  <a:srgbClr val="1B2440"/>
                </a:solidFill>
                <a:latin typeface="Nunito"/>
                <a:ea typeface="Nunito"/>
                <a:cs typeface="Nunito"/>
                <a:sym typeface="Nunito"/>
              </a:rPr>
              <a:t>Preparation</a:t>
            </a:r>
            <a:endParaRPr b="0" i="0" sz="1600" u="none" cap="none" strike="noStrike">
              <a:solidFill>
                <a:schemeClr val="dk1"/>
              </a:solidFill>
              <a:latin typeface="Calibri"/>
              <a:ea typeface="Calibri"/>
              <a:cs typeface="Calibri"/>
              <a:sym typeface="Calibri"/>
            </a:endParaRPr>
          </a:p>
        </p:txBody>
      </p:sp>
      <p:sp>
        <p:nvSpPr>
          <p:cNvPr id="633" name="Google Shape;633;p24"/>
          <p:cNvSpPr/>
          <p:nvPr/>
        </p:nvSpPr>
        <p:spPr>
          <a:xfrm>
            <a:off x="8149183" y="2250380"/>
            <a:ext cx="3130702"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Medians, log transforms and scaling are learned from training events only.</a:t>
            </a:r>
            <a:endParaRPr b="0" i="0" sz="1300" u="none" cap="none" strike="noStrike">
              <a:solidFill>
                <a:schemeClr val="dk1"/>
              </a:solidFill>
              <a:latin typeface="Calibri"/>
              <a:ea typeface="Calibri"/>
              <a:cs typeface="Calibri"/>
              <a:sym typeface="Calibri"/>
            </a:endParaRPr>
          </a:p>
        </p:txBody>
      </p:sp>
      <p:pic>
        <p:nvPicPr>
          <p:cNvPr descr="Our five cross-validation rounds: in each round a different group of four or five events (orange) is held out and scored while the model is fitted on the other events (blue); every event is held out exactly once. Held out per round: 1,137, 434, 925, 849 and 839 pairs." id="634" name="Google Shape;634;p24"/>
          <p:cNvPicPr preferRelativeResize="0"/>
          <p:nvPr/>
        </p:nvPicPr>
        <p:blipFill rotWithShape="1">
          <a:blip r:embed="rId4">
            <a:alphaModFix/>
          </a:blip>
          <a:stretch/>
        </p:blipFill>
        <p:spPr>
          <a:xfrm>
            <a:off x="1942994" y="3286671"/>
            <a:ext cx="8306012" cy="2444750"/>
          </a:xfrm>
          <a:prstGeom prst="rect">
            <a:avLst/>
          </a:prstGeom>
          <a:noFill/>
          <a:ln>
            <a:noFill/>
          </a:ln>
        </p:spPr>
      </p:pic>
      <p:sp>
        <p:nvSpPr>
          <p:cNvPr id="635" name="Google Shape;635;p24"/>
          <p:cNvSpPr/>
          <p:nvPr/>
        </p:nvSpPr>
        <p:spPr>
          <a:xfrm>
            <a:off x="812800" y="62890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24 · Grouped CV: Roberts et al. (2017) · Nested CV: Varma &amp; Simon (2006); Hastie et al. (2009) §7.10.2</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BF7F2"/>
        </a:solidFill>
      </p:bgPr>
    </p:bg>
    <p:spTree>
      <p:nvGrpSpPr>
        <p:cNvPr id="640" name="Shape 640"/>
        <p:cNvGrpSpPr/>
        <p:nvPr/>
      </p:nvGrpSpPr>
      <p:grpSpPr>
        <a:xfrm>
          <a:off x="0" y="0"/>
          <a:ext cx="0" cy="0"/>
          <a:chOff x="0" y="0"/>
          <a:chExt cx="0" cy="0"/>
        </a:xfrm>
      </p:grpSpPr>
      <p:sp>
        <p:nvSpPr>
          <p:cNvPr id="641" name="Google Shape;641;p25"/>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3 · STATISTICAL CONCEPTS</a:t>
            </a:r>
            <a:endParaRPr b="0" i="0" sz="1200" u="none" cap="none" strike="noStrike">
              <a:solidFill>
                <a:schemeClr val="dk1"/>
              </a:solidFill>
              <a:latin typeface="Calibri"/>
              <a:ea typeface="Calibri"/>
              <a:cs typeface="Calibri"/>
              <a:sym typeface="Calibri"/>
            </a:endParaRPr>
          </a:p>
        </p:txBody>
      </p:sp>
      <p:sp>
        <p:nvSpPr>
          <p:cNvPr id="642" name="Google Shape;642;p25"/>
          <p:cNvSpPr/>
          <p:nvPr/>
        </p:nvSpPr>
        <p:spPr>
          <a:xfrm>
            <a:off x="812800" y="1229320"/>
            <a:ext cx="108834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Tree </a:t>
            </a:r>
            <a:r>
              <a:rPr b="1" lang="en-US" sz="3200">
                <a:solidFill>
                  <a:srgbClr val="1B2440"/>
                </a:solidFill>
                <a:latin typeface="Nunito"/>
                <a:ea typeface="Nunito"/>
                <a:cs typeface="Nunito"/>
                <a:sym typeface="Nunito"/>
              </a:rPr>
              <a:t>Methods</a:t>
            </a:r>
            <a:endParaRPr b="0" i="0" sz="3200" u="none" cap="none" strike="noStrike">
              <a:solidFill>
                <a:schemeClr val="dk1"/>
              </a:solidFill>
              <a:latin typeface="Calibri"/>
              <a:ea typeface="Calibri"/>
              <a:cs typeface="Calibri"/>
              <a:sym typeface="Calibri"/>
            </a:endParaRPr>
          </a:p>
        </p:txBody>
      </p:sp>
      <p:sp>
        <p:nvSpPr>
          <p:cNvPr id="643" name="Google Shape;643;p25"/>
          <p:cNvSpPr/>
          <p:nvPr/>
        </p:nvSpPr>
        <p:spPr>
          <a:xfrm>
            <a:off x="8124100" y="812800"/>
            <a:ext cx="3500400" cy="1586100"/>
          </a:xfrm>
          <a:prstGeom prst="roundRect">
            <a:avLst>
              <a:gd fmla="val 4329"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25"/>
          <p:cNvSpPr/>
          <p:nvPr/>
        </p:nvSpPr>
        <p:spPr>
          <a:xfrm>
            <a:off x="8124100" y="2398900"/>
            <a:ext cx="3500400" cy="1737900"/>
          </a:xfrm>
          <a:prstGeom prst="roundRect">
            <a:avLst>
              <a:gd fmla="val 4329"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25"/>
          <p:cNvSpPr/>
          <p:nvPr/>
        </p:nvSpPr>
        <p:spPr>
          <a:xfrm>
            <a:off x="8378734" y="2680459"/>
            <a:ext cx="3043500" cy="2814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B2440"/>
              </a:buClr>
              <a:buSzPts val="1700"/>
              <a:buFont typeface="Nunito"/>
              <a:buNone/>
            </a:pPr>
            <a:r>
              <a:rPr b="1" i="0" lang="en-US" sz="2200" u="none" cap="none" strike="noStrike">
                <a:solidFill>
                  <a:srgbClr val="1B2440"/>
                </a:solidFill>
                <a:latin typeface="Nunito"/>
                <a:ea typeface="Nunito"/>
                <a:cs typeface="Nunito"/>
                <a:sym typeface="Nunito"/>
              </a:rPr>
              <a:t>Bagging</a:t>
            </a:r>
            <a:endParaRPr b="0" i="0" sz="2200" u="none" cap="none" strike="noStrike">
              <a:solidFill>
                <a:schemeClr val="dk1"/>
              </a:solidFill>
              <a:latin typeface="Calibri"/>
              <a:ea typeface="Calibri"/>
              <a:cs typeface="Calibri"/>
              <a:sym typeface="Calibri"/>
            </a:endParaRPr>
          </a:p>
        </p:txBody>
      </p:sp>
      <p:sp>
        <p:nvSpPr>
          <p:cNvPr id="646" name="Google Shape;646;p25"/>
          <p:cNvSpPr/>
          <p:nvPr/>
        </p:nvSpPr>
        <p:spPr>
          <a:xfrm>
            <a:off x="8378697" y="3250316"/>
            <a:ext cx="3043500" cy="116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lang="en-US" sz="1600">
                <a:solidFill>
                  <a:srgbClr val="4A5163"/>
                </a:solidFill>
                <a:latin typeface="Nunito Sans"/>
                <a:ea typeface="Nunito Sans"/>
                <a:cs typeface="Nunito Sans"/>
                <a:sym typeface="Nunito Sans"/>
              </a:rPr>
              <a:t>Draw several bootstrap samples and fit a tree to each.</a:t>
            </a:r>
            <a:endParaRPr b="0" i="0" sz="1600" u="none" cap="none" strike="noStrike">
              <a:solidFill>
                <a:schemeClr val="dk1"/>
              </a:solidFill>
              <a:latin typeface="Calibri"/>
              <a:ea typeface="Calibri"/>
              <a:cs typeface="Calibri"/>
              <a:sym typeface="Calibri"/>
            </a:endParaRPr>
          </a:p>
        </p:txBody>
      </p:sp>
      <p:sp>
        <p:nvSpPr>
          <p:cNvPr id="647" name="Google Shape;647;p25"/>
          <p:cNvSpPr/>
          <p:nvPr/>
        </p:nvSpPr>
        <p:spPr>
          <a:xfrm>
            <a:off x="8124100" y="4129325"/>
            <a:ext cx="3482100" cy="1737900"/>
          </a:xfrm>
          <a:prstGeom prst="roundRect">
            <a:avLst>
              <a:gd fmla="val 4329" name="adj"/>
            </a:avLst>
          </a:prstGeom>
          <a:solidFill>
            <a:schemeClr val="lt1"/>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25"/>
          <p:cNvSpPr/>
          <p:nvPr/>
        </p:nvSpPr>
        <p:spPr>
          <a:xfrm>
            <a:off x="8380242" y="4413875"/>
            <a:ext cx="3043500" cy="2844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B2440"/>
              </a:buClr>
              <a:buSzPts val="1700"/>
              <a:buFont typeface="Nunito"/>
              <a:buNone/>
            </a:pPr>
            <a:r>
              <a:rPr b="1" i="0" lang="en-US" sz="2200" u="none" cap="none" strike="noStrike">
                <a:solidFill>
                  <a:srgbClr val="1B2440"/>
                </a:solidFill>
                <a:latin typeface="Nunito"/>
                <a:ea typeface="Nunito"/>
                <a:cs typeface="Nunito"/>
                <a:sym typeface="Nunito"/>
              </a:rPr>
              <a:t>Random </a:t>
            </a:r>
            <a:r>
              <a:rPr b="1" lang="en-US" sz="2200">
                <a:solidFill>
                  <a:srgbClr val="1B2440"/>
                </a:solidFill>
                <a:latin typeface="Nunito"/>
                <a:ea typeface="Nunito"/>
                <a:cs typeface="Nunito"/>
                <a:sym typeface="Nunito"/>
              </a:rPr>
              <a:t>Forest</a:t>
            </a:r>
            <a:endParaRPr b="0" i="0" sz="2200" u="none" cap="none" strike="noStrike">
              <a:solidFill>
                <a:schemeClr val="dk1"/>
              </a:solidFill>
              <a:latin typeface="Calibri"/>
              <a:ea typeface="Calibri"/>
              <a:cs typeface="Calibri"/>
              <a:sym typeface="Calibri"/>
            </a:endParaRPr>
          </a:p>
        </p:txBody>
      </p:sp>
      <p:sp>
        <p:nvSpPr>
          <p:cNvPr id="649" name="Google Shape;649;p25"/>
          <p:cNvSpPr/>
          <p:nvPr/>
        </p:nvSpPr>
        <p:spPr>
          <a:xfrm>
            <a:off x="8397267" y="5014649"/>
            <a:ext cx="3043500" cy="949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lang="en-US" sz="1600">
                <a:solidFill>
                  <a:srgbClr val="4A5163"/>
                </a:solidFill>
                <a:latin typeface="Nunito Sans"/>
                <a:ea typeface="Nunito Sans"/>
                <a:cs typeface="Nunito Sans"/>
                <a:sym typeface="Nunito Sans"/>
              </a:rPr>
              <a:t>Decorrelates trees, reducing variance</a:t>
            </a:r>
            <a:endParaRPr b="0" i="0" sz="1600" u="none" cap="none" strike="noStrike">
              <a:solidFill>
                <a:schemeClr val="dk1"/>
              </a:solidFill>
              <a:latin typeface="Calibri"/>
              <a:ea typeface="Calibri"/>
              <a:cs typeface="Calibri"/>
              <a:sym typeface="Calibri"/>
            </a:endParaRPr>
          </a:p>
        </p:txBody>
      </p:sp>
      <p:sp>
        <p:nvSpPr>
          <p:cNvPr id="650" name="Google Shape;650;p25"/>
          <p:cNvSpPr/>
          <p:nvPr/>
        </p:nvSpPr>
        <p:spPr>
          <a:xfrm>
            <a:off x="812800" y="62890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14 · James et al. (2023), ISL Sections 8.1–8.2.2 · Breiman (2001) · The tree is an illustration, not fitted to our data</a:t>
            </a:r>
            <a:endParaRPr b="0" i="0" sz="1200" u="none" cap="none" strike="noStrike">
              <a:solidFill>
                <a:schemeClr val="dk1"/>
              </a:solidFill>
              <a:latin typeface="Calibri"/>
              <a:ea typeface="Calibri"/>
              <a:cs typeface="Calibri"/>
              <a:sym typeface="Calibri"/>
            </a:endParaRPr>
          </a:p>
        </p:txBody>
      </p:sp>
      <p:sp>
        <p:nvSpPr>
          <p:cNvPr id="651" name="Google Shape;651;p25"/>
          <p:cNvSpPr/>
          <p:nvPr/>
        </p:nvSpPr>
        <p:spPr>
          <a:xfrm>
            <a:off x="8343400" y="1095963"/>
            <a:ext cx="3043500" cy="2844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B2440"/>
              </a:buClr>
              <a:buSzPts val="1700"/>
              <a:buFont typeface="Nunito"/>
              <a:buNone/>
            </a:pPr>
            <a:r>
              <a:rPr b="1" i="0" lang="en-US" sz="2200" u="none" cap="none" strike="noStrike">
                <a:solidFill>
                  <a:srgbClr val="1B2440"/>
                </a:solidFill>
                <a:latin typeface="Nunito"/>
                <a:ea typeface="Nunito"/>
                <a:cs typeface="Nunito"/>
                <a:sym typeface="Nunito"/>
              </a:rPr>
              <a:t>Decision </a:t>
            </a:r>
            <a:r>
              <a:rPr b="1" lang="en-US" sz="2200">
                <a:solidFill>
                  <a:srgbClr val="1B2440"/>
                </a:solidFill>
                <a:latin typeface="Nunito"/>
                <a:ea typeface="Nunito"/>
                <a:cs typeface="Nunito"/>
                <a:sym typeface="Nunito"/>
              </a:rPr>
              <a:t>Tree</a:t>
            </a:r>
            <a:endParaRPr b="0" i="0" sz="2200" u="none" cap="none" strike="noStrike">
              <a:solidFill>
                <a:schemeClr val="dk1"/>
              </a:solidFill>
              <a:latin typeface="Calibri"/>
              <a:ea typeface="Calibri"/>
              <a:cs typeface="Calibri"/>
              <a:sym typeface="Calibri"/>
            </a:endParaRPr>
          </a:p>
        </p:txBody>
      </p:sp>
      <p:sp>
        <p:nvSpPr>
          <p:cNvPr id="652" name="Google Shape;652;p25"/>
          <p:cNvSpPr/>
          <p:nvPr/>
        </p:nvSpPr>
        <p:spPr>
          <a:xfrm>
            <a:off x="8397284" y="1641986"/>
            <a:ext cx="3043500" cy="1181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lang="en-US" sz="1600">
                <a:solidFill>
                  <a:srgbClr val="4A5163"/>
                </a:solidFill>
                <a:latin typeface="Nunito Sans"/>
                <a:ea typeface="Nunito Sans"/>
                <a:cs typeface="Nunito Sans"/>
                <a:sym typeface="Nunito Sans"/>
              </a:rPr>
              <a:t>Repeatedly split data based on strongest predictor values.</a:t>
            </a:r>
            <a:endParaRPr b="0" i="0" sz="1600" u="none" cap="none" strike="noStrike">
              <a:solidFill>
                <a:schemeClr val="dk1"/>
              </a:solidFill>
              <a:latin typeface="Calibri"/>
              <a:ea typeface="Calibri"/>
              <a:cs typeface="Calibri"/>
              <a:sym typeface="Calibri"/>
            </a:endParaRPr>
          </a:p>
        </p:txBody>
      </p:sp>
      <p:pic>
        <p:nvPicPr>
          <p:cNvPr id="653" name="Google Shape;653;p25"/>
          <p:cNvPicPr preferRelativeResize="0"/>
          <p:nvPr/>
        </p:nvPicPr>
        <p:blipFill rotWithShape="1">
          <a:blip r:embed="rId4">
            <a:alphaModFix/>
          </a:blip>
          <a:srcRect b="6196" l="0" r="0" t="11951"/>
          <a:stretch/>
        </p:blipFill>
        <p:spPr>
          <a:xfrm>
            <a:off x="812800" y="2108975"/>
            <a:ext cx="7108825" cy="3451500"/>
          </a:xfrm>
          <a:prstGeom prst="flowChartProcess">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658" name="Shape 658"/>
        <p:cNvGrpSpPr/>
        <p:nvPr/>
      </p:nvGrpSpPr>
      <p:grpSpPr>
        <a:xfrm>
          <a:off x="0" y="0"/>
          <a:ext cx="0" cy="0"/>
          <a:chOff x="0" y="0"/>
          <a:chExt cx="0" cy="0"/>
        </a:xfrm>
      </p:grpSpPr>
      <p:sp>
        <p:nvSpPr>
          <p:cNvPr id="659" name="Google Shape;659;p26"/>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3 · STATISTICAL CONCEPTS</a:t>
            </a:r>
            <a:endParaRPr b="0" i="0" sz="1200" u="none" cap="none" strike="noStrike">
              <a:solidFill>
                <a:schemeClr val="dk1"/>
              </a:solidFill>
              <a:latin typeface="Calibri"/>
              <a:ea typeface="Calibri"/>
              <a:cs typeface="Calibri"/>
              <a:sym typeface="Calibri"/>
            </a:endParaRPr>
          </a:p>
        </p:txBody>
      </p:sp>
      <p:sp>
        <p:nvSpPr>
          <p:cNvPr id="660" name="Google Shape;660;p26"/>
          <p:cNvSpPr/>
          <p:nvPr/>
        </p:nvSpPr>
        <p:spPr>
          <a:xfrm>
            <a:off x="812800" y="1229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Model evaluation: the ROC curve and AUC</a:t>
            </a:r>
            <a:endParaRPr b="0" i="0" sz="3200" u="none" cap="none" strike="noStrike">
              <a:solidFill>
                <a:schemeClr val="dk1"/>
              </a:solidFill>
              <a:latin typeface="Calibri"/>
              <a:ea typeface="Calibri"/>
              <a:cs typeface="Calibri"/>
              <a:sym typeface="Calibri"/>
            </a:endParaRPr>
          </a:p>
        </p:txBody>
      </p:sp>
      <p:sp>
        <p:nvSpPr>
          <p:cNvPr id="661" name="Google Shape;661;p26"/>
          <p:cNvSpPr/>
          <p:nvPr/>
        </p:nvSpPr>
        <p:spPr>
          <a:xfrm>
            <a:off x="812800" y="62890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25 · Random forest on held-out events, 4,184 pairs · James et al. (2023), ISL Chapter 4 · Hanley &amp; McNeil (1982)</a:t>
            </a:r>
            <a:endParaRPr b="0" i="0" sz="1200" u="none" cap="none" strike="noStrike">
              <a:solidFill>
                <a:schemeClr val="dk1"/>
              </a:solidFill>
              <a:latin typeface="Calibri"/>
              <a:ea typeface="Calibri"/>
              <a:cs typeface="Calibri"/>
              <a:sym typeface="Calibri"/>
            </a:endParaRPr>
          </a:p>
        </p:txBody>
      </p:sp>
      <p:pic>
        <p:nvPicPr>
          <p:cNvPr id="662" name="Google Shape;662;p26"/>
          <p:cNvPicPr preferRelativeResize="0"/>
          <p:nvPr/>
        </p:nvPicPr>
        <p:blipFill>
          <a:blip r:embed="rId4">
            <a:alphaModFix/>
          </a:blip>
          <a:stretch>
            <a:fillRect/>
          </a:stretch>
        </p:blipFill>
        <p:spPr>
          <a:xfrm>
            <a:off x="4091021" y="2065075"/>
            <a:ext cx="4009959" cy="38606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BF7F2"/>
        </a:solidFill>
      </p:bgPr>
    </p:bg>
    <p:spTree>
      <p:nvGrpSpPr>
        <p:cNvPr id="667" name="Shape 667"/>
        <p:cNvGrpSpPr/>
        <p:nvPr/>
      </p:nvGrpSpPr>
      <p:grpSpPr>
        <a:xfrm>
          <a:off x="0" y="0"/>
          <a:ext cx="0" cy="0"/>
          <a:chOff x="0" y="0"/>
          <a:chExt cx="0" cy="0"/>
        </a:xfrm>
      </p:grpSpPr>
      <p:sp>
        <p:nvSpPr>
          <p:cNvPr id="668" name="Google Shape;668;p27"/>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4 · TECHNICAL IMPLEMENTATION</a:t>
            </a:r>
            <a:endParaRPr b="0" i="0" sz="1200" u="none" cap="none" strike="noStrike">
              <a:solidFill>
                <a:schemeClr val="dk1"/>
              </a:solidFill>
              <a:latin typeface="Calibri"/>
              <a:ea typeface="Calibri"/>
              <a:cs typeface="Calibri"/>
              <a:sym typeface="Calibri"/>
            </a:endParaRPr>
          </a:p>
        </p:txBody>
      </p:sp>
      <p:sp>
        <p:nvSpPr>
          <p:cNvPr id="669" name="Google Shape;669;p27"/>
          <p:cNvSpPr/>
          <p:nvPr/>
        </p:nvSpPr>
        <p:spPr>
          <a:xfrm>
            <a:off x="812800" y="12547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How </a:t>
            </a:r>
            <a:r>
              <a:rPr b="1" lang="en-US" sz="3200">
                <a:solidFill>
                  <a:srgbClr val="1B2440"/>
                </a:solidFill>
                <a:latin typeface="Nunito"/>
                <a:ea typeface="Nunito"/>
                <a:cs typeface="Nunito"/>
                <a:sym typeface="Nunito"/>
              </a:rPr>
              <a:t>we fitted each model</a:t>
            </a:r>
            <a:endParaRPr b="0" i="0" sz="3200" u="none" cap="none" strike="noStrike">
              <a:solidFill>
                <a:schemeClr val="dk1"/>
              </a:solidFill>
              <a:latin typeface="Calibri"/>
              <a:ea typeface="Calibri"/>
              <a:cs typeface="Calibri"/>
              <a:sym typeface="Calibri"/>
            </a:endParaRPr>
          </a:p>
        </p:txBody>
      </p:sp>
      <p:graphicFrame>
        <p:nvGraphicFramePr>
          <p:cNvPr id="670" name="Google Shape;670;p27"/>
          <p:cNvGraphicFramePr/>
          <p:nvPr/>
        </p:nvGraphicFramePr>
        <p:xfrm>
          <a:off x="825500" y="1943050"/>
          <a:ext cx="3000000" cy="3000000"/>
        </p:xfrm>
        <a:graphic>
          <a:graphicData uri="http://schemas.openxmlformats.org/drawingml/2006/table">
            <a:tbl>
              <a:tblPr>
                <a:noFill/>
                <a:tableStyleId>{6CCA55A4-D3DC-4CAC-BE45-3B316C1AA8E1}</a:tableStyleId>
              </a:tblPr>
              <a:tblGrid>
                <a:gridCol w="2532900"/>
                <a:gridCol w="4221475"/>
                <a:gridCol w="3799325"/>
              </a:tblGrid>
              <a:tr h="359325">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u="none" cap="none" strike="noStrike">
                          <a:solidFill>
                            <a:srgbClr val="1B2440"/>
                          </a:solidFill>
                          <a:latin typeface="Nunito Sans"/>
                          <a:ea typeface="Nunito Sans"/>
                          <a:cs typeface="Nunito Sans"/>
                          <a:sym typeface="Nunito Sans"/>
                        </a:rPr>
                        <a:t>Model</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a:solidFill>
                            <a:srgbClr val="1B2440"/>
                          </a:solidFill>
                          <a:latin typeface="Nunito Sans"/>
                          <a:ea typeface="Nunito Sans"/>
                          <a:cs typeface="Nunito Sans"/>
                          <a:sym typeface="Nunito Sans"/>
                        </a:rPr>
                        <a:t>Hyperparameters to tune</a:t>
                      </a:r>
                      <a:endParaRPr sz="1300" u="none" cap="none" strike="noStrike">
                        <a:latin typeface="Nunito Sans"/>
                        <a:ea typeface="Nunito Sans"/>
                        <a:cs typeface="Nunito Sans"/>
                        <a:sym typeface="Nunito Sans"/>
                      </a:endParaRPr>
                    </a:p>
                  </a:txBody>
                  <a:tcPr marT="57775" marB="57775" marR="57775" marL="57775">
                    <a:lnL cap="flat" cmpd="sng" w="12700">
                      <a:solidFill>
                        <a:srgbClr val="BAB7B3"/>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u="none" cap="none" strike="noStrike">
                          <a:solidFill>
                            <a:srgbClr val="1B2440"/>
                          </a:solidFill>
                          <a:latin typeface="Nunito Sans"/>
                          <a:ea typeface="Nunito Sans"/>
                          <a:cs typeface="Nunito Sans"/>
                          <a:sym typeface="Nunito Sans"/>
                        </a:rPr>
                        <a:t>How </a:t>
                      </a:r>
                      <a:r>
                        <a:rPr b="1" lang="en-US" sz="1300">
                          <a:solidFill>
                            <a:srgbClr val="1B2440"/>
                          </a:solidFill>
                          <a:latin typeface="Nunito Sans"/>
                          <a:ea typeface="Nunito Sans"/>
                          <a:cs typeface="Nunito Sans"/>
                          <a:sym typeface="Nunito Sans"/>
                        </a:rPr>
                        <a:t>we chose these hyperparameters</a:t>
                      </a:r>
                      <a:endParaRPr sz="1300" u="none" cap="none" strike="noStrike">
                        <a:latin typeface="Nunito Sans"/>
                        <a:ea typeface="Nunito Sans"/>
                        <a:cs typeface="Nunito Sans"/>
                        <a:sym typeface="Nunito Sans"/>
                      </a:endParaRPr>
                    </a:p>
                  </a:txBody>
                  <a:tcPr marT="57775" marB="57775" marR="57775" marL="57775">
                    <a:lnL cap="flat" cmpd="sng" w="12700">
                      <a:solidFill>
                        <a:srgbClr val="BAB7B3"/>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Logistic regression</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a spline for age, age gap, interests, fit</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only if BIC improves (it never did)</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Stepwise logistic</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which predictors </a:t>
                      </a:r>
                      <a:r>
                        <a:rPr lang="en-US" sz="1300">
                          <a:solidFill>
                            <a:srgbClr val="1B2440"/>
                          </a:solidFill>
                          <a:latin typeface="Nunito Sans"/>
                          <a:ea typeface="Nunito Sans"/>
                          <a:cs typeface="Nunito Sans"/>
                          <a:sym typeface="Nunito Sans"/>
                        </a:rPr>
                        <a:t>are included in the model</a:t>
                      </a:r>
                      <a:endParaRPr sz="1300" u="none" cap="none" strike="noStrike">
                        <a:latin typeface="Nunito Sans"/>
                        <a:ea typeface="Nunito Sans"/>
                        <a:cs typeface="Nunito Sans"/>
                        <a:sym typeface="Nunito Sans"/>
                      </a:endParaRPr>
                    </a:p>
                  </a:txBody>
                  <a:tcPr marT="57775" marB="57775" marR="57775" marL="57775">
                    <a:lnL cap="flat" cmpd="sng" w="12700">
                      <a:solidFill>
                        <a:srgbClr val="C4BCBA"/>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BIC: forward, backward, both</a:t>
                      </a:r>
                      <a:endParaRPr sz="1300" u="none" cap="none" strike="noStrike">
                        <a:latin typeface="Nunito Sans"/>
                        <a:ea typeface="Nunito Sans"/>
                        <a:cs typeface="Nunito Sans"/>
                        <a:sym typeface="Nunito Sans"/>
                      </a:endParaRPr>
                    </a:p>
                  </a:txBody>
                  <a:tcPr marT="57775" marB="57775" marR="57775" marL="57775">
                    <a:lnL cap="flat" cmpd="sng" w="12700">
                      <a:solidFill>
                        <a:srgbClr val="C4BCBA"/>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LDA</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nothing to tune</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priors from the training data</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QDA (regularized)</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shrinkage, 0.1 to 0.9 (chose 0.9, </a:t>
                      </a:r>
                      <a:r>
                        <a:rPr lang="en-US" sz="1300">
                          <a:solidFill>
                            <a:srgbClr val="1B2440"/>
                          </a:solidFill>
                          <a:latin typeface="Nunito Sans"/>
                          <a:ea typeface="Nunito Sans"/>
                          <a:cs typeface="Nunito Sans"/>
                          <a:sym typeface="Nunito Sans"/>
                        </a:rPr>
                        <a:t>close to </a:t>
                      </a:r>
                      <a:r>
                        <a:rPr lang="en-US" sz="1300" u="none" cap="none" strike="noStrike">
                          <a:solidFill>
                            <a:srgbClr val="1B2440"/>
                          </a:solidFill>
                          <a:latin typeface="Nunito Sans"/>
                          <a:ea typeface="Nunito Sans"/>
                          <a:cs typeface="Nunito Sans"/>
                          <a:sym typeface="Nunito Sans"/>
                        </a:rPr>
                        <a:t>no correlation)</a:t>
                      </a:r>
                      <a:endParaRPr sz="1300" u="none" cap="none" strike="noStrike">
                        <a:latin typeface="Nunito Sans"/>
                        <a:ea typeface="Nunito Sans"/>
                        <a:cs typeface="Nunito Sans"/>
                        <a:sym typeface="Nunito Sans"/>
                      </a:endParaRPr>
                    </a:p>
                  </a:txBody>
                  <a:tcPr marT="57775" marB="57775" marR="57775" marL="57775">
                    <a:lnL cap="flat" cmpd="sng" w="12700">
                      <a:solidFill>
                        <a:srgbClr val="C4BCBA"/>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best AUC on inner event folds</a:t>
                      </a:r>
                      <a:endParaRPr sz="1300" u="none" cap="none" strike="noStrike">
                        <a:latin typeface="Nunito Sans"/>
                        <a:ea typeface="Nunito Sans"/>
                        <a:cs typeface="Nunito Sans"/>
                        <a:sym typeface="Nunito Sans"/>
                      </a:endParaRPr>
                    </a:p>
                  </a:txBody>
                  <a:tcPr marT="57775" marB="57775" marR="57775" marL="57775">
                    <a:lnL cap="flat" cmpd="sng" w="12700">
                      <a:solidFill>
                        <a:srgbClr val="C4BCBA"/>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Random forest</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leaf size: 1, 5, 20 or 50 (chose 50)</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500 trees, √p predictors per split</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Lasso (L1 logistic)</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penalty strength, 30 values</a:t>
                      </a:r>
                      <a:endParaRPr sz="1300" u="none" cap="none" strike="noStrike">
                        <a:latin typeface="Nunito Sans"/>
                        <a:ea typeface="Nunito Sans"/>
                        <a:cs typeface="Nunito Sans"/>
                        <a:sym typeface="Nunito Sans"/>
                      </a:endParaRPr>
                    </a:p>
                  </a:txBody>
                  <a:tcPr marT="57775" marB="57775" marR="57775" marL="57775">
                    <a:lnL cap="flat" cmpd="sng" w="12700">
                      <a:solidFill>
                        <a:srgbClr val="C4BCBA"/>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best AUC on inner event folds</a:t>
                      </a:r>
                      <a:endParaRPr sz="1300" u="none" cap="none" strike="noStrike">
                        <a:latin typeface="Nunito Sans"/>
                        <a:ea typeface="Nunito Sans"/>
                        <a:cs typeface="Nunito Sans"/>
                        <a:sym typeface="Nunito Sans"/>
                      </a:endParaRPr>
                    </a:p>
                  </a:txBody>
                  <a:tcPr marT="57775" marB="57775" marR="57775" marL="57775">
                    <a:lnL cap="flat" cmpd="sng" w="12700">
                      <a:solidFill>
                        <a:srgbClr val="C4BCBA"/>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r>
            </a:tbl>
          </a:graphicData>
        </a:graphic>
      </p:graphicFrame>
      <p:sp>
        <p:nvSpPr>
          <p:cNvPr id="671" name="Google Shape;671;p27"/>
          <p:cNvSpPr/>
          <p:nvPr/>
        </p:nvSpPr>
        <p:spPr>
          <a:xfrm>
            <a:off x="819150" y="4693245"/>
            <a:ext cx="10553700" cy="815280"/>
          </a:xfrm>
          <a:prstGeom prst="roundRect">
            <a:avLst>
              <a:gd fmla="val 17914"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ightbulb" id="672" name="Google Shape;672;p27"/>
          <p:cNvPicPr preferRelativeResize="0"/>
          <p:nvPr/>
        </p:nvPicPr>
        <p:blipFill rotWithShape="1">
          <a:blip r:embed="rId3">
            <a:alphaModFix/>
          </a:blip>
          <a:srcRect b="-113" l="0" r="0" t="-113"/>
          <a:stretch/>
        </p:blipFill>
        <p:spPr>
          <a:xfrm>
            <a:off x="1028700" y="4948486"/>
            <a:ext cx="240754" cy="304800"/>
          </a:xfrm>
          <a:prstGeom prst="rect">
            <a:avLst/>
          </a:prstGeom>
          <a:noFill/>
          <a:ln>
            <a:noFill/>
          </a:ln>
        </p:spPr>
      </p:pic>
      <p:sp>
        <p:nvSpPr>
          <p:cNvPr id="673" name="Google Shape;673;p27"/>
          <p:cNvSpPr/>
          <p:nvPr/>
        </p:nvSpPr>
        <p:spPr>
          <a:xfrm>
            <a:off x="1396454" y="4851995"/>
            <a:ext cx="10059851"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400"/>
              <a:buFont typeface="Nunito Sans"/>
              <a:buNone/>
            </a:pPr>
            <a:r>
              <a:rPr b="0" i="0" lang="en-US" sz="1400" u="none" cap="none" strike="noStrike">
                <a:solidFill>
                  <a:srgbClr val="4A5163"/>
                </a:solidFill>
                <a:latin typeface="Nunito Sans"/>
                <a:ea typeface="Nunito Sans"/>
                <a:cs typeface="Nunito Sans"/>
                <a:sym typeface="Nunito Sans"/>
              </a:rPr>
              <a:t>Each model is fitted on pre and on pre+date. </a:t>
            </a:r>
            <a:r>
              <a:rPr lang="en-US">
                <a:solidFill>
                  <a:srgbClr val="4A5163"/>
                </a:solidFill>
                <a:latin typeface="Nunito Sans"/>
                <a:ea typeface="Nunito Sans"/>
                <a:cs typeface="Nunito Sans"/>
                <a:sym typeface="Nunito Sans"/>
              </a:rPr>
              <a:t>After getting a score, we consider </a:t>
            </a:r>
            <a:r>
              <a:rPr lang="en-US">
                <a:solidFill>
                  <a:srgbClr val="4A5163"/>
                </a:solidFill>
                <a:latin typeface="Nunito Sans"/>
                <a:ea typeface="Nunito Sans"/>
                <a:cs typeface="Nunito Sans"/>
                <a:sym typeface="Nunito Sans"/>
              </a:rPr>
              <a:t>scores</a:t>
            </a:r>
            <a:r>
              <a:rPr lang="en-US">
                <a:solidFill>
                  <a:srgbClr val="4A5163"/>
                </a:solidFill>
                <a:latin typeface="Nunito Sans"/>
                <a:ea typeface="Nunito Sans"/>
                <a:cs typeface="Nunito Sans"/>
                <a:sym typeface="Nunito Sans"/>
              </a:rPr>
              <a:t> above</a:t>
            </a:r>
            <a:r>
              <a:rPr b="0" i="0" lang="en-US" sz="1400" u="none" cap="none" strike="noStrike">
                <a:solidFill>
                  <a:srgbClr val="4A5163"/>
                </a:solidFill>
                <a:latin typeface="Nunito Sans"/>
                <a:ea typeface="Nunito Sans"/>
                <a:cs typeface="Nunito Sans"/>
                <a:sym typeface="Nunito Sans"/>
              </a:rPr>
              <a:t> the training match rate (about 0.165) as the cutoff for yes and scores below that to be no.</a:t>
            </a:r>
            <a:r>
              <a:rPr lang="en-US">
                <a:solidFill>
                  <a:srgbClr val="4A5163"/>
                </a:solidFill>
                <a:latin typeface="Nunito Sans"/>
                <a:ea typeface="Nunito Sans"/>
                <a:cs typeface="Nunito Sans"/>
                <a:sym typeface="Nunito Sans"/>
              </a:rPr>
              <a:t> We don’t use </a:t>
            </a:r>
            <a:r>
              <a:rPr b="0" i="0" lang="en-US" sz="1400" u="none" cap="none" strike="noStrike">
                <a:solidFill>
                  <a:srgbClr val="4A5163"/>
                </a:solidFill>
                <a:latin typeface="Nunito Sans"/>
                <a:ea typeface="Nunito Sans"/>
                <a:cs typeface="Nunito Sans"/>
                <a:sym typeface="Nunito Sans"/>
              </a:rPr>
              <a:t>0.5, because only 1 pair in 6 matches.</a:t>
            </a:r>
            <a:endParaRPr b="0" i="0" sz="1400" u="none" cap="none" strike="noStrike">
              <a:solidFill>
                <a:schemeClr val="dk1"/>
              </a:solidFill>
              <a:latin typeface="Calibri"/>
              <a:ea typeface="Calibri"/>
              <a:cs typeface="Calibri"/>
              <a:sym typeface="Calibri"/>
            </a:endParaRPr>
          </a:p>
        </p:txBody>
      </p:sp>
      <p:sp>
        <p:nvSpPr>
          <p:cNvPr id="674" name="Google Shape;674;p27"/>
          <p:cNvSpPr/>
          <p:nvPr/>
        </p:nvSpPr>
        <p:spPr>
          <a:xfrm>
            <a:off x="812800" y="62890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18  · James et al. (2023) · Friedman (1989) · Breiman (2001)</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BF7F2"/>
        </a:solidFill>
      </p:bgPr>
    </p:bg>
    <p:spTree>
      <p:nvGrpSpPr>
        <p:cNvPr id="679" name="Shape 679"/>
        <p:cNvGrpSpPr/>
        <p:nvPr/>
      </p:nvGrpSpPr>
      <p:grpSpPr>
        <a:xfrm>
          <a:off x="0" y="0"/>
          <a:ext cx="0" cy="0"/>
          <a:chOff x="0" y="0"/>
          <a:chExt cx="0" cy="0"/>
        </a:xfrm>
      </p:grpSpPr>
      <p:sp>
        <p:nvSpPr>
          <p:cNvPr id="680" name="Google Shape;680;p28"/>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5 · RESULTS</a:t>
            </a:r>
            <a:endParaRPr b="0" i="0" sz="1200" u="none" cap="none" strike="noStrike">
              <a:solidFill>
                <a:schemeClr val="dk1"/>
              </a:solidFill>
              <a:latin typeface="Calibri"/>
              <a:ea typeface="Calibri"/>
              <a:cs typeface="Calibri"/>
              <a:sym typeface="Calibri"/>
            </a:endParaRPr>
          </a:p>
        </p:txBody>
      </p:sp>
      <p:sp>
        <p:nvSpPr>
          <p:cNvPr id="681" name="Google Shape;681;p28"/>
          <p:cNvSpPr/>
          <p:nvPr/>
        </p:nvSpPr>
        <p:spPr>
          <a:xfrm>
            <a:off x="812800" y="1229320"/>
            <a:ext cx="108834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Too many predictors, too few matches</a:t>
            </a:r>
            <a:endParaRPr b="0" i="0" sz="3200" u="none" cap="none" strike="noStrike">
              <a:solidFill>
                <a:schemeClr val="dk1"/>
              </a:solidFill>
              <a:latin typeface="Calibri"/>
              <a:ea typeface="Calibri"/>
              <a:cs typeface="Calibri"/>
              <a:sym typeface="Calibri"/>
            </a:endParaRPr>
          </a:p>
        </p:txBody>
      </p:sp>
      <p:sp>
        <p:nvSpPr>
          <p:cNvPr id="682" name="Google Shape;682;p28"/>
          <p:cNvSpPr/>
          <p:nvPr/>
        </p:nvSpPr>
        <p:spPr>
          <a:xfrm>
            <a:off x="812800" y="1879550"/>
            <a:ext cx="3302100" cy="2565300"/>
          </a:xfrm>
          <a:prstGeom prst="roundRect">
            <a:avLst>
              <a:gd fmla="val 5941" name="adj"/>
            </a:avLst>
          </a:prstGeom>
          <a:solidFill>
            <a:srgbClr val="1B24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28"/>
          <p:cNvSpPr/>
          <p:nvPr/>
        </p:nvSpPr>
        <p:spPr>
          <a:xfrm>
            <a:off x="1066800" y="2133550"/>
            <a:ext cx="28779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BF7F2"/>
              </a:buClr>
              <a:buSzPts val="7000"/>
              <a:buFont typeface="Nunito"/>
              <a:buNone/>
            </a:pPr>
            <a:r>
              <a:rPr b="1" i="0" lang="en-US" sz="7000" u="none" cap="none" strike="noStrike">
                <a:solidFill>
                  <a:srgbClr val="FBF7F2"/>
                </a:solidFill>
                <a:latin typeface="Nunito"/>
                <a:ea typeface="Nunito"/>
                <a:cs typeface="Nunito"/>
                <a:sym typeface="Nunito"/>
              </a:rPr>
              <a:t>≈ 4</a:t>
            </a:r>
            <a:endParaRPr b="0" i="0" sz="7000" u="none" cap="none" strike="noStrike">
              <a:solidFill>
                <a:schemeClr val="dk1"/>
              </a:solidFill>
              <a:latin typeface="Calibri"/>
              <a:ea typeface="Calibri"/>
              <a:cs typeface="Calibri"/>
              <a:sym typeface="Calibri"/>
            </a:endParaRPr>
          </a:p>
        </p:txBody>
      </p:sp>
      <p:sp>
        <p:nvSpPr>
          <p:cNvPr id="684" name="Google Shape;684;p28"/>
          <p:cNvSpPr/>
          <p:nvPr/>
        </p:nvSpPr>
        <p:spPr>
          <a:xfrm>
            <a:off x="1066800" y="3124150"/>
            <a:ext cx="2877900" cy="1092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8E4DA"/>
              </a:buClr>
              <a:buSzPts val="1500"/>
              <a:buFont typeface="Nunito Sans"/>
              <a:buNone/>
            </a:pPr>
            <a:r>
              <a:rPr b="0" i="0" lang="en-US" sz="1500" u="none" cap="none" strike="noStrike">
                <a:solidFill>
                  <a:srgbClr val="E8E4DA"/>
                </a:solidFill>
                <a:latin typeface="Nunito Sans"/>
                <a:ea typeface="Nunito Sans"/>
                <a:cs typeface="Nunito Sans"/>
                <a:sym typeface="Nunito Sans"/>
              </a:rPr>
              <a:t>matches per column: about 550 matches in a training fold, but about 125 columns once categories become dummies</a:t>
            </a:r>
            <a:endParaRPr b="0" i="0" sz="1500" u="none" cap="none" strike="noStrike">
              <a:solidFill>
                <a:schemeClr val="dk1"/>
              </a:solidFill>
              <a:latin typeface="Calibri"/>
              <a:ea typeface="Calibri"/>
              <a:cs typeface="Calibri"/>
              <a:sym typeface="Calibri"/>
            </a:endParaRPr>
          </a:p>
        </p:txBody>
      </p:sp>
      <p:sp>
        <p:nvSpPr>
          <p:cNvPr id="685" name="Google Shape;685;p28"/>
          <p:cNvSpPr/>
          <p:nvPr/>
        </p:nvSpPr>
        <p:spPr>
          <a:xfrm>
            <a:off x="4324350" y="1885900"/>
            <a:ext cx="3441600" cy="1193700"/>
          </a:xfrm>
          <a:prstGeom prst="roundRect">
            <a:avLst>
              <a:gd fmla="val 12234"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28"/>
          <p:cNvSpPr/>
          <p:nvPr/>
        </p:nvSpPr>
        <p:spPr>
          <a:xfrm>
            <a:off x="4508500" y="2070050"/>
            <a:ext cx="3165600" cy="254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500"/>
              <a:buFont typeface="Nunito"/>
              <a:buNone/>
            </a:pPr>
            <a:r>
              <a:rPr b="1" i="0" lang="en-US" sz="1500" u="none" cap="none" strike="noStrike">
                <a:solidFill>
                  <a:srgbClr val="1B2440"/>
                </a:solidFill>
                <a:latin typeface="Nunito"/>
                <a:ea typeface="Nunito"/>
                <a:cs typeface="Nunito"/>
                <a:sym typeface="Nunito"/>
              </a:rPr>
              <a:t>QDA: strongest shrinkage</a:t>
            </a:r>
            <a:endParaRPr b="0" i="0" sz="1500" u="none" cap="none" strike="noStrike">
              <a:solidFill>
                <a:schemeClr val="dk1"/>
              </a:solidFill>
              <a:latin typeface="Calibri"/>
              <a:ea typeface="Calibri"/>
              <a:cs typeface="Calibri"/>
              <a:sym typeface="Calibri"/>
            </a:endParaRPr>
          </a:p>
        </p:txBody>
      </p:sp>
      <p:sp>
        <p:nvSpPr>
          <p:cNvPr id="687" name="Google Shape;687;p28"/>
          <p:cNvSpPr/>
          <p:nvPr/>
        </p:nvSpPr>
        <p:spPr>
          <a:xfrm>
            <a:off x="4508500" y="2336750"/>
            <a:ext cx="3165600" cy="487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r = 0.9 in all 10 fits: the estimated correlations were mostly noise.</a:t>
            </a:r>
            <a:endParaRPr b="0" i="0" sz="1300" u="none" cap="none" strike="noStrike">
              <a:solidFill>
                <a:schemeClr val="dk1"/>
              </a:solidFill>
              <a:latin typeface="Calibri"/>
              <a:ea typeface="Calibri"/>
              <a:cs typeface="Calibri"/>
              <a:sym typeface="Calibri"/>
            </a:endParaRPr>
          </a:p>
        </p:txBody>
      </p:sp>
      <p:sp>
        <p:nvSpPr>
          <p:cNvPr id="688" name="Google Shape;688;p28"/>
          <p:cNvSpPr/>
          <p:nvPr/>
        </p:nvSpPr>
        <p:spPr>
          <a:xfrm>
            <a:off x="7931150" y="1885900"/>
            <a:ext cx="3441600" cy="1193700"/>
          </a:xfrm>
          <a:prstGeom prst="roundRect">
            <a:avLst>
              <a:gd fmla="val 12234"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28"/>
          <p:cNvSpPr/>
          <p:nvPr/>
        </p:nvSpPr>
        <p:spPr>
          <a:xfrm>
            <a:off x="8115300" y="2070050"/>
            <a:ext cx="3165600" cy="254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500"/>
              <a:buFont typeface="Nunito"/>
              <a:buNone/>
            </a:pPr>
            <a:r>
              <a:rPr b="1" i="0" lang="en-US" sz="1500" u="none" cap="none" strike="noStrike">
                <a:solidFill>
                  <a:srgbClr val="1B2440"/>
                </a:solidFill>
                <a:latin typeface="Nunito"/>
                <a:ea typeface="Nunito"/>
                <a:cs typeface="Nunito"/>
                <a:sym typeface="Nunito"/>
              </a:rPr>
              <a:t>Forest: biggest leaves</a:t>
            </a:r>
            <a:endParaRPr b="0" i="0" sz="1500" u="none" cap="none" strike="noStrike">
              <a:solidFill>
                <a:schemeClr val="dk1"/>
              </a:solidFill>
              <a:latin typeface="Calibri"/>
              <a:ea typeface="Calibri"/>
              <a:cs typeface="Calibri"/>
              <a:sym typeface="Calibri"/>
            </a:endParaRPr>
          </a:p>
        </p:txBody>
      </p:sp>
      <p:sp>
        <p:nvSpPr>
          <p:cNvPr id="690" name="Google Shape;690;p28"/>
          <p:cNvSpPr/>
          <p:nvPr/>
        </p:nvSpPr>
        <p:spPr>
          <a:xfrm>
            <a:off x="8115300" y="2336750"/>
            <a:ext cx="3165600" cy="487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Leaf size 50 in every pre-date fit; with the date ratings, mostly 20.</a:t>
            </a:r>
            <a:endParaRPr b="0" i="0" sz="1300" u="none" cap="none" strike="noStrike">
              <a:solidFill>
                <a:schemeClr val="dk1"/>
              </a:solidFill>
              <a:latin typeface="Calibri"/>
              <a:ea typeface="Calibri"/>
              <a:cs typeface="Calibri"/>
              <a:sym typeface="Calibri"/>
            </a:endParaRPr>
          </a:p>
        </p:txBody>
      </p:sp>
      <p:sp>
        <p:nvSpPr>
          <p:cNvPr id="691" name="Google Shape;691;p28"/>
          <p:cNvSpPr/>
          <p:nvPr/>
        </p:nvSpPr>
        <p:spPr>
          <a:xfrm>
            <a:off x="4324350" y="3244800"/>
            <a:ext cx="3441600" cy="1193700"/>
          </a:xfrm>
          <a:prstGeom prst="roundRect">
            <a:avLst>
              <a:gd fmla="val 12234"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28"/>
          <p:cNvSpPr/>
          <p:nvPr/>
        </p:nvSpPr>
        <p:spPr>
          <a:xfrm>
            <a:off x="4508500" y="3428950"/>
            <a:ext cx="3165600" cy="254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500"/>
              <a:buFont typeface="Nunito"/>
              <a:buNone/>
            </a:pPr>
            <a:r>
              <a:rPr b="1" i="0" lang="en-US" sz="1500" u="none" cap="none" strike="noStrike">
                <a:solidFill>
                  <a:srgbClr val="1B2440"/>
                </a:solidFill>
                <a:latin typeface="Nunito"/>
                <a:ea typeface="Nunito"/>
                <a:cs typeface="Nunito"/>
                <a:sym typeface="Nunito"/>
              </a:rPr>
              <a:t>Splines: never chosen</a:t>
            </a:r>
            <a:endParaRPr b="0" i="0" sz="1500" u="none" cap="none" strike="noStrike">
              <a:solidFill>
                <a:schemeClr val="dk1"/>
              </a:solidFill>
              <a:latin typeface="Calibri"/>
              <a:ea typeface="Calibri"/>
              <a:cs typeface="Calibri"/>
              <a:sym typeface="Calibri"/>
            </a:endParaRPr>
          </a:p>
        </p:txBody>
      </p:sp>
      <p:sp>
        <p:nvSpPr>
          <p:cNvPr id="693" name="Google Shape;693;p28"/>
          <p:cNvSpPr/>
          <p:nvPr/>
        </p:nvSpPr>
        <p:spPr>
          <a:xfrm>
            <a:off x="4508500" y="3695650"/>
            <a:ext cx="31656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lang="en-US" sz="1300">
                <a:solidFill>
                  <a:srgbClr val="4A5163"/>
                </a:solidFill>
                <a:latin typeface="Nunito Sans"/>
                <a:ea typeface="Nunito Sans"/>
                <a:cs typeface="Nunito Sans"/>
                <a:sym typeface="Nunito Sans"/>
              </a:rPr>
              <a:t>C</a:t>
            </a:r>
            <a:r>
              <a:rPr b="0" i="0" lang="en-US" sz="1300" u="none" cap="none" strike="noStrike">
                <a:solidFill>
                  <a:srgbClr val="4A5163"/>
                </a:solidFill>
                <a:latin typeface="Nunito Sans"/>
                <a:ea typeface="Nunito Sans"/>
                <a:cs typeface="Nunito Sans"/>
                <a:sym typeface="Nunito Sans"/>
              </a:rPr>
              <a:t>urve </a:t>
            </a:r>
            <a:r>
              <a:rPr lang="en-US" sz="1300">
                <a:solidFill>
                  <a:srgbClr val="4A5163"/>
                </a:solidFill>
                <a:latin typeface="Nunito Sans"/>
                <a:ea typeface="Nunito Sans"/>
                <a:cs typeface="Nunito Sans"/>
                <a:sym typeface="Nunito Sans"/>
              </a:rPr>
              <a:t>is never better than </a:t>
            </a:r>
            <a:r>
              <a:rPr b="0" i="0" lang="en-US" sz="1300" u="none" cap="none" strike="noStrike">
                <a:solidFill>
                  <a:srgbClr val="4A5163"/>
                </a:solidFill>
                <a:latin typeface="Nunito Sans"/>
                <a:ea typeface="Nunito Sans"/>
                <a:cs typeface="Nunito Sans"/>
                <a:sym typeface="Nunito Sans"/>
              </a:rPr>
              <a:t>a straight line in any fold.</a:t>
            </a:r>
            <a:endParaRPr b="0" i="0" sz="1300" u="none" cap="none" strike="noStrike">
              <a:solidFill>
                <a:schemeClr val="dk1"/>
              </a:solidFill>
              <a:latin typeface="Calibri"/>
              <a:ea typeface="Calibri"/>
              <a:cs typeface="Calibri"/>
              <a:sym typeface="Calibri"/>
            </a:endParaRPr>
          </a:p>
        </p:txBody>
      </p:sp>
      <p:sp>
        <p:nvSpPr>
          <p:cNvPr id="694" name="Google Shape;694;p28"/>
          <p:cNvSpPr/>
          <p:nvPr/>
        </p:nvSpPr>
        <p:spPr>
          <a:xfrm>
            <a:off x="7931150" y="3244800"/>
            <a:ext cx="3441600" cy="1193700"/>
          </a:xfrm>
          <a:prstGeom prst="roundRect">
            <a:avLst>
              <a:gd fmla="val 12234"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28"/>
          <p:cNvSpPr/>
          <p:nvPr/>
        </p:nvSpPr>
        <p:spPr>
          <a:xfrm>
            <a:off x="8115300" y="3428950"/>
            <a:ext cx="3165600" cy="254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500"/>
              <a:buFont typeface="Nunito"/>
              <a:buNone/>
            </a:pPr>
            <a:r>
              <a:rPr b="1" i="0" lang="en-US" sz="1500" u="none" cap="none" strike="noStrike">
                <a:solidFill>
                  <a:srgbClr val="1B2440"/>
                </a:solidFill>
                <a:latin typeface="Nunito"/>
                <a:ea typeface="Nunito"/>
                <a:cs typeface="Nunito"/>
                <a:sym typeface="Nunito"/>
              </a:rPr>
              <a:t>Selection: few predictors</a:t>
            </a:r>
            <a:endParaRPr b="0" i="0" sz="1500" u="none" cap="none" strike="noStrike">
              <a:solidFill>
                <a:schemeClr val="dk1"/>
              </a:solidFill>
              <a:latin typeface="Calibri"/>
              <a:ea typeface="Calibri"/>
              <a:cs typeface="Calibri"/>
              <a:sym typeface="Calibri"/>
            </a:endParaRPr>
          </a:p>
        </p:txBody>
      </p:sp>
      <p:sp>
        <p:nvSpPr>
          <p:cNvPr id="696" name="Google Shape;696;p28"/>
          <p:cNvSpPr/>
          <p:nvPr/>
        </p:nvSpPr>
        <p:spPr>
          <a:xfrm>
            <a:off x="8115300" y="3695650"/>
            <a:ext cx="3165600" cy="487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Stepwise kept about 8 of 74; the lasso 22 to 76 of about 125 columns.</a:t>
            </a:r>
            <a:endParaRPr b="0" i="0" sz="1300" u="none" cap="none" strike="noStrike">
              <a:solidFill>
                <a:schemeClr val="dk1"/>
              </a:solidFill>
              <a:latin typeface="Calibri"/>
              <a:ea typeface="Calibri"/>
              <a:cs typeface="Calibri"/>
              <a:sym typeface="Calibri"/>
            </a:endParaRPr>
          </a:p>
        </p:txBody>
      </p:sp>
      <p:sp>
        <p:nvSpPr>
          <p:cNvPr id="697" name="Google Shape;697;p28"/>
          <p:cNvSpPr/>
          <p:nvPr/>
        </p:nvSpPr>
        <p:spPr>
          <a:xfrm>
            <a:off x="819150" y="4654500"/>
            <a:ext cx="10553700" cy="815400"/>
          </a:xfrm>
          <a:prstGeom prst="roundRect">
            <a:avLst>
              <a:gd fmla="val 17914" name="adj"/>
            </a:avLst>
          </a:prstGeom>
          <a:solidFill>
            <a:srgbClr val="F6ECE9"/>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ightbulb" id="698" name="Google Shape;698;p28"/>
          <p:cNvPicPr preferRelativeResize="0"/>
          <p:nvPr/>
        </p:nvPicPr>
        <p:blipFill rotWithShape="1">
          <a:blip r:embed="rId3">
            <a:alphaModFix/>
          </a:blip>
          <a:srcRect b="0" l="-424" r="-424" t="0"/>
          <a:stretch/>
        </p:blipFill>
        <p:spPr>
          <a:xfrm>
            <a:off x="1028700" y="4909741"/>
            <a:ext cx="236934" cy="304800"/>
          </a:xfrm>
          <a:prstGeom prst="rect">
            <a:avLst/>
          </a:prstGeom>
          <a:noFill/>
          <a:ln>
            <a:noFill/>
          </a:ln>
        </p:spPr>
      </p:pic>
      <p:sp>
        <p:nvSpPr>
          <p:cNvPr id="699" name="Google Shape;699;p28"/>
          <p:cNvSpPr/>
          <p:nvPr/>
        </p:nvSpPr>
        <p:spPr>
          <a:xfrm>
            <a:off x="1392634" y="4813250"/>
            <a:ext cx="10063800" cy="52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440"/>
              </a:buClr>
              <a:buSzPts val="1400"/>
              <a:buFont typeface="Nunito Sans"/>
              <a:buNone/>
            </a:pPr>
            <a:r>
              <a:rPr b="1" i="0" lang="en-US" sz="1400" u="none" cap="none" strike="noStrike">
                <a:solidFill>
                  <a:srgbClr val="1B2440"/>
                </a:solidFill>
                <a:latin typeface="Nunito Sans"/>
                <a:ea typeface="Nunito Sans"/>
                <a:cs typeface="Nunito Sans"/>
                <a:sym typeface="Nunito Sans"/>
              </a:rPr>
              <a:t>Simpler beat fuller.</a:t>
            </a:r>
            <a:r>
              <a:rPr b="0" i="0" lang="en-US" sz="1400" u="none" cap="none" strike="noStrike">
                <a:solidFill>
                  <a:srgbClr val="1B2440"/>
                </a:solidFill>
                <a:latin typeface="Nunito Sans"/>
                <a:ea typeface="Nunito Sans"/>
                <a:cs typeface="Nunito Sans"/>
                <a:sym typeface="Nunito Sans"/>
              </a:rPr>
              <a:t> Before the date: lasso 0.573 and stepwise 0.559, against 0.542 for full logistic regression. With the date: 0.838 and 0.835, against 0.780.</a:t>
            </a:r>
            <a:endParaRPr b="0" i="0" sz="1400" u="none" cap="none" strike="noStrike">
              <a:solidFill>
                <a:schemeClr val="dk1"/>
              </a:solidFill>
              <a:latin typeface="Calibri"/>
              <a:ea typeface="Calibri"/>
              <a:cs typeface="Calibri"/>
              <a:sym typeface="Calibri"/>
            </a:endParaRPr>
          </a:p>
        </p:txBody>
      </p:sp>
      <p:sp>
        <p:nvSpPr>
          <p:cNvPr id="700" name="Google Shape;700;p28"/>
          <p:cNvSpPr/>
          <p:nvPr/>
        </p:nvSpPr>
        <p:spPr>
          <a:xfrm>
            <a:off x="812800" y="6289080"/>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19 · Choices made inside each training fold; AUCs on held-out events (event 5-fold CV)</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BF7F2"/>
        </a:solidFill>
      </p:bgPr>
    </p:bg>
    <p:spTree>
      <p:nvGrpSpPr>
        <p:cNvPr id="705" name="Shape 705"/>
        <p:cNvGrpSpPr/>
        <p:nvPr/>
      </p:nvGrpSpPr>
      <p:grpSpPr>
        <a:xfrm>
          <a:off x="0" y="0"/>
          <a:ext cx="0" cy="0"/>
          <a:chOff x="0" y="0"/>
          <a:chExt cx="0" cy="0"/>
        </a:xfrm>
      </p:grpSpPr>
      <p:sp>
        <p:nvSpPr>
          <p:cNvPr id="706" name="Google Shape;706;p29"/>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4 · TECHNICAL IMPLEMENTATION</a:t>
            </a:r>
            <a:endParaRPr b="0" i="0" sz="1200" u="none" cap="none" strike="noStrike">
              <a:solidFill>
                <a:schemeClr val="dk1"/>
              </a:solidFill>
              <a:latin typeface="Calibri"/>
              <a:ea typeface="Calibri"/>
              <a:cs typeface="Calibri"/>
              <a:sym typeface="Calibri"/>
            </a:endParaRPr>
          </a:p>
        </p:txBody>
      </p:sp>
      <p:sp>
        <p:nvSpPr>
          <p:cNvPr id="707" name="Google Shape;707;p29"/>
          <p:cNvSpPr/>
          <p:nvPr/>
        </p:nvSpPr>
        <p:spPr>
          <a:xfrm>
            <a:off x="812800" y="12547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lang="en-US" sz="3200">
                <a:solidFill>
                  <a:srgbClr val="1B2440"/>
                </a:solidFill>
                <a:latin typeface="Nunito"/>
                <a:ea typeface="Nunito"/>
                <a:cs typeface="Nunito"/>
                <a:sym typeface="Nunito"/>
              </a:rPr>
              <a:t>Methods we used beyond ISL Textbook</a:t>
            </a:r>
            <a:endParaRPr b="0" i="0" sz="3200" u="none" cap="none" strike="noStrike">
              <a:solidFill>
                <a:schemeClr val="dk1"/>
              </a:solidFill>
              <a:latin typeface="Calibri"/>
              <a:ea typeface="Calibri"/>
              <a:cs typeface="Calibri"/>
              <a:sym typeface="Calibri"/>
            </a:endParaRPr>
          </a:p>
        </p:txBody>
      </p:sp>
      <p:graphicFrame>
        <p:nvGraphicFramePr>
          <p:cNvPr id="708" name="Google Shape;708;p29"/>
          <p:cNvGraphicFramePr/>
          <p:nvPr/>
        </p:nvGraphicFramePr>
        <p:xfrm>
          <a:off x="825500" y="1943050"/>
          <a:ext cx="3000000" cy="3000000"/>
        </p:xfrm>
        <a:graphic>
          <a:graphicData uri="http://schemas.openxmlformats.org/drawingml/2006/table">
            <a:tbl>
              <a:tblPr>
                <a:noFill/>
                <a:tableStyleId>{6CCA55A4-D3DC-4CAC-BE45-3B316C1AA8E1}</a:tableStyleId>
              </a:tblPr>
              <a:tblGrid>
                <a:gridCol w="2955025"/>
                <a:gridCol w="5276850"/>
                <a:gridCol w="2321825"/>
              </a:tblGrid>
              <a:tr h="359325">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u="none" cap="none" strike="noStrike">
                          <a:solidFill>
                            <a:srgbClr val="1B2440"/>
                          </a:solidFill>
                          <a:latin typeface="Nunito Sans"/>
                          <a:ea typeface="Nunito Sans"/>
                          <a:cs typeface="Nunito Sans"/>
                          <a:sym typeface="Nunito Sans"/>
                        </a:rPr>
                        <a:t>Method</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u="none" cap="none" strike="noStrike">
                          <a:solidFill>
                            <a:srgbClr val="1B2440"/>
                          </a:solidFill>
                          <a:latin typeface="Nunito Sans"/>
                          <a:ea typeface="Nunito Sans"/>
                          <a:cs typeface="Nunito Sans"/>
                          <a:sym typeface="Nunito Sans"/>
                        </a:rPr>
                        <a:t>Why we needed it here</a:t>
                      </a:r>
                      <a:endParaRPr sz="1300" u="none" cap="none" strike="noStrike">
                        <a:latin typeface="Nunito Sans"/>
                        <a:ea typeface="Nunito Sans"/>
                        <a:cs typeface="Nunito Sans"/>
                        <a:sym typeface="Nunito Sans"/>
                      </a:endParaRPr>
                    </a:p>
                  </a:txBody>
                  <a:tcPr marT="57775" marB="57775" marR="57775" marL="57775">
                    <a:lnL cap="flat" cmpd="sng" w="12700">
                      <a:solidFill>
                        <a:srgbClr val="BAB7B3"/>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u="none" cap="none" strike="noStrike">
                          <a:solidFill>
                            <a:srgbClr val="1B2440"/>
                          </a:solidFill>
                          <a:latin typeface="Nunito Sans"/>
                          <a:ea typeface="Nunito Sans"/>
                          <a:cs typeface="Nunito Sans"/>
                          <a:sym typeface="Nunito Sans"/>
                        </a:rPr>
                        <a:t>Source</a:t>
                      </a:r>
                      <a:endParaRPr sz="1300" u="none" cap="none" strike="noStrike">
                        <a:latin typeface="Nunito Sans"/>
                        <a:ea typeface="Nunito Sans"/>
                        <a:cs typeface="Nunito Sans"/>
                        <a:sym typeface="Nunito Sans"/>
                      </a:endParaRPr>
                    </a:p>
                  </a:txBody>
                  <a:tcPr marT="57775" marB="57775" marR="57775" marL="57775">
                    <a:lnL cap="flat" cmpd="sng" w="12700">
                      <a:solidFill>
                        <a:srgbClr val="BAB7B3"/>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Grouped cross-validation</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A random split lets the model recognize people</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Roberts et al. 2017</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Nested cross-validation</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Tuning on the test folds flatters the score</a:t>
                      </a:r>
                      <a:endParaRPr sz="1300" u="none" cap="none" strike="noStrike">
                        <a:latin typeface="Nunito Sans"/>
                        <a:ea typeface="Nunito Sans"/>
                        <a:cs typeface="Nunito Sans"/>
                        <a:sym typeface="Nunito Sans"/>
                      </a:endParaRPr>
                    </a:p>
                  </a:txBody>
                  <a:tcPr marT="57775" marB="57775" marR="57775" marL="57775">
                    <a:lnL cap="flat" cmpd="sng" w="12700">
                      <a:solidFill>
                        <a:srgbClr val="C4BCBA"/>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Varma &amp; Simon 2006</a:t>
                      </a:r>
                      <a:endParaRPr sz="1300" u="none" cap="none" strike="noStrike">
                        <a:latin typeface="Nunito Sans"/>
                        <a:ea typeface="Nunito Sans"/>
                        <a:cs typeface="Nunito Sans"/>
                        <a:sym typeface="Nunito Sans"/>
                      </a:endParaRPr>
                    </a:p>
                  </a:txBody>
                  <a:tcPr marT="57775" marB="57775" marR="57775" marL="57775">
                    <a:lnL cap="flat" cmpd="sng" w="12700">
                      <a:solidFill>
                        <a:srgbClr val="C4BCBA"/>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Regularized QDA</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Too few matches (~550) for a full covariance (about 8,000 numbers)</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Friedman 1989</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L1 (lasso) logistic</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a:solidFill>
                            <a:srgbClr val="1B2440"/>
                          </a:solidFill>
                          <a:latin typeface="Nunito Sans"/>
                          <a:ea typeface="Nunito Sans"/>
                          <a:cs typeface="Nunito Sans"/>
                          <a:sym typeface="Nunito Sans"/>
                        </a:rPr>
                        <a:t>L</a:t>
                      </a:r>
                      <a:r>
                        <a:rPr lang="en-US" sz="1300" u="none" cap="none" strike="noStrike">
                          <a:solidFill>
                            <a:srgbClr val="1B2440"/>
                          </a:solidFill>
                          <a:latin typeface="Nunito Sans"/>
                          <a:ea typeface="Nunito Sans"/>
                          <a:cs typeface="Nunito Sans"/>
                          <a:sym typeface="Nunito Sans"/>
                        </a:rPr>
                        <a:t>asso penalty for logistic regression</a:t>
                      </a:r>
                      <a:endParaRPr sz="1300" u="none" cap="none" strike="noStrike">
                        <a:latin typeface="Nunito Sans"/>
                        <a:ea typeface="Nunito Sans"/>
                        <a:cs typeface="Nunito Sans"/>
                        <a:sym typeface="Nunito Sans"/>
                      </a:endParaRPr>
                    </a:p>
                  </a:txBody>
                  <a:tcPr marT="57775" marB="57775" marR="57775" marL="57775">
                    <a:lnL cap="flat" cmpd="sng" w="12700">
                      <a:solidFill>
                        <a:srgbClr val="C4BCBA"/>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Friedman et al. 2010</a:t>
                      </a:r>
                      <a:endParaRPr sz="1300" u="none" cap="none" strike="noStrike">
                        <a:latin typeface="Nunito Sans"/>
                        <a:ea typeface="Nunito Sans"/>
                        <a:cs typeface="Nunito Sans"/>
                        <a:sym typeface="Nunito Sans"/>
                      </a:endParaRPr>
                    </a:p>
                  </a:txBody>
                  <a:tcPr marT="57775" marB="57775" marR="57775" marL="57775">
                    <a:lnL cap="flat" cmpd="sng" w="12700">
                      <a:solidFill>
                        <a:srgbClr val="C4BCBA"/>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Clustered standard errors</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Pairs from one evening do well or badly together</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Liang &amp; Zeger 1986</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AUC standard error</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The same idea for the AUC: add up by event</a:t>
                      </a:r>
                      <a:endParaRPr sz="1300" u="none" cap="none" strike="noStrike">
                        <a:latin typeface="Nunito Sans"/>
                        <a:ea typeface="Nunito Sans"/>
                        <a:cs typeface="Nunito Sans"/>
                        <a:sym typeface="Nunito Sans"/>
                      </a:endParaRPr>
                    </a:p>
                  </a:txBody>
                  <a:tcPr marT="57775" marB="57775" marR="57775" marL="57775">
                    <a:lnL cap="flat" cmpd="sng" w="12700">
                      <a:solidFill>
                        <a:srgbClr val="C4BCBA"/>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Obuchowski 1997</a:t>
                      </a:r>
                      <a:endParaRPr sz="1300" u="none" cap="none" strike="noStrike">
                        <a:latin typeface="Nunito Sans"/>
                        <a:ea typeface="Nunito Sans"/>
                        <a:cs typeface="Nunito Sans"/>
                        <a:sym typeface="Nunito Sans"/>
                      </a:endParaRPr>
                    </a:p>
                  </a:txBody>
                  <a:tcPr marT="57775" marB="57775" marR="57775" marL="57775">
                    <a:lnL cap="flat" cmpd="sng" w="12700">
                      <a:solidFill>
                        <a:srgbClr val="C4BCBA"/>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r>
            </a:tbl>
          </a:graphicData>
        </a:graphic>
      </p:graphicFrame>
      <p:sp>
        <p:nvSpPr>
          <p:cNvPr id="709" name="Google Shape;709;p29"/>
          <p:cNvSpPr/>
          <p:nvPr/>
        </p:nvSpPr>
        <p:spPr>
          <a:xfrm>
            <a:off x="812800" y="5046216"/>
            <a:ext cx="10464800" cy="28317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4A5163"/>
              </a:buClr>
              <a:buSzPts val="1400"/>
              <a:buFont typeface="Nunito Sans"/>
              <a:buNone/>
            </a:pPr>
            <a:r>
              <a:rPr b="0" i="0" lang="en-US" sz="1400" u="none" cap="none" strike="noStrike">
                <a:solidFill>
                  <a:srgbClr val="4A5163"/>
                </a:solidFill>
                <a:latin typeface="Nunito Sans"/>
                <a:ea typeface="Nunito Sans"/>
                <a:cs typeface="Nunito Sans"/>
                <a:sym typeface="Nunito Sans"/>
              </a:rPr>
              <a:t>Each of these </a:t>
            </a:r>
            <a:r>
              <a:rPr lang="en-US">
                <a:solidFill>
                  <a:srgbClr val="4A5163"/>
                </a:solidFill>
                <a:latin typeface="Nunito Sans"/>
                <a:ea typeface="Nunito Sans"/>
                <a:cs typeface="Nunito Sans"/>
                <a:sym typeface="Nunito Sans"/>
              </a:rPr>
              <a:t>are</a:t>
            </a:r>
            <a:r>
              <a:rPr b="0" i="0" lang="en-US" sz="1400" u="none" cap="none" strike="noStrike">
                <a:solidFill>
                  <a:srgbClr val="4A5163"/>
                </a:solidFill>
                <a:latin typeface="Nunito Sans"/>
                <a:ea typeface="Nunito Sans"/>
                <a:cs typeface="Nunito Sans"/>
                <a:sym typeface="Nunito Sans"/>
              </a:rPr>
              <a:t> explained</a:t>
            </a:r>
            <a:r>
              <a:rPr lang="en-US">
                <a:solidFill>
                  <a:srgbClr val="4A5163"/>
                </a:solidFill>
                <a:latin typeface="Nunito Sans"/>
                <a:ea typeface="Nunito Sans"/>
                <a:cs typeface="Nunito Sans"/>
                <a:sym typeface="Nunito Sans"/>
              </a:rPr>
              <a:t> </a:t>
            </a:r>
            <a:r>
              <a:rPr b="0" i="0" lang="en-US" sz="1400" u="none" cap="none" strike="noStrike">
                <a:solidFill>
                  <a:srgbClr val="4A5163"/>
                </a:solidFill>
                <a:latin typeface="Nunito Sans"/>
                <a:ea typeface="Nunito Sans"/>
                <a:cs typeface="Nunito Sans"/>
                <a:sym typeface="Nunito Sans"/>
              </a:rPr>
              <a:t>in the background section of our written report.</a:t>
            </a:r>
            <a:endParaRPr b="0" i="0" sz="1400" u="none" cap="none" strike="noStrike">
              <a:solidFill>
                <a:schemeClr val="dk1"/>
              </a:solidFill>
              <a:latin typeface="Calibri"/>
              <a:ea typeface="Calibri"/>
              <a:cs typeface="Calibri"/>
              <a:sym typeface="Calibri"/>
            </a:endParaRPr>
          </a:p>
        </p:txBody>
      </p:sp>
      <p:sp>
        <p:nvSpPr>
          <p:cNvPr id="710" name="Google Shape;710;p29"/>
          <p:cNvSpPr/>
          <p:nvPr/>
        </p:nvSpPr>
        <p:spPr>
          <a:xfrm>
            <a:off x="812800" y="62890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19 · Also Cameron &amp; Miller (2015); Hanley &amp; McNeil (1982); Hastie, Tibshirani &amp; Friedman (2009)</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440"/>
        </a:solidFill>
      </p:bgPr>
    </p:bg>
    <p:spTree>
      <p:nvGrpSpPr>
        <p:cNvPr id="715" name="Shape 715"/>
        <p:cNvGrpSpPr/>
        <p:nvPr/>
      </p:nvGrpSpPr>
      <p:grpSpPr>
        <a:xfrm>
          <a:off x="0" y="0"/>
          <a:ext cx="0" cy="0"/>
          <a:chOff x="0" y="0"/>
          <a:chExt cx="0" cy="0"/>
        </a:xfrm>
      </p:grpSpPr>
      <p:sp>
        <p:nvSpPr>
          <p:cNvPr id="716" name="Google Shape;716;p30"/>
          <p:cNvSpPr/>
          <p:nvPr/>
        </p:nvSpPr>
        <p:spPr>
          <a:xfrm>
            <a:off x="812800" y="181104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7B5"/>
              </a:buClr>
              <a:buSzPts val="1200"/>
              <a:buFont typeface="Nunito Sans"/>
              <a:buNone/>
            </a:pPr>
            <a:r>
              <a:rPr b="1" i="0" lang="en-US" sz="1200" u="none" cap="none" strike="noStrike">
                <a:solidFill>
                  <a:srgbClr val="F2A7B5"/>
                </a:solidFill>
                <a:latin typeface="Nunito Sans"/>
                <a:ea typeface="Nunito Sans"/>
                <a:cs typeface="Nunito Sans"/>
                <a:sym typeface="Nunito Sans"/>
              </a:rPr>
              <a:t>5 · THE MAIN RESULT (S</a:t>
            </a:r>
            <a:r>
              <a:rPr b="1" lang="en-US" sz="1200">
                <a:solidFill>
                  <a:srgbClr val="F2A7B5"/>
                </a:solidFill>
                <a:latin typeface="Nunito Sans"/>
                <a:ea typeface="Nunito Sans"/>
                <a:cs typeface="Nunito Sans"/>
                <a:sym typeface="Nunito Sans"/>
              </a:rPr>
              <a:t>O FAR)</a:t>
            </a:r>
            <a:endParaRPr b="0" i="0" sz="1200" u="none" cap="none" strike="noStrike">
              <a:solidFill>
                <a:schemeClr val="dk1"/>
              </a:solidFill>
              <a:latin typeface="Calibri"/>
              <a:ea typeface="Calibri"/>
              <a:cs typeface="Calibri"/>
              <a:sym typeface="Calibri"/>
            </a:endParaRPr>
          </a:p>
        </p:txBody>
      </p:sp>
      <p:sp>
        <p:nvSpPr>
          <p:cNvPr id="717" name="Google Shape;717;p30"/>
          <p:cNvSpPr/>
          <p:nvPr/>
        </p:nvSpPr>
        <p:spPr>
          <a:xfrm>
            <a:off x="1523363" y="2329160"/>
            <a:ext cx="3531900" cy="129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FC6D4"/>
              </a:buClr>
              <a:buSzPts val="10000"/>
              <a:buFont typeface="Nunito"/>
              <a:buNone/>
            </a:pPr>
            <a:r>
              <a:rPr b="1" i="0" lang="en-US" sz="10000" u="none" cap="none" strike="noStrike">
                <a:solidFill>
                  <a:srgbClr val="BFC6D4"/>
                </a:solidFill>
                <a:latin typeface="Nunito"/>
                <a:ea typeface="Nunito"/>
                <a:cs typeface="Nunito"/>
                <a:sym typeface="Nunito"/>
              </a:rPr>
              <a:t>0.58</a:t>
            </a:r>
            <a:endParaRPr b="0" i="0" sz="10000" u="none" cap="none" strike="noStrike">
              <a:solidFill>
                <a:schemeClr val="dk1"/>
              </a:solidFill>
              <a:latin typeface="Calibri"/>
              <a:ea typeface="Calibri"/>
              <a:cs typeface="Calibri"/>
              <a:sym typeface="Calibri"/>
            </a:endParaRPr>
          </a:p>
        </p:txBody>
      </p:sp>
      <p:sp>
        <p:nvSpPr>
          <p:cNvPr id="718" name="Google Shape;718;p30"/>
          <p:cNvSpPr/>
          <p:nvPr/>
        </p:nvSpPr>
        <p:spPr>
          <a:xfrm>
            <a:off x="1523363" y="3675360"/>
            <a:ext cx="3531900" cy="594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8E4DA"/>
              </a:buClr>
              <a:buSzPts val="1600"/>
              <a:buFont typeface="Nunito Sans"/>
              <a:buNone/>
            </a:pPr>
            <a:r>
              <a:rPr b="0" i="0" lang="en-US" sz="1600" u="none" cap="none" strike="noStrike">
                <a:solidFill>
                  <a:srgbClr val="E8E4DA"/>
                </a:solidFill>
                <a:latin typeface="Nunito Sans"/>
                <a:ea typeface="Nunito Sans"/>
                <a:cs typeface="Nunito Sans"/>
                <a:sym typeface="Nunito Sans"/>
              </a:rPr>
              <a:t>best AUC from what is known </a:t>
            </a:r>
            <a:r>
              <a:rPr b="1" i="0" lang="en-US" sz="1600" u="none" cap="none" strike="noStrike">
                <a:solidFill>
                  <a:srgbClr val="E8E4DA"/>
                </a:solidFill>
                <a:latin typeface="Nunito Sans"/>
                <a:ea typeface="Nunito Sans"/>
                <a:cs typeface="Nunito Sans"/>
                <a:sym typeface="Nunito Sans"/>
              </a:rPr>
              <a:t>before</a:t>
            </a:r>
            <a:r>
              <a:rPr b="0" i="0" lang="en-US" sz="1600" u="none" cap="none" strike="noStrike">
                <a:solidFill>
                  <a:srgbClr val="E8E4DA"/>
                </a:solidFill>
                <a:latin typeface="Nunito Sans"/>
                <a:ea typeface="Nunito Sans"/>
                <a:cs typeface="Nunito Sans"/>
                <a:sym typeface="Nunito Sans"/>
              </a:rPr>
              <a:t> the date</a:t>
            </a:r>
            <a:endParaRPr b="0" i="0" sz="1600" u="none" cap="none" strike="noStrike">
              <a:solidFill>
                <a:schemeClr val="dk1"/>
              </a:solidFill>
              <a:latin typeface="Calibri"/>
              <a:ea typeface="Calibri"/>
              <a:cs typeface="Calibri"/>
              <a:sym typeface="Calibri"/>
            </a:endParaRPr>
          </a:p>
        </p:txBody>
      </p:sp>
      <p:pic>
        <p:nvPicPr>
          <p:cNvPr descr="An arrow with a small heart" id="719" name="Google Shape;719;p30"/>
          <p:cNvPicPr preferRelativeResize="0"/>
          <p:nvPr/>
        </p:nvPicPr>
        <p:blipFill rotWithShape="1">
          <a:blip r:embed="rId3">
            <a:alphaModFix/>
          </a:blip>
          <a:srcRect b="0" l="0" r="0" t="0"/>
          <a:stretch/>
        </p:blipFill>
        <p:spPr>
          <a:xfrm>
            <a:off x="5409563" y="2778720"/>
            <a:ext cx="1270000" cy="1016000"/>
          </a:xfrm>
          <a:prstGeom prst="rect">
            <a:avLst/>
          </a:prstGeom>
          <a:noFill/>
          <a:ln>
            <a:noFill/>
          </a:ln>
        </p:spPr>
      </p:pic>
      <p:sp>
        <p:nvSpPr>
          <p:cNvPr id="720" name="Google Shape;720;p30"/>
          <p:cNvSpPr/>
          <p:nvPr/>
        </p:nvSpPr>
        <p:spPr>
          <a:xfrm>
            <a:off x="7136763" y="2329160"/>
            <a:ext cx="3531900" cy="129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BF7F2"/>
              </a:buClr>
              <a:buSzPts val="10000"/>
              <a:buFont typeface="Nunito"/>
              <a:buNone/>
            </a:pPr>
            <a:r>
              <a:rPr b="1" i="0" lang="en-US" sz="10000" u="none" cap="none" strike="noStrike">
                <a:solidFill>
                  <a:srgbClr val="FBF7F2"/>
                </a:solidFill>
                <a:latin typeface="Nunito"/>
                <a:ea typeface="Nunito"/>
                <a:cs typeface="Nunito"/>
                <a:sym typeface="Nunito"/>
              </a:rPr>
              <a:t>0.85</a:t>
            </a:r>
            <a:endParaRPr b="0" i="0" sz="10000" u="none" cap="none" strike="noStrike">
              <a:solidFill>
                <a:schemeClr val="dk1"/>
              </a:solidFill>
              <a:latin typeface="Calibri"/>
              <a:ea typeface="Calibri"/>
              <a:cs typeface="Calibri"/>
              <a:sym typeface="Calibri"/>
            </a:endParaRPr>
          </a:p>
        </p:txBody>
      </p:sp>
      <p:sp>
        <p:nvSpPr>
          <p:cNvPr id="721" name="Google Shape;721;p30"/>
          <p:cNvSpPr/>
          <p:nvPr/>
        </p:nvSpPr>
        <p:spPr>
          <a:xfrm>
            <a:off x="7136763" y="3675360"/>
            <a:ext cx="3531900" cy="594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8E4DA"/>
              </a:buClr>
              <a:buSzPts val="1600"/>
              <a:buFont typeface="Nunito Sans"/>
              <a:buNone/>
            </a:pPr>
            <a:r>
              <a:rPr b="0" i="0" lang="en-US" sz="1600" u="none" cap="none" strike="noStrike">
                <a:solidFill>
                  <a:srgbClr val="E8E4DA"/>
                </a:solidFill>
                <a:latin typeface="Nunito Sans"/>
                <a:ea typeface="Nunito Sans"/>
                <a:cs typeface="Nunito Sans"/>
                <a:sym typeface="Nunito Sans"/>
              </a:rPr>
              <a:t>with the ratings from the </a:t>
            </a:r>
            <a:r>
              <a:rPr b="1" i="0" lang="en-US" sz="1600" u="none" cap="none" strike="noStrike">
                <a:solidFill>
                  <a:srgbClr val="E8E4DA"/>
                </a:solidFill>
                <a:latin typeface="Nunito Sans"/>
                <a:ea typeface="Nunito Sans"/>
                <a:cs typeface="Nunito Sans"/>
                <a:sym typeface="Nunito Sans"/>
              </a:rPr>
              <a:t>four-minute</a:t>
            </a:r>
            <a:r>
              <a:rPr b="0" i="0" lang="en-US" sz="1600" u="none" cap="none" strike="noStrike">
                <a:solidFill>
                  <a:srgbClr val="E8E4DA"/>
                </a:solidFill>
                <a:latin typeface="Nunito Sans"/>
                <a:ea typeface="Nunito Sans"/>
                <a:cs typeface="Nunito Sans"/>
                <a:sym typeface="Nunito Sans"/>
              </a:rPr>
              <a:t> date</a:t>
            </a:r>
            <a:endParaRPr b="0" i="0" sz="1600" u="none" cap="none" strike="noStrike">
              <a:solidFill>
                <a:schemeClr val="dk1"/>
              </a:solidFill>
              <a:latin typeface="Calibri"/>
              <a:ea typeface="Calibri"/>
              <a:cs typeface="Calibri"/>
              <a:sym typeface="Calibri"/>
            </a:endParaRPr>
          </a:p>
        </p:txBody>
      </p:sp>
      <p:sp>
        <p:nvSpPr>
          <p:cNvPr id="722" name="Google Shape;722;p30"/>
          <p:cNvSpPr/>
          <p:nvPr/>
        </p:nvSpPr>
        <p:spPr>
          <a:xfrm>
            <a:off x="812800" y="62890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FC6D4"/>
              </a:buClr>
              <a:buSzPts val="1200"/>
              <a:buFont typeface="Nunito Sans"/>
              <a:buNone/>
            </a:pPr>
            <a:r>
              <a:rPr b="0" i="0" lang="en-US" sz="1200" u="none" cap="none" strike="noStrike">
                <a:solidFill>
                  <a:srgbClr val="BFC6D4"/>
                </a:solidFill>
                <a:latin typeface="Nunito Sans"/>
                <a:ea typeface="Nunito Sans"/>
                <a:cs typeface="Nunito Sans"/>
                <a:sym typeface="Nunito Sans"/>
              </a:rPr>
              <a:t>Math 195 · Speed dating · 27 · Held-out events, 4,184 pairs · random forest: 0.583 (SE 0.020) before, 0.846 after</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727" name="Shape 727"/>
        <p:cNvGrpSpPr/>
        <p:nvPr/>
      </p:nvGrpSpPr>
      <p:grpSpPr>
        <a:xfrm>
          <a:off x="0" y="0"/>
          <a:ext cx="0" cy="0"/>
          <a:chOff x="0" y="0"/>
          <a:chExt cx="0" cy="0"/>
        </a:xfrm>
      </p:grpSpPr>
      <p:sp>
        <p:nvSpPr>
          <p:cNvPr id="728" name="Google Shape;728;p31"/>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5 · RESULTS</a:t>
            </a:r>
            <a:endParaRPr b="0" i="0" sz="1200" u="none" cap="none" strike="noStrike">
              <a:solidFill>
                <a:schemeClr val="dk1"/>
              </a:solidFill>
              <a:latin typeface="Calibri"/>
              <a:ea typeface="Calibri"/>
              <a:cs typeface="Calibri"/>
              <a:sym typeface="Calibri"/>
            </a:endParaRPr>
          </a:p>
        </p:txBody>
      </p:sp>
      <p:sp>
        <p:nvSpPr>
          <p:cNvPr id="729" name="Google Shape;729;p31"/>
          <p:cNvSpPr/>
          <p:nvPr/>
        </p:nvSpPr>
        <p:spPr>
          <a:xfrm>
            <a:off x="812800" y="12801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Every model is close to chance before the date</a:t>
            </a:r>
            <a:endParaRPr b="0" i="0" sz="3200" u="none" cap="none" strike="noStrike">
              <a:solidFill>
                <a:schemeClr val="dk1"/>
              </a:solidFill>
              <a:latin typeface="Calibri"/>
              <a:ea typeface="Calibri"/>
              <a:cs typeface="Calibri"/>
              <a:sym typeface="Calibri"/>
            </a:endParaRPr>
          </a:p>
        </p:txBody>
      </p:sp>
      <p:pic>
        <p:nvPicPr>
          <p:cNvPr descr="Held-out AUC of each model with 90% intervals: before the date (blue) every model lies between 0.54 and 0.58, just above chance at 0.5; with the in-date ratings (orange) they lie between 0.78 and 0.85" id="730" name="Google Shape;730;p31"/>
          <p:cNvPicPr preferRelativeResize="0"/>
          <p:nvPr/>
        </p:nvPicPr>
        <p:blipFill rotWithShape="1">
          <a:blip r:embed="rId3">
            <a:alphaModFix/>
          </a:blip>
          <a:srcRect b="-17" l="0" r="0" t="13743"/>
          <a:stretch/>
        </p:blipFill>
        <p:spPr>
          <a:xfrm>
            <a:off x="812800" y="2084300"/>
            <a:ext cx="7372750" cy="2867075"/>
          </a:xfrm>
          <a:prstGeom prst="rect">
            <a:avLst/>
          </a:prstGeom>
          <a:noFill/>
          <a:ln>
            <a:noFill/>
          </a:ln>
        </p:spPr>
      </p:pic>
      <p:sp>
        <p:nvSpPr>
          <p:cNvPr id="731" name="Google Shape;731;p31"/>
          <p:cNvSpPr/>
          <p:nvPr/>
        </p:nvSpPr>
        <p:spPr>
          <a:xfrm>
            <a:off x="8508500" y="2084301"/>
            <a:ext cx="3187800" cy="2867100"/>
          </a:xfrm>
          <a:prstGeom prst="roundRect">
            <a:avLst>
              <a:gd fmla="val 6557"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31"/>
          <p:cNvSpPr/>
          <p:nvPr/>
        </p:nvSpPr>
        <p:spPr>
          <a:xfrm>
            <a:off x="8718050" y="2354019"/>
            <a:ext cx="2851800" cy="346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600"/>
              <a:buFont typeface="Nunito"/>
              <a:buNone/>
            </a:pPr>
            <a:r>
              <a:rPr b="1" i="0" lang="en-US" sz="1600" u="none" cap="none" strike="noStrike">
                <a:solidFill>
                  <a:srgbClr val="1B2440"/>
                </a:solidFill>
                <a:latin typeface="Nunito"/>
                <a:ea typeface="Nunito"/>
                <a:cs typeface="Nunito"/>
                <a:sym typeface="Nunito"/>
              </a:rPr>
              <a:t>Liking is hard to predict too</a:t>
            </a:r>
            <a:endParaRPr b="0" i="0" sz="1600" u="none" cap="none" strike="noStrike">
              <a:solidFill>
                <a:schemeClr val="dk1"/>
              </a:solidFill>
              <a:latin typeface="Calibri"/>
              <a:ea typeface="Calibri"/>
              <a:cs typeface="Calibri"/>
              <a:sym typeface="Calibri"/>
            </a:endParaRPr>
          </a:p>
        </p:txBody>
      </p:sp>
      <p:sp>
        <p:nvSpPr>
          <p:cNvPr id="733" name="Google Shape;733;p31"/>
          <p:cNvSpPr/>
          <p:nvPr/>
        </p:nvSpPr>
        <p:spPr>
          <a:xfrm>
            <a:off x="8718125" y="2950142"/>
            <a:ext cx="2851500" cy="887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lang="en-US" sz="1300">
                <a:solidFill>
                  <a:srgbClr val="4A5163"/>
                </a:solidFill>
                <a:latin typeface="Nunito Sans"/>
                <a:ea typeface="Nunito Sans"/>
                <a:cs typeface="Nunito Sans"/>
                <a:sym typeface="Nunito Sans"/>
              </a:rPr>
              <a:t>Average R^2: -0.003</a:t>
            </a:r>
            <a:endParaRPr sz="1300">
              <a:solidFill>
                <a:srgbClr val="4A5163"/>
              </a:solidFill>
              <a:latin typeface="Nunito Sans"/>
              <a:ea typeface="Nunito Sans"/>
              <a:cs typeface="Nunito Sans"/>
              <a:sym typeface="Nunito Sans"/>
            </a:endParaRPr>
          </a:p>
          <a:p>
            <a:pPr indent="0" lvl="0" marL="0" marR="0" rtl="0" algn="l">
              <a:lnSpc>
                <a:spcPct val="140000"/>
              </a:lnSpc>
              <a:spcBef>
                <a:spcPts val="0"/>
              </a:spcBef>
              <a:spcAft>
                <a:spcPts val="0"/>
              </a:spcAft>
              <a:buClr>
                <a:srgbClr val="4A5163"/>
              </a:buClr>
              <a:buSzPts val="1300"/>
              <a:buFont typeface="Nunito Sans"/>
              <a:buNone/>
            </a:pPr>
            <a:r>
              <a:rPr lang="en-US" sz="1300">
                <a:solidFill>
                  <a:srgbClr val="4A5163"/>
                </a:solidFill>
                <a:latin typeface="Nunito Sans"/>
                <a:ea typeface="Nunito Sans"/>
                <a:cs typeface="Nunito Sans"/>
                <a:sym typeface="Nunito Sans"/>
              </a:rPr>
              <a:t>Our held-out R^2: -0.034</a:t>
            </a:r>
            <a:endParaRPr sz="1300">
              <a:solidFill>
                <a:srgbClr val="4A5163"/>
              </a:solidFill>
              <a:latin typeface="Nunito Sans"/>
              <a:ea typeface="Nunito Sans"/>
              <a:cs typeface="Nunito Sans"/>
              <a:sym typeface="Nunito Sans"/>
            </a:endParaRPr>
          </a:p>
        </p:txBody>
      </p:sp>
      <p:sp>
        <p:nvSpPr>
          <p:cNvPr id="734" name="Google Shape;734;p31"/>
          <p:cNvSpPr/>
          <p:nvPr/>
        </p:nvSpPr>
        <p:spPr>
          <a:xfrm>
            <a:off x="8718050" y="4086686"/>
            <a:ext cx="2851800" cy="627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Pair features changed it by only +0.008.</a:t>
            </a:r>
            <a:endParaRPr b="0" i="0" sz="1300" u="none" cap="none" strike="noStrike">
              <a:solidFill>
                <a:schemeClr val="dk1"/>
              </a:solidFill>
              <a:latin typeface="Calibri"/>
              <a:ea typeface="Calibri"/>
              <a:cs typeface="Calibri"/>
              <a:sym typeface="Calibri"/>
            </a:endParaRPr>
          </a:p>
        </p:txBody>
      </p:sp>
      <p:sp>
        <p:nvSpPr>
          <p:cNvPr id="735" name="Google Shape;735;p31"/>
          <p:cNvSpPr/>
          <p:nvPr/>
        </p:nvSpPr>
        <p:spPr>
          <a:xfrm>
            <a:off x="812800" y="62890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28 · Held-out events (event 5-fold CV); 90% intervals = AUC ± t(20) × event-clustered SE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740" name="Shape 740"/>
        <p:cNvGrpSpPr/>
        <p:nvPr/>
      </p:nvGrpSpPr>
      <p:grpSpPr>
        <a:xfrm>
          <a:off x="0" y="0"/>
          <a:ext cx="0" cy="0"/>
          <a:chOff x="0" y="0"/>
          <a:chExt cx="0" cy="0"/>
        </a:xfrm>
      </p:grpSpPr>
      <p:sp>
        <p:nvSpPr>
          <p:cNvPr id="741" name="Google Shape;741;p32"/>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5 · RESULTS</a:t>
            </a:r>
            <a:endParaRPr b="0" i="0" sz="1200" u="none" cap="none" strike="noStrike">
              <a:solidFill>
                <a:schemeClr val="dk1"/>
              </a:solidFill>
              <a:latin typeface="Calibri"/>
              <a:ea typeface="Calibri"/>
              <a:cs typeface="Calibri"/>
              <a:sym typeface="Calibri"/>
            </a:endParaRPr>
          </a:p>
        </p:txBody>
      </p:sp>
      <p:sp>
        <p:nvSpPr>
          <p:cNvPr id="742" name="Google Shape;742;p32"/>
          <p:cNvSpPr/>
          <p:nvPr/>
        </p:nvSpPr>
        <p:spPr>
          <a:xfrm>
            <a:off x="812800" y="1254720"/>
            <a:ext cx="108834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Compatibility features add almost nothing</a:t>
            </a:r>
            <a:endParaRPr b="0" i="0" sz="3200" u="none" cap="none" strike="noStrike">
              <a:solidFill>
                <a:schemeClr val="dk1"/>
              </a:solidFill>
              <a:latin typeface="Calibri"/>
              <a:ea typeface="Calibri"/>
              <a:cs typeface="Calibri"/>
              <a:sym typeface="Calibri"/>
            </a:endParaRPr>
          </a:p>
        </p:txBody>
      </p:sp>
      <p:sp>
        <p:nvSpPr>
          <p:cNvPr id="743" name="Google Shape;743;p32"/>
          <p:cNvSpPr/>
          <p:nvPr/>
        </p:nvSpPr>
        <p:spPr>
          <a:xfrm>
            <a:off x="812902" y="1965960"/>
            <a:ext cx="10566000" cy="3017400"/>
          </a:xfrm>
          <a:prstGeom prst="roundRect">
            <a:avLst>
              <a:gd fmla="val 4200" name="adj"/>
            </a:avLst>
          </a:prstGeom>
          <a:solidFill>
            <a:srgbClr val="FFFFFF"/>
          </a:solidFill>
          <a:ln cap="rnd" cmpd="sng" w="12700">
            <a:solidFill>
              <a:srgbClr val="EADFD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44" name="Google Shape;744;p32"/>
          <p:cNvSpPr txBox="1"/>
          <p:nvPr/>
        </p:nvSpPr>
        <p:spPr>
          <a:xfrm>
            <a:off x="1005840" y="2103120"/>
            <a:ext cx="40233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646A79"/>
                </a:solidFill>
                <a:latin typeface="Nunito Sans"/>
                <a:ea typeface="Nunito Sans"/>
                <a:cs typeface="Nunito Sans"/>
                <a:sym typeface="Nunito Sans"/>
              </a:rPr>
              <a:t>Held-out AUC, step by step (zoomed in)</a:t>
            </a:r>
            <a:endParaRPr/>
          </a:p>
        </p:txBody>
      </p:sp>
      <p:sp>
        <p:nvSpPr>
          <p:cNvPr id="745" name="Google Shape;745;p32"/>
          <p:cNvSpPr txBox="1"/>
          <p:nvPr/>
        </p:nvSpPr>
        <p:spPr>
          <a:xfrm>
            <a:off x="9098280" y="2103120"/>
            <a:ext cx="6402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646A79"/>
                </a:solidFill>
                <a:latin typeface="Nunito Sans"/>
                <a:ea typeface="Nunito Sans"/>
                <a:cs typeface="Nunito Sans"/>
                <a:sym typeface="Nunito Sans"/>
              </a:rPr>
              <a:t>AUC</a:t>
            </a:r>
            <a:endParaRPr/>
          </a:p>
        </p:txBody>
      </p:sp>
      <p:sp>
        <p:nvSpPr>
          <p:cNvPr id="746" name="Google Shape;746;p32"/>
          <p:cNvSpPr txBox="1"/>
          <p:nvPr/>
        </p:nvSpPr>
        <p:spPr>
          <a:xfrm>
            <a:off x="9829800" y="2103120"/>
            <a:ext cx="8229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646A79"/>
                </a:solidFill>
                <a:latin typeface="Nunito Sans"/>
                <a:ea typeface="Nunito Sans"/>
                <a:cs typeface="Nunito Sans"/>
                <a:sym typeface="Nunito Sans"/>
              </a:rPr>
              <a:t>change</a:t>
            </a:r>
            <a:endParaRPr/>
          </a:p>
        </p:txBody>
      </p:sp>
      <p:cxnSp>
        <p:nvCxnSpPr>
          <p:cNvPr id="747" name="Google Shape;747;p32"/>
          <p:cNvCxnSpPr/>
          <p:nvPr/>
        </p:nvCxnSpPr>
        <p:spPr>
          <a:xfrm>
            <a:off x="5129784" y="2450592"/>
            <a:ext cx="0" cy="2167200"/>
          </a:xfrm>
          <a:prstGeom prst="straightConnector1">
            <a:avLst/>
          </a:prstGeom>
          <a:noFill/>
          <a:ln cap="rnd" cmpd="sng" w="9525">
            <a:solidFill>
              <a:srgbClr val="F1EAE6"/>
            </a:solidFill>
            <a:prstDash val="solid"/>
            <a:round/>
            <a:headEnd len="sm" w="sm" type="none"/>
            <a:tailEnd len="sm" w="sm" type="none"/>
          </a:ln>
        </p:spPr>
      </p:cxnSp>
      <p:cxnSp>
        <p:nvCxnSpPr>
          <p:cNvPr id="748" name="Google Shape;748;p32"/>
          <p:cNvCxnSpPr/>
          <p:nvPr/>
        </p:nvCxnSpPr>
        <p:spPr>
          <a:xfrm>
            <a:off x="6007608" y="2450592"/>
            <a:ext cx="0" cy="2167200"/>
          </a:xfrm>
          <a:prstGeom prst="straightConnector1">
            <a:avLst/>
          </a:prstGeom>
          <a:noFill/>
          <a:ln cap="rnd" cmpd="sng" w="9525">
            <a:solidFill>
              <a:srgbClr val="F1EAE6"/>
            </a:solidFill>
            <a:prstDash val="solid"/>
            <a:round/>
            <a:headEnd len="sm" w="sm" type="none"/>
            <a:tailEnd len="sm" w="sm" type="none"/>
          </a:ln>
        </p:spPr>
      </p:cxnSp>
      <p:cxnSp>
        <p:nvCxnSpPr>
          <p:cNvPr id="749" name="Google Shape;749;p32"/>
          <p:cNvCxnSpPr/>
          <p:nvPr/>
        </p:nvCxnSpPr>
        <p:spPr>
          <a:xfrm>
            <a:off x="6885432" y="2450592"/>
            <a:ext cx="0" cy="2167200"/>
          </a:xfrm>
          <a:prstGeom prst="straightConnector1">
            <a:avLst/>
          </a:prstGeom>
          <a:noFill/>
          <a:ln cap="rnd" cmpd="sng" w="9525">
            <a:solidFill>
              <a:srgbClr val="F1EAE6"/>
            </a:solidFill>
            <a:prstDash val="solid"/>
            <a:round/>
            <a:headEnd len="sm" w="sm" type="none"/>
            <a:tailEnd len="sm" w="sm" type="none"/>
          </a:ln>
        </p:spPr>
      </p:cxnSp>
      <p:cxnSp>
        <p:nvCxnSpPr>
          <p:cNvPr id="750" name="Google Shape;750;p32"/>
          <p:cNvCxnSpPr/>
          <p:nvPr/>
        </p:nvCxnSpPr>
        <p:spPr>
          <a:xfrm>
            <a:off x="7763256" y="2450592"/>
            <a:ext cx="0" cy="2167200"/>
          </a:xfrm>
          <a:prstGeom prst="straightConnector1">
            <a:avLst/>
          </a:prstGeom>
          <a:noFill/>
          <a:ln cap="rnd" cmpd="sng" w="9525">
            <a:solidFill>
              <a:srgbClr val="F1EAE6"/>
            </a:solidFill>
            <a:prstDash val="solid"/>
            <a:round/>
            <a:headEnd len="sm" w="sm" type="none"/>
            <a:tailEnd len="sm" w="sm" type="none"/>
          </a:ln>
        </p:spPr>
      </p:cxnSp>
      <p:cxnSp>
        <p:nvCxnSpPr>
          <p:cNvPr id="751" name="Google Shape;751;p32"/>
          <p:cNvCxnSpPr/>
          <p:nvPr/>
        </p:nvCxnSpPr>
        <p:spPr>
          <a:xfrm>
            <a:off x="8641080" y="2450592"/>
            <a:ext cx="0" cy="2167200"/>
          </a:xfrm>
          <a:prstGeom prst="straightConnector1">
            <a:avLst/>
          </a:prstGeom>
          <a:noFill/>
          <a:ln cap="rnd" cmpd="sng" w="9525">
            <a:solidFill>
              <a:srgbClr val="F1EAE6"/>
            </a:solidFill>
            <a:prstDash val="solid"/>
            <a:round/>
            <a:headEnd len="sm" w="sm" type="none"/>
            <a:tailEnd len="sm" w="sm" type="none"/>
          </a:ln>
        </p:spPr>
      </p:cxnSp>
      <p:cxnSp>
        <p:nvCxnSpPr>
          <p:cNvPr id="752" name="Google Shape;752;p32"/>
          <p:cNvCxnSpPr/>
          <p:nvPr/>
        </p:nvCxnSpPr>
        <p:spPr>
          <a:xfrm>
            <a:off x="4251960" y="2404872"/>
            <a:ext cx="0" cy="2212800"/>
          </a:xfrm>
          <a:prstGeom prst="straightConnector1">
            <a:avLst/>
          </a:prstGeom>
          <a:noFill/>
          <a:ln cap="rnd" cmpd="sng" w="15875">
            <a:solidFill>
              <a:srgbClr val="1B2440"/>
            </a:solidFill>
            <a:prstDash val="dash"/>
            <a:round/>
            <a:headEnd len="sm" w="sm" type="none"/>
            <a:tailEnd len="sm" w="sm" type="none"/>
          </a:ln>
        </p:spPr>
      </p:cxnSp>
      <p:sp>
        <p:nvSpPr>
          <p:cNvPr id="753" name="Google Shape;753;p32"/>
          <p:cNvSpPr txBox="1"/>
          <p:nvPr/>
        </p:nvSpPr>
        <p:spPr>
          <a:xfrm>
            <a:off x="4325112" y="2404872"/>
            <a:ext cx="10974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B2440"/>
                </a:solidFill>
                <a:latin typeface="Nunito Sans"/>
                <a:ea typeface="Nunito Sans"/>
                <a:cs typeface="Nunito Sans"/>
                <a:sym typeface="Nunito Sans"/>
              </a:rPr>
              <a:t>chance</a:t>
            </a:r>
            <a:endParaRPr/>
          </a:p>
        </p:txBody>
      </p:sp>
      <p:cxnSp>
        <p:nvCxnSpPr>
          <p:cNvPr id="754" name="Google Shape;754;p32"/>
          <p:cNvCxnSpPr/>
          <p:nvPr/>
        </p:nvCxnSpPr>
        <p:spPr>
          <a:xfrm>
            <a:off x="4251960" y="4617720"/>
            <a:ext cx="4389000" cy="0"/>
          </a:xfrm>
          <a:prstGeom prst="straightConnector1">
            <a:avLst/>
          </a:prstGeom>
          <a:noFill/>
          <a:ln cap="rnd" cmpd="sng" w="12700">
            <a:solidFill>
              <a:srgbClr val="646A79"/>
            </a:solidFill>
            <a:prstDash val="solid"/>
            <a:round/>
            <a:headEnd len="sm" w="sm" type="none"/>
            <a:tailEnd len="sm" w="sm" type="none"/>
          </a:ln>
        </p:spPr>
      </p:cxnSp>
      <p:cxnSp>
        <p:nvCxnSpPr>
          <p:cNvPr id="755" name="Google Shape;755;p32"/>
          <p:cNvCxnSpPr/>
          <p:nvPr/>
        </p:nvCxnSpPr>
        <p:spPr>
          <a:xfrm>
            <a:off x="4251960" y="4617720"/>
            <a:ext cx="0" cy="63900"/>
          </a:xfrm>
          <a:prstGeom prst="straightConnector1">
            <a:avLst/>
          </a:prstGeom>
          <a:noFill/>
          <a:ln cap="rnd" cmpd="sng" w="12700">
            <a:solidFill>
              <a:srgbClr val="646A79"/>
            </a:solidFill>
            <a:prstDash val="solid"/>
            <a:round/>
            <a:headEnd len="sm" w="sm" type="none"/>
            <a:tailEnd len="sm" w="sm" type="none"/>
          </a:ln>
        </p:spPr>
      </p:cxnSp>
      <p:sp>
        <p:nvSpPr>
          <p:cNvPr id="756" name="Google Shape;756;p32"/>
          <p:cNvSpPr txBox="1"/>
          <p:nvPr/>
        </p:nvSpPr>
        <p:spPr>
          <a:xfrm>
            <a:off x="3977640" y="4709160"/>
            <a:ext cx="548700" cy="201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646A79"/>
                </a:solidFill>
                <a:latin typeface="Nunito Sans"/>
                <a:ea typeface="Nunito Sans"/>
                <a:cs typeface="Nunito Sans"/>
                <a:sym typeface="Nunito Sans"/>
              </a:rPr>
              <a:t>0.50</a:t>
            </a:r>
            <a:endParaRPr/>
          </a:p>
        </p:txBody>
      </p:sp>
      <p:cxnSp>
        <p:nvCxnSpPr>
          <p:cNvPr id="757" name="Google Shape;757;p32"/>
          <p:cNvCxnSpPr/>
          <p:nvPr/>
        </p:nvCxnSpPr>
        <p:spPr>
          <a:xfrm>
            <a:off x="5129784" y="4617720"/>
            <a:ext cx="0" cy="63900"/>
          </a:xfrm>
          <a:prstGeom prst="straightConnector1">
            <a:avLst/>
          </a:prstGeom>
          <a:noFill/>
          <a:ln cap="rnd" cmpd="sng" w="12700">
            <a:solidFill>
              <a:srgbClr val="646A79"/>
            </a:solidFill>
            <a:prstDash val="solid"/>
            <a:round/>
            <a:headEnd len="sm" w="sm" type="none"/>
            <a:tailEnd len="sm" w="sm" type="none"/>
          </a:ln>
        </p:spPr>
      </p:cxnSp>
      <p:sp>
        <p:nvSpPr>
          <p:cNvPr id="758" name="Google Shape;758;p32"/>
          <p:cNvSpPr txBox="1"/>
          <p:nvPr/>
        </p:nvSpPr>
        <p:spPr>
          <a:xfrm>
            <a:off x="4855464" y="4709160"/>
            <a:ext cx="548700" cy="201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646A79"/>
                </a:solidFill>
                <a:latin typeface="Nunito Sans"/>
                <a:ea typeface="Nunito Sans"/>
                <a:cs typeface="Nunito Sans"/>
                <a:sym typeface="Nunito Sans"/>
              </a:rPr>
              <a:t>0.52</a:t>
            </a:r>
            <a:endParaRPr/>
          </a:p>
        </p:txBody>
      </p:sp>
      <p:cxnSp>
        <p:nvCxnSpPr>
          <p:cNvPr id="759" name="Google Shape;759;p32"/>
          <p:cNvCxnSpPr/>
          <p:nvPr/>
        </p:nvCxnSpPr>
        <p:spPr>
          <a:xfrm>
            <a:off x="6007608" y="4617720"/>
            <a:ext cx="0" cy="63900"/>
          </a:xfrm>
          <a:prstGeom prst="straightConnector1">
            <a:avLst/>
          </a:prstGeom>
          <a:noFill/>
          <a:ln cap="rnd" cmpd="sng" w="12700">
            <a:solidFill>
              <a:srgbClr val="646A79"/>
            </a:solidFill>
            <a:prstDash val="solid"/>
            <a:round/>
            <a:headEnd len="sm" w="sm" type="none"/>
            <a:tailEnd len="sm" w="sm" type="none"/>
          </a:ln>
        </p:spPr>
      </p:cxnSp>
      <p:sp>
        <p:nvSpPr>
          <p:cNvPr id="760" name="Google Shape;760;p32"/>
          <p:cNvSpPr txBox="1"/>
          <p:nvPr/>
        </p:nvSpPr>
        <p:spPr>
          <a:xfrm>
            <a:off x="5733288" y="4709160"/>
            <a:ext cx="548700" cy="201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646A79"/>
                </a:solidFill>
                <a:latin typeface="Nunito Sans"/>
                <a:ea typeface="Nunito Sans"/>
                <a:cs typeface="Nunito Sans"/>
                <a:sym typeface="Nunito Sans"/>
              </a:rPr>
              <a:t>0.54</a:t>
            </a:r>
            <a:endParaRPr/>
          </a:p>
        </p:txBody>
      </p:sp>
      <p:cxnSp>
        <p:nvCxnSpPr>
          <p:cNvPr id="761" name="Google Shape;761;p32"/>
          <p:cNvCxnSpPr/>
          <p:nvPr/>
        </p:nvCxnSpPr>
        <p:spPr>
          <a:xfrm>
            <a:off x="6885432" y="4617720"/>
            <a:ext cx="0" cy="63900"/>
          </a:xfrm>
          <a:prstGeom prst="straightConnector1">
            <a:avLst/>
          </a:prstGeom>
          <a:noFill/>
          <a:ln cap="rnd" cmpd="sng" w="12700">
            <a:solidFill>
              <a:srgbClr val="646A79"/>
            </a:solidFill>
            <a:prstDash val="solid"/>
            <a:round/>
            <a:headEnd len="sm" w="sm" type="none"/>
            <a:tailEnd len="sm" w="sm" type="none"/>
          </a:ln>
        </p:spPr>
      </p:cxnSp>
      <p:sp>
        <p:nvSpPr>
          <p:cNvPr id="762" name="Google Shape;762;p32"/>
          <p:cNvSpPr txBox="1"/>
          <p:nvPr/>
        </p:nvSpPr>
        <p:spPr>
          <a:xfrm>
            <a:off x="6611112" y="4709160"/>
            <a:ext cx="548700" cy="201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646A79"/>
                </a:solidFill>
                <a:latin typeface="Nunito Sans"/>
                <a:ea typeface="Nunito Sans"/>
                <a:cs typeface="Nunito Sans"/>
                <a:sym typeface="Nunito Sans"/>
              </a:rPr>
              <a:t>0.56</a:t>
            </a:r>
            <a:endParaRPr/>
          </a:p>
        </p:txBody>
      </p:sp>
      <p:cxnSp>
        <p:nvCxnSpPr>
          <p:cNvPr id="763" name="Google Shape;763;p32"/>
          <p:cNvCxnSpPr/>
          <p:nvPr/>
        </p:nvCxnSpPr>
        <p:spPr>
          <a:xfrm>
            <a:off x="7763256" y="4617720"/>
            <a:ext cx="0" cy="63900"/>
          </a:xfrm>
          <a:prstGeom prst="straightConnector1">
            <a:avLst/>
          </a:prstGeom>
          <a:noFill/>
          <a:ln cap="rnd" cmpd="sng" w="12700">
            <a:solidFill>
              <a:srgbClr val="646A79"/>
            </a:solidFill>
            <a:prstDash val="solid"/>
            <a:round/>
            <a:headEnd len="sm" w="sm" type="none"/>
            <a:tailEnd len="sm" w="sm" type="none"/>
          </a:ln>
        </p:spPr>
      </p:cxnSp>
      <p:sp>
        <p:nvSpPr>
          <p:cNvPr id="764" name="Google Shape;764;p32"/>
          <p:cNvSpPr txBox="1"/>
          <p:nvPr/>
        </p:nvSpPr>
        <p:spPr>
          <a:xfrm>
            <a:off x="7488936" y="4709160"/>
            <a:ext cx="548700" cy="201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646A79"/>
                </a:solidFill>
                <a:latin typeface="Nunito Sans"/>
                <a:ea typeface="Nunito Sans"/>
                <a:cs typeface="Nunito Sans"/>
                <a:sym typeface="Nunito Sans"/>
              </a:rPr>
              <a:t>0.58</a:t>
            </a:r>
            <a:endParaRPr/>
          </a:p>
        </p:txBody>
      </p:sp>
      <p:cxnSp>
        <p:nvCxnSpPr>
          <p:cNvPr id="765" name="Google Shape;765;p32"/>
          <p:cNvCxnSpPr/>
          <p:nvPr/>
        </p:nvCxnSpPr>
        <p:spPr>
          <a:xfrm>
            <a:off x="8641080" y="4617720"/>
            <a:ext cx="0" cy="63900"/>
          </a:xfrm>
          <a:prstGeom prst="straightConnector1">
            <a:avLst/>
          </a:prstGeom>
          <a:noFill/>
          <a:ln cap="rnd" cmpd="sng" w="12700">
            <a:solidFill>
              <a:srgbClr val="646A79"/>
            </a:solidFill>
            <a:prstDash val="solid"/>
            <a:round/>
            <a:headEnd len="sm" w="sm" type="none"/>
            <a:tailEnd len="sm" w="sm" type="none"/>
          </a:ln>
        </p:spPr>
      </p:cxnSp>
      <p:sp>
        <p:nvSpPr>
          <p:cNvPr id="766" name="Google Shape;766;p32"/>
          <p:cNvSpPr txBox="1"/>
          <p:nvPr/>
        </p:nvSpPr>
        <p:spPr>
          <a:xfrm>
            <a:off x="8366760" y="4709160"/>
            <a:ext cx="548700" cy="201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646A79"/>
                </a:solidFill>
                <a:latin typeface="Nunito Sans"/>
                <a:ea typeface="Nunito Sans"/>
                <a:cs typeface="Nunito Sans"/>
                <a:sym typeface="Nunito Sans"/>
              </a:rPr>
              <a:t>0.60</a:t>
            </a:r>
            <a:endParaRPr/>
          </a:p>
        </p:txBody>
      </p:sp>
      <p:cxnSp>
        <p:nvCxnSpPr>
          <p:cNvPr id="767" name="Google Shape;767;p32"/>
          <p:cNvCxnSpPr/>
          <p:nvPr/>
        </p:nvCxnSpPr>
        <p:spPr>
          <a:xfrm>
            <a:off x="4778654" y="2788920"/>
            <a:ext cx="1755600" cy="0"/>
          </a:xfrm>
          <a:prstGeom prst="straightConnector1">
            <a:avLst/>
          </a:prstGeom>
          <a:noFill/>
          <a:ln cap="rnd" cmpd="sng" w="28575">
            <a:solidFill>
              <a:srgbClr val="BFC6D4"/>
            </a:solidFill>
            <a:prstDash val="solid"/>
            <a:round/>
            <a:headEnd len="sm" w="sm" type="none"/>
            <a:tailEnd len="sm" w="sm" type="none"/>
          </a:ln>
        </p:spPr>
      </p:cxnSp>
      <p:cxnSp>
        <p:nvCxnSpPr>
          <p:cNvPr id="768" name="Google Shape;768;p32"/>
          <p:cNvCxnSpPr/>
          <p:nvPr/>
        </p:nvCxnSpPr>
        <p:spPr>
          <a:xfrm>
            <a:off x="4778654" y="2724912"/>
            <a:ext cx="0" cy="128100"/>
          </a:xfrm>
          <a:prstGeom prst="straightConnector1">
            <a:avLst/>
          </a:prstGeom>
          <a:noFill/>
          <a:ln cap="rnd" cmpd="sng" w="28575">
            <a:solidFill>
              <a:srgbClr val="BFC6D4"/>
            </a:solidFill>
            <a:prstDash val="solid"/>
            <a:round/>
            <a:headEnd len="sm" w="sm" type="none"/>
            <a:tailEnd len="sm" w="sm" type="none"/>
          </a:ln>
        </p:spPr>
      </p:cxnSp>
      <p:cxnSp>
        <p:nvCxnSpPr>
          <p:cNvPr id="769" name="Google Shape;769;p32"/>
          <p:cNvCxnSpPr/>
          <p:nvPr/>
        </p:nvCxnSpPr>
        <p:spPr>
          <a:xfrm>
            <a:off x="6534302" y="2724912"/>
            <a:ext cx="0" cy="128100"/>
          </a:xfrm>
          <a:prstGeom prst="straightConnector1">
            <a:avLst/>
          </a:prstGeom>
          <a:noFill/>
          <a:ln cap="rnd" cmpd="sng" w="28575">
            <a:solidFill>
              <a:srgbClr val="BFC6D4"/>
            </a:solidFill>
            <a:prstDash val="solid"/>
            <a:round/>
            <a:headEnd len="sm" w="sm" type="none"/>
            <a:tailEnd len="sm" w="sm" type="none"/>
          </a:ln>
        </p:spPr>
      </p:cxnSp>
      <p:cxnSp>
        <p:nvCxnSpPr>
          <p:cNvPr id="770" name="Google Shape;770;p32"/>
          <p:cNvCxnSpPr/>
          <p:nvPr/>
        </p:nvCxnSpPr>
        <p:spPr>
          <a:xfrm>
            <a:off x="5217566" y="3310128"/>
            <a:ext cx="1755600" cy="0"/>
          </a:xfrm>
          <a:prstGeom prst="straightConnector1">
            <a:avLst/>
          </a:prstGeom>
          <a:noFill/>
          <a:ln cap="rnd" cmpd="sng" w="28575">
            <a:solidFill>
              <a:srgbClr val="BFC6D4"/>
            </a:solidFill>
            <a:prstDash val="solid"/>
            <a:round/>
            <a:headEnd len="sm" w="sm" type="none"/>
            <a:tailEnd len="sm" w="sm" type="none"/>
          </a:ln>
        </p:spPr>
      </p:cxnSp>
      <p:cxnSp>
        <p:nvCxnSpPr>
          <p:cNvPr id="771" name="Google Shape;771;p32"/>
          <p:cNvCxnSpPr/>
          <p:nvPr/>
        </p:nvCxnSpPr>
        <p:spPr>
          <a:xfrm>
            <a:off x="5217566" y="3246120"/>
            <a:ext cx="0" cy="128100"/>
          </a:xfrm>
          <a:prstGeom prst="straightConnector1">
            <a:avLst/>
          </a:prstGeom>
          <a:noFill/>
          <a:ln cap="rnd" cmpd="sng" w="28575">
            <a:solidFill>
              <a:srgbClr val="BFC6D4"/>
            </a:solidFill>
            <a:prstDash val="solid"/>
            <a:round/>
            <a:headEnd len="sm" w="sm" type="none"/>
            <a:tailEnd len="sm" w="sm" type="none"/>
          </a:ln>
        </p:spPr>
      </p:cxnSp>
      <p:cxnSp>
        <p:nvCxnSpPr>
          <p:cNvPr id="772" name="Google Shape;772;p32"/>
          <p:cNvCxnSpPr/>
          <p:nvPr/>
        </p:nvCxnSpPr>
        <p:spPr>
          <a:xfrm>
            <a:off x="6973214" y="3246120"/>
            <a:ext cx="0" cy="128100"/>
          </a:xfrm>
          <a:prstGeom prst="straightConnector1">
            <a:avLst/>
          </a:prstGeom>
          <a:noFill/>
          <a:ln cap="rnd" cmpd="sng" w="28575">
            <a:solidFill>
              <a:srgbClr val="BFC6D4"/>
            </a:solidFill>
            <a:prstDash val="solid"/>
            <a:round/>
            <a:headEnd len="sm" w="sm" type="none"/>
            <a:tailEnd len="sm" w="sm" type="none"/>
          </a:ln>
        </p:spPr>
      </p:cxnSp>
      <p:cxnSp>
        <p:nvCxnSpPr>
          <p:cNvPr id="773" name="Google Shape;773;p32"/>
          <p:cNvCxnSpPr/>
          <p:nvPr/>
        </p:nvCxnSpPr>
        <p:spPr>
          <a:xfrm>
            <a:off x="5349240" y="3831336"/>
            <a:ext cx="1755600" cy="0"/>
          </a:xfrm>
          <a:prstGeom prst="straightConnector1">
            <a:avLst/>
          </a:prstGeom>
          <a:noFill/>
          <a:ln cap="rnd" cmpd="sng" w="28575">
            <a:solidFill>
              <a:srgbClr val="BFC6D4"/>
            </a:solidFill>
            <a:prstDash val="solid"/>
            <a:round/>
            <a:headEnd len="sm" w="sm" type="none"/>
            <a:tailEnd len="sm" w="sm" type="none"/>
          </a:ln>
        </p:spPr>
      </p:cxnSp>
      <p:cxnSp>
        <p:nvCxnSpPr>
          <p:cNvPr id="774" name="Google Shape;774;p32"/>
          <p:cNvCxnSpPr/>
          <p:nvPr/>
        </p:nvCxnSpPr>
        <p:spPr>
          <a:xfrm>
            <a:off x="5349240" y="3767328"/>
            <a:ext cx="0" cy="128100"/>
          </a:xfrm>
          <a:prstGeom prst="straightConnector1">
            <a:avLst/>
          </a:prstGeom>
          <a:noFill/>
          <a:ln cap="rnd" cmpd="sng" w="28575">
            <a:solidFill>
              <a:srgbClr val="BFC6D4"/>
            </a:solidFill>
            <a:prstDash val="solid"/>
            <a:round/>
            <a:headEnd len="sm" w="sm" type="none"/>
            <a:tailEnd len="sm" w="sm" type="none"/>
          </a:ln>
        </p:spPr>
      </p:cxnSp>
      <p:cxnSp>
        <p:nvCxnSpPr>
          <p:cNvPr id="775" name="Google Shape;775;p32"/>
          <p:cNvCxnSpPr/>
          <p:nvPr/>
        </p:nvCxnSpPr>
        <p:spPr>
          <a:xfrm>
            <a:off x="7104888" y="3767328"/>
            <a:ext cx="0" cy="128100"/>
          </a:xfrm>
          <a:prstGeom prst="straightConnector1">
            <a:avLst/>
          </a:prstGeom>
          <a:noFill/>
          <a:ln cap="rnd" cmpd="sng" w="28575">
            <a:solidFill>
              <a:srgbClr val="BFC6D4"/>
            </a:solidFill>
            <a:prstDash val="solid"/>
            <a:round/>
            <a:headEnd len="sm" w="sm" type="none"/>
            <a:tailEnd len="sm" w="sm" type="none"/>
          </a:ln>
        </p:spPr>
      </p:cxnSp>
      <p:cxnSp>
        <p:nvCxnSpPr>
          <p:cNvPr id="776" name="Google Shape;776;p32"/>
          <p:cNvCxnSpPr/>
          <p:nvPr/>
        </p:nvCxnSpPr>
        <p:spPr>
          <a:xfrm>
            <a:off x="5393131" y="4352544"/>
            <a:ext cx="1755600" cy="0"/>
          </a:xfrm>
          <a:prstGeom prst="straightConnector1">
            <a:avLst/>
          </a:prstGeom>
          <a:noFill/>
          <a:ln cap="rnd" cmpd="sng" w="28575">
            <a:solidFill>
              <a:srgbClr val="BFC6D4"/>
            </a:solidFill>
            <a:prstDash val="solid"/>
            <a:round/>
            <a:headEnd len="sm" w="sm" type="none"/>
            <a:tailEnd len="sm" w="sm" type="none"/>
          </a:ln>
        </p:spPr>
      </p:cxnSp>
      <p:cxnSp>
        <p:nvCxnSpPr>
          <p:cNvPr id="777" name="Google Shape;777;p32"/>
          <p:cNvCxnSpPr/>
          <p:nvPr/>
        </p:nvCxnSpPr>
        <p:spPr>
          <a:xfrm>
            <a:off x="5393131" y="4288536"/>
            <a:ext cx="0" cy="128100"/>
          </a:xfrm>
          <a:prstGeom prst="straightConnector1">
            <a:avLst/>
          </a:prstGeom>
          <a:noFill/>
          <a:ln cap="rnd" cmpd="sng" w="28575">
            <a:solidFill>
              <a:srgbClr val="BFC6D4"/>
            </a:solidFill>
            <a:prstDash val="solid"/>
            <a:round/>
            <a:headEnd len="sm" w="sm" type="none"/>
            <a:tailEnd len="sm" w="sm" type="none"/>
          </a:ln>
        </p:spPr>
      </p:cxnSp>
      <p:cxnSp>
        <p:nvCxnSpPr>
          <p:cNvPr id="778" name="Google Shape;778;p32"/>
          <p:cNvCxnSpPr/>
          <p:nvPr/>
        </p:nvCxnSpPr>
        <p:spPr>
          <a:xfrm>
            <a:off x="7148779" y="4288536"/>
            <a:ext cx="0" cy="128100"/>
          </a:xfrm>
          <a:prstGeom prst="straightConnector1">
            <a:avLst/>
          </a:prstGeom>
          <a:noFill/>
          <a:ln cap="rnd" cmpd="sng" w="28575">
            <a:solidFill>
              <a:srgbClr val="BFC6D4"/>
            </a:solidFill>
            <a:prstDash val="solid"/>
            <a:round/>
            <a:headEnd len="sm" w="sm" type="none"/>
            <a:tailEnd len="sm" w="sm" type="none"/>
          </a:ln>
        </p:spPr>
      </p:cxnSp>
      <p:sp>
        <p:nvSpPr>
          <p:cNvPr descr="Each person’s own answers: AUC 0.532" id="779" name="Google Shape;779;p32"/>
          <p:cNvSpPr/>
          <p:nvPr/>
        </p:nvSpPr>
        <p:spPr>
          <a:xfrm>
            <a:off x="5537606" y="2670048"/>
            <a:ext cx="237600" cy="237600"/>
          </a:xfrm>
          <a:prstGeom prst="ellipse">
            <a:avLst/>
          </a:prstGeom>
          <a:solidFill>
            <a:srgbClr val="A9C1E8"/>
          </a:solidFill>
          <a:ln cap="rnd"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 6 compatibility features: AUC 0.542" id="780" name="Google Shape;780;p32"/>
          <p:cNvSpPr/>
          <p:nvPr/>
        </p:nvSpPr>
        <p:spPr>
          <a:xfrm>
            <a:off x="5976518" y="3191256"/>
            <a:ext cx="237600" cy="237600"/>
          </a:xfrm>
          <a:prstGeom prst="ellipse">
            <a:avLst/>
          </a:prstGeom>
          <a:solidFill>
            <a:srgbClr val="A9C1E8"/>
          </a:solidFill>
          <a:ln cap="rnd"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 5 more compatibility features: AUC 0.545" id="781" name="Google Shape;781;p32"/>
          <p:cNvSpPr/>
          <p:nvPr/>
        </p:nvSpPr>
        <p:spPr>
          <a:xfrm>
            <a:off x="6108192" y="3712464"/>
            <a:ext cx="237600" cy="237600"/>
          </a:xfrm>
          <a:prstGeom prst="ellipse">
            <a:avLst/>
          </a:prstGeom>
          <a:solidFill>
            <a:srgbClr val="A9C1E8"/>
          </a:solidFill>
          <a:ln cap="rnd"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 3 interaction terms: AUC 0.546" id="782" name="Google Shape;782;p32"/>
          <p:cNvSpPr/>
          <p:nvPr/>
        </p:nvSpPr>
        <p:spPr>
          <a:xfrm>
            <a:off x="6152083" y="4233672"/>
            <a:ext cx="237600" cy="237600"/>
          </a:xfrm>
          <a:prstGeom prst="ellipse">
            <a:avLst/>
          </a:prstGeom>
          <a:solidFill>
            <a:srgbClr val="A9C1E8"/>
          </a:solidFill>
          <a:ln cap="rnd"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83" name="Google Shape;783;p32"/>
          <p:cNvSpPr txBox="1"/>
          <p:nvPr/>
        </p:nvSpPr>
        <p:spPr>
          <a:xfrm>
            <a:off x="960120" y="2642616"/>
            <a:ext cx="30633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1B2440"/>
                </a:solidFill>
                <a:latin typeface="Nunito Sans"/>
                <a:ea typeface="Nunito Sans"/>
                <a:cs typeface="Nunito Sans"/>
                <a:sym typeface="Nunito Sans"/>
              </a:rPr>
              <a:t>Each person’s own answers</a:t>
            </a:r>
            <a:endParaRPr/>
          </a:p>
        </p:txBody>
      </p:sp>
      <p:sp>
        <p:nvSpPr>
          <p:cNvPr id="784" name="Google Shape;784;p32"/>
          <p:cNvSpPr txBox="1"/>
          <p:nvPr/>
        </p:nvSpPr>
        <p:spPr>
          <a:xfrm>
            <a:off x="9098280" y="2642616"/>
            <a:ext cx="64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B2440"/>
                </a:solidFill>
                <a:latin typeface="Nunito Sans"/>
                <a:ea typeface="Nunito Sans"/>
                <a:cs typeface="Nunito Sans"/>
                <a:sym typeface="Nunito Sans"/>
              </a:rPr>
              <a:t>0.532</a:t>
            </a:r>
            <a:endParaRPr/>
          </a:p>
        </p:txBody>
      </p:sp>
      <p:sp>
        <p:nvSpPr>
          <p:cNvPr id="785" name="Google Shape;785;p32"/>
          <p:cNvSpPr txBox="1"/>
          <p:nvPr/>
        </p:nvSpPr>
        <p:spPr>
          <a:xfrm>
            <a:off x="960120" y="3163824"/>
            <a:ext cx="30633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1B2440"/>
                </a:solidFill>
                <a:latin typeface="Nunito Sans"/>
                <a:ea typeface="Nunito Sans"/>
                <a:cs typeface="Nunito Sans"/>
                <a:sym typeface="Nunito Sans"/>
              </a:rPr>
              <a:t>+ 6 compatibility features</a:t>
            </a:r>
            <a:endParaRPr/>
          </a:p>
        </p:txBody>
      </p:sp>
      <p:sp>
        <p:nvSpPr>
          <p:cNvPr id="786" name="Google Shape;786;p32"/>
          <p:cNvSpPr txBox="1"/>
          <p:nvPr/>
        </p:nvSpPr>
        <p:spPr>
          <a:xfrm>
            <a:off x="9098280" y="3163824"/>
            <a:ext cx="64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B2440"/>
                </a:solidFill>
                <a:latin typeface="Nunito Sans"/>
                <a:ea typeface="Nunito Sans"/>
                <a:cs typeface="Nunito Sans"/>
                <a:sym typeface="Nunito Sans"/>
              </a:rPr>
              <a:t>0.542</a:t>
            </a:r>
            <a:endParaRPr/>
          </a:p>
        </p:txBody>
      </p:sp>
      <p:sp>
        <p:nvSpPr>
          <p:cNvPr id="787" name="Google Shape;787;p32"/>
          <p:cNvSpPr txBox="1"/>
          <p:nvPr/>
        </p:nvSpPr>
        <p:spPr>
          <a:xfrm>
            <a:off x="9829800" y="3163824"/>
            <a:ext cx="8229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646A79"/>
                </a:solidFill>
                <a:latin typeface="Nunito Sans"/>
                <a:ea typeface="Nunito Sans"/>
                <a:cs typeface="Nunito Sans"/>
                <a:sym typeface="Nunito Sans"/>
              </a:rPr>
              <a:t>+0.010</a:t>
            </a:r>
            <a:endParaRPr/>
          </a:p>
        </p:txBody>
      </p:sp>
      <p:sp>
        <p:nvSpPr>
          <p:cNvPr id="788" name="Google Shape;788;p32"/>
          <p:cNvSpPr txBox="1"/>
          <p:nvPr/>
        </p:nvSpPr>
        <p:spPr>
          <a:xfrm>
            <a:off x="960120" y="3685032"/>
            <a:ext cx="30633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1B2440"/>
                </a:solidFill>
                <a:latin typeface="Nunito Sans"/>
                <a:ea typeface="Nunito Sans"/>
                <a:cs typeface="Nunito Sans"/>
                <a:sym typeface="Nunito Sans"/>
              </a:rPr>
              <a:t>+ 5 more compatibility features</a:t>
            </a:r>
            <a:endParaRPr/>
          </a:p>
        </p:txBody>
      </p:sp>
      <p:sp>
        <p:nvSpPr>
          <p:cNvPr id="789" name="Google Shape;789;p32"/>
          <p:cNvSpPr txBox="1"/>
          <p:nvPr/>
        </p:nvSpPr>
        <p:spPr>
          <a:xfrm>
            <a:off x="9098280" y="3685032"/>
            <a:ext cx="64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B2440"/>
                </a:solidFill>
                <a:latin typeface="Nunito Sans"/>
                <a:ea typeface="Nunito Sans"/>
                <a:cs typeface="Nunito Sans"/>
                <a:sym typeface="Nunito Sans"/>
              </a:rPr>
              <a:t>0.545</a:t>
            </a:r>
            <a:endParaRPr/>
          </a:p>
        </p:txBody>
      </p:sp>
      <p:sp>
        <p:nvSpPr>
          <p:cNvPr id="790" name="Google Shape;790;p32"/>
          <p:cNvSpPr txBox="1"/>
          <p:nvPr/>
        </p:nvSpPr>
        <p:spPr>
          <a:xfrm>
            <a:off x="9829800" y="3685032"/>
            <a:ext cx="8229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646A79"/>
                </a:solidFill>
                <a:latin typeface="Nunito Sans"/>
                <a:ea typeface="Nunito Sans"/>
                <a:cs typeface="Nunito Sans"/>
                <a:sym typeface="Nunito Sans"/>
              </a:rPr>
              <a:t>+0.003</a:t>
            </a:r>
            <a:endParaRPr/>
          </a:p>
        </p:txBody>
      </p:sp>
      <p:sp>
        <p:nvSpPr>
          <p:cNvPr id="791" name="Google Shape;791;p32"/>
          <p:cNvSpPr txBox="1"/>
          <p:nvPr/>
        </p:nvSpPr>
        <p:spPr>
          <a:xfrm>
            <a:off x="960120" y="4206240"/>
            <a:ext cx="30633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1B2440"/>
                </a:solidFill>
                <a:latin typeface="Nunito Sans"/>
                <a:ea typeface="Nunito Sans"/>
                <a:cs typeface="Nunito Sans"/>
                <a:sym typeface="Nunito Sans"/>
              </a:rPr>
              <a:t>+ 3 interaction terms</a:t>
            </a:r>
            <a:endParaRPr/>
          </a:p>
        </p:txBody>
      </p:sp>
      <p:sp>
        <p:nvSpPr>
          <p:cNvPr id="792" name="Google Shape;792;p32"/>
          <p:cNvSpPr txBox="1"/>
          <p:nvPr/>
        </p:nvSpPr>
        <p:spPr>
          <a:xfrm>
            <a:off x="9098280" y="4206240"/>
            <a:ext cx="64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B2440"/>
                </a:solidFill>
                <a:latin typeface="Nunito Sans"/>
                <a:ea typeface="Nunito Sans"/>
                <a:cs typeface="Nunito Sans"/>
                <a:sym typeface="Nunito Sans"/>
              </a:rPr>
              <a:t>0.546</a:t>
            </a:r>
            <a:endParaRPr/>
          </a:p>
        </p:txBody>
      </p:sp>
      <p:sp>
        <p:nvSpPr>
          <p:cNvPr id="793" name="Google Shape;793;p32"/>
          <p:cNvSpPr txBox="1"/>
          <p:nvPr/>
        </p:nvSpPr>
        <p:spPr>
          <a:xfrm>
            <a:off x="9829800" y="4206240"/>
            <a:ext cx="8229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646A79"/>
                </a:solidFill>
                <a:latin typeface="Nunito Sans"/>
                <a:ea typeface="Nunito Sans"/>
                <a:cs typeface="Nunito Sans"/>
                <a:sym typeface="Nunito Sans"/>
              </a:rPr>
              <a:t>+0.001</a:t>
            </a:r>
            <a:endParaRPr/>
          </a:p>
        </p:txBody>
      </p:sp>
      <p:sp>
        <p:nvSpPr>
          <p:cNvPr id="794" name="Google Shape;794;p32"/>
          <p:cNvSpPr/>
          <p:nvPr/>
        </p:nvSpPr>
        <p:spPr>
          <a:xfrm>
            <a:off x="812902" y="5138928"/>
            <a:ext cx="10566000" cy="914400"/>
          </a:xfrm>
          <a:prstGeom prst="roundRect">
            <a:avLst>
              <a:gd fmla="val 12234" name="adj"/>
            </a:avLst>
          </a:prstGeom>
          <a:solidFill>
            <a:srgbClr val="F6E9E6"/>
          </a:solidFill>
          <a:ln cap="rnd" cmpd="sng" w="12700">
            <a:solidFill>
              <a:srgbClr val="EADFD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95" name="Google Shape;795;p32"/>
          <p:cNvSpPr txBox="1"/>
          <p:nvPr/>
        </p:nvSpPr>
        <p:spPr>
          <a:xfrm>
            <a:off x="1005840" y="5276088"/>
            <a:ext cx="28347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B2440"/>
                </a:solidFill>
                <a:latin typeface="Nunito Sans"/>
                <a:ea typeface="Nunito Sans"/>
                <a:cs typeface="Nunito Sans"/>
                <a:sym typeface="Nunito Sans"/>
              </a:rPr>
              <a:t>On the full AUC scale</a:t>
            </a:r>
            <a:endParaRPr/>
          </a:p>
          <a:p>
            <a:pPr indent="0" lvl="0" marL="0" marR="0" rtl="0" algn="l">
              <a:lnSpc>
                <a:spcPct val="110000"/>
              </a:lnSpc>
              <a:spcBef>
                <a:spcPts val="0"/>
              </a:spcBef>
              <a:spcAft>
                <a:spcPts val="0"/>
              </a:spcAft>
              <a:buClr>
                <a:srgbClr val="000000"/>
              </a:buClr>
              <a:buSzPts val="1200"/>
              <a:buFont typeface="Arial"/>
              <a:buNone/>
            </a:pPr>
            <a:r>
              <a:rPr b="0" i="0" lang="en-US" sz="1200" u="none" cap="none" strike="noStrike">
                <a:solidFill>
                  <a:srgbClr val="646A79"/>
                </a:solidFill>
                <a:latin typeface="Nunito Sans"/>
                <a:ea typeface="Nunito Sans"/>
                <a:cs typeface="Nunito Sans"/>
                <a:sym typeface="Nunito Sans"/>
              </a:rPr>
              <a:t>0.5 is chance, 1.0 is perfect</a:t>
            </a:r>
            <a:endParaRPr/>
          </a:p>
        </p:txBody>
      </p:sp>
      <p:sp>
        <p:nvSpPr>
          <p:cNvPr id="796" name="Google Shape;796;p32"/>
          <p:cNvSpPr/>
          <p:nvPr/>
        </p:nvSpPr>
        <p:spPr>
          <a:xfrm>
            <a:off x="4251960" y="5568696"/>
            <a:ext cx="6812400" cy="54900"/>
          </a:xfrm>
          <a:prstGeom prst="roundRect">
            <a:avLst>
              <a:gd fmla="val 50000" name="adj"/>
            </a:avLst>
          </a:prstGeom>
          <a:solidFill>
            <a:srgbClr val="EADFD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AUC range with in-date ratings: 0.78 to 0.85" id="797" name="Google Shape;797;p32"/>
          <p:cNvSpPr/>
          <p:nvPr/>
        </p:nvSpPr>
        <p:spPr>
          <a:xfrm>
            <a:off x="8066837" y="5504688"/>
            <a:ext cx="953700" cy="183000"/>
          </a:xfrm>
          <a:prstGeom prst="roundRect">
            <a:avLst>
              <a:gd fmla="val 50000" name="adj"/>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98" name="Google Shape;798;p32"/>
          <p:cNvSpPr txBox="1"/>
          <p:nvPr/>
        </p:nvSpPr>
        <p:spPr>
          <a:xfrm>
            <a:off x="8066837" y="5212080"/>
            <a:ext cx="31089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B23A55"/>
                </a:solidFill>
                <a:latin typeface="Nunito Sans"/>
                <a:ea typeface="Nunito Sans"/>
                <a:cs typeface="Nunito Sans"/>
                <a:sym typeface="Nunito Sans"/>
              </a:rPr>
              <a:t>With in-date ratings: 0.78–0.85</a:t>
            </a:r>
            <a:endParaRPr/>
          </a:p>
        </p:txBody>
      </p:sp>
      <p:sp>
        <p:nvSpPr>
          <p:cNvPr id="799" name="Google Shape;799;p32"/>
          <p:cNvSpPr txBox="1"/>
          <p:nvPr/>
        </p:nvSpPr>
        <p:spPr>
          <a:xfrm>
            <a:off x="4251960" y="5212080"/>
            <a:ext cx="31089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1B2440"/>
                </a:solidFill>
                <a:latin typeface="Nunito Sans"/>
                <a:ea typeface="Nunito Sans"/>
                <a:cs typeface="Nunito Sans"/>
                <a:sym typeface="Nunito Sans"/>
              </a:rPr>
              <a:t>Before the date: 0.53–0.55</a:t>
            </a:r>
            <a:endParaRPr/>
          </a:p>
        </p:txBody>
      </p:sp>
      <p:sp>
        <p:nvSpPr>
          <p:cNvPr id="800" name="Google Shape;800;p32"/>
          <p:cNvSpPr/>
          <p:nvPr/>
        </p:nvSpPr>
        <p:spPr>
          <a:xfrm>
            <a:off x="4596506" y="5504688"/>
            <a:ext cx="183000" cy="183000"/>
          </a:xfrm>
          <a:prstGeom prst="ellipse">
            <a:avLst/>
          </a:prstGeom>
          <a:solidFill>
            <a:srgbClr val="A9C1E8"/>
          </a:solidFill>
          <a:ln cap="rnd" cmpd="sng" w="12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01" name="Google Shape;801;p32"/>
          <p:cNvSpPr/>
          <p:nvPr/>
        </p:nvSpPr>
        <p:spPr>
          <a:xfrm>
            <a:off x="4732752" y="5504688"/>
            <a:ext cx="183000" cy="183000"/>
          </a:xfrm>
          <a:prstGeom prst="ellipse">
            <a:avLst/>
          </a:prstGeom>
          <a:solidFill>
            <a:srgbClr val="A9C1E8"/>
          </a:solidFill>
          <a:ln cap="rnd" cmpd="sng" w="12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02" name="Google Shape;802;p32"/>
          <p:cNvSpPr/>
          <p:nvPr/>
        </p:nvSpPr>
        <p:spPr>
          <a:xfrm>
            <a:off x="4773625" y="5504688"/>
            <a:ext cx="183000" cy="183000"/>
          </a:xfrm>
          <a:prstGeom prst="ellipse">
            <a:avLst/>
          </a:prstGeom>
          <a:solidFill>
            <a:srgbClr val="A9C1E8"/>
          </a:solidFill>
          <a:ln cap="rnd" cmpd="sng" w="12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03" name="Google Shape;803;p32"/>
          <p:cNvSpPr/>
          <p:nvPr/>
        </p:nvSpPr>
        <p:spPr>
          <a:xfrm>
            <a:off x="4787250" y="5504688"/>
            <a:ext cx="183000" cy="183000"/>
          </a:xfrm>
          <a:prstGeom prst="ellipse">
            <a:avLst/>
          </a:prstGeom>
          <a:solidFill>
            <a:srgbClr val="A9C1E8"/>
          </a:solidFill>
          <a:ln cap="rnd" cmpd="sng" w="12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cxnSp>
        <p:nvCxnSpPr>
          <p:cNvPr id="804" name="Google Shape;804;p32"/>
          <p:cNvCxnSpPr/>
          <p:nvPr/>
        </p:nvCxnSpPr>
        <p:spPr>
          <a:xfrm>
            <a:off x="4251960" y="5705856"/>
            <a:ext cx="0" cy="63900"/>
          </a:xfrm>
          <a:prstGeom prst="straightConnector1">
            <a:avLst/>
          </a:prstGeom>
          <a:noFill/>
          <a:ln cap="rnd" cmpd="sng" w="9525">
            <a:solidFill>
              <a:srgbClr val="646A79"/>
            </a:solidFill>
            <a:prstDash val="solid"/>
            <a:round/>
            <a:headEnd len="sm" w="sm" type="none"/>
            <a:tailEnd len="sm" w="sm" type="none"/>
          </a:ln>
        </p:spPr>
      </p:cxnSp>
      <p:sp>
        <p:nvSpPr>
          <p:cNvPr id="805" name="Google Shape;805;p32"/>
          <p:cNvSpPr txBox="1"/>
          <p:nvPr/>
        </p:nvSpPr>
        <p:spPr>
          <a:xfrm>
            <a:off x="3977640" y="5779008"/>
            <a:ext cx="548700" cy="18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646A79"/>
                </a:solidFill>
                <a:latin typeface="Nunito Sans"/>
                <a:ea typeface="Nunito Sans"/>
                <a:cs typeface="Nunito Sans"/>
                <a:sym typeface="Nunito Sans"/>
              </a:rPr>
              <a:t>0.50</a:t>
            </a:r>
            <a:endParaRPr/>
          </a:p>
        </p:txBody>
      </p:sp>
      <p:cxnSp>
        <p:nvCxnSpPr>
          <p:cNvPr id="806" name="Google Shape;806;p32"/>
          <p:cNvCxnSpPr/>
          <p:nvPr/>
        </p:nvCxnSpPr>
        <p:spPr>
          <a:xfrm>
            <a:off x="7658100" y="5705856"/>
            <a:ext cx="0" cy="63900"/>
          </a:xfrm>
          <a:prstGeom prst="straightConnector1">
            <a:avLst/>
          </a:prstGeom>
          <a:noFill/>
          <a:ln cap="rnd" cmpd="sng" w="9525">
            <a:solidFill>
              <a:srgbClr val="646A79"/>
            </a:solidFill>
            <a:prstDash val="solid"/>
            <a:round/>
            <a:headEnd len="sm" w="sm" type="none"/>
            <a:tailEnd len="sm" w="sm" type="none"/>
          </a:ln>
        </p:spPr>
      </p:cxnSp>
      <p:sp>
        <p:nvSpPr>
          <p:cNvPr id="807" name="Google Shape;807;p32"/>
          <p:cNvSpPr txBox="1"/>
          <p:nvPr/>
        </p:nvSpPr>
        <p:spPr>
          <a:xfrm>
            <a:off x="7383780" y="5779008"/>
            <a:ext cx="548700" cy="18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646A79"/>
                </a:solidFill>
                <a:latin typeface="Nunito Sans"/>
                <a:ea typeface="Nunito Sans"/>
                <a:cs typeface="Nunito Sans"/>
                <a:sym typeface="Nunito Sans"/>
              </a:rPr>
              <a:t>0.75</a:t>
            </a:r>
            <a:endParaRPr/>
          </a:p>
        </p:txBody>
      </p:sp>
      <p:cxnSp>
        <p:nvCxnSpPr>
          <p:cNvPr id="808" name="Google Shape;808;p32"/>
          <p:cNvCxnSpPr/>
          <p:nvPr/>
        </p:nvCxnSpPr>
        <p:spPr>
          <a:xfrm>
            <a:off x="11064240" y="5705856"/>
            <a:ext cx="0" cy="63900"/>
          </a:xfrm>
          <a:prstGeom prst="straightConnector1">
            <a:avLst/>
          </a:prstGeom>
          <a:noFill/>
          <a:ln cap="rnd" cmpd="sng" w="9525">
            <a:solidFill>
              <a:srgbClr val="646A79"/>
            </a:solidFill>
            <a:prstDash val="solid"/>
            <a:round/>
            <a:headEnd len="sm" w="sm" type="none"/>
            <a:tailEnd len="sm" w="sm" type="none"/>
          </a:ln>
        </p:spPr>
      </p:cxnSp>
      <p:sp>
        <p:nvSpPr>
          <p:cNvPr id="809" name="Google Shape;809;p32"/>
          <p:cNvSpPr txBox="1"/>
          <p:nvPr/>
        </p:nvSpPr>
        <p:spPr>
          <a:xfrm>
            <a:off x="10789920" y="5779008"/>
            <a:ext cx="548700" cy="18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646A79"/>
                </a:solidFill>
                <a:latin typeface="Nunito Sans"/>
                <a:ea typeface="Nunito Sans"/>
                <a:cs typeface="Nunito Sans"/>
                <a:sym typeface="Nunito Sans"/>
              </a:rPr>
              <a:t>1.00</a:t>
            </a:r>
            <a:endParaRPr/>
          </a:p>
        </p:txBody>
      </p:sp>
      <p:sp>
        <p:nvSpPr>
          <p:cNvPr id="810" name="Google Shape;810;p32"/>
          <p:cNvSpPr/>
          <p:nvPr/>
        </p:nvSpPr>
        <p:spPr>
          <a:xfrm>
            <a:off x="812800" y="6289080"/>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29 · Logistic regression rows unless marked; whiskers = ±1 standard error (about 0.02)</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815" name="Shape 815"/>
        <p:cNvGrpSpPr/>
        <p:nvPr/>
      </p:nvGrpSpPr>
      <p:grpSpPr>
        <a:xfrm>
          <a:off x="0" y="0"/>
          <a:ext cx="0" cy="0"/>
          <a:chOff x="0" y="0"/>
          <a:chExt cx="0" cy="0"/>
        </a:xfrm>
      </p:grpSpPr>
      <p:sp>
        <p:nvSpPr>
          <p:cNvPr id="816" name="Google Shape;816;p33"/>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5 · RESULTS</a:t>
            </a:r>
            <a:endParaRPr b="0" i="0" sz="1200" u="none" cap="none" strike="noStrike">
              <a:solidFill>
                <a:schemeClr val="dk1"/>
              </a:solidFill>
              <a:latin typeface="Calibri"/>
              <a:ea typeface="Calibri"/>
              <a:cs typeface="Calibri"/>
              <a:sym typeface="Calibri"/>
            </a:endParaRPr>
          </a:p>
        </p:txBody>
      </p:sp>
      <p:sp>
        <p:nvSpPr>
          <p:cNvPr id="817" name="Google Shape;817;p33"/>
          <p:cNvSpPr/>
          <p:nvPr/>
        </p:nvSpPr>
        <p:spPr>
          <a:xfrm>
            <a:off x="812800" y="1280120"/>
            <a:ext cx="11379200"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Looks drive choices about twice as much as people say</a:t>
            </a:r>
            <a:endParaRPr b="0" i="0" sz="3200" u="none" cap="none" strike="noStrike">
              <a:solidFill>
                <a:schemeClr val="dk1"/>
              </a:solidFill>
              <a:latin typeface="Calibri"/>
              <a:ea typeface="Calibri"/>
              <a:cs typeface="Calibri"/>
              <a:sym typeface="Calibri"/>
            </a:endParaRPr>
          </a:p>
        </p:txBody>
      </p:sp>
      <p:sp>
        <p:nvSpPr>
          <p:cNvPr id="818" name="Google Shape;818;p33"/>
          <p:cNvSpPr/>
          <p:nvPr/>
        </p:nvSpPr>
        <p:spPr>
          <a:xfrm>
            <a:off x="812800" y="2026301"/>
            <a:ext cx="9712200" cy="409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440"/>
              </a:buClr>
              <a:buSzPts val="2114"/>
              <a:buFont typeface="Nunito Sans"/>
              <a:buNone/>
            </a:pPr>
            <a:r>
              <a:rPr b="1" i="0" lang="en-US" sz="2114" u="none" cap="none" strike="noStrike">
                <a:solidFill>
                  <a:srgbClr val="1B2440"/>
                </a:solidFill>
                <a:latin typeface="Nunito Sans"/>
                <a:ea typeface="Nunito Sans"/>
                <a:cs typeface="Nunito Sans"/>
                <a:sym typeface="Nunito Sans"/>
              </a:rPr>
              <a:t>Women</a:t>
            </a:r>
            <a:endParaRPr b="0" i="0" sz="2114" u="none" cap="none" strike="noStrike">
              <a:solidFill>
                <a:schemeClr val="dk1"/>
              </a:solidFill>
              <a:latin typeface="Calibri"/>
              <a:ea typeface="Calibri"/>
              <a:cs typeface="Calibri"/>
              <a:sym typeface="Calibri"/>
            </a:endParaRPr>
          </a:p>
        </p:txBody>
      </p:sp>
      <p:sp>
        <p:nvSpPr>
          <p:cNvPr id="819" name="Google Shape;819;p33"/>
          <p:cNvSpPr/>
          <p:nvPr/>
        </p:nvSpPr>
        <p:spPr>
          <a:xfrm>
            <a:off x="812800" y="2502783"/>
            <a:ext cx="2388870" cy="402336"/>
          </a:xfrm>
          <a:custGeom>
            <a:rect b="b" l="l" r="r" t="t"/>
            <a:pathLst>
              <a:path extrusionOk="0" h="304800" w="1809750">
                <a:moveTo>
                  <a:pt x="0" y="0"/>
                </a:moveTo>
                <a:lnTo>
                  <a:pt x="1733550" y="0"/>
                </a:lnTo>
                <a:cubicBezTo>
                  <a:pt x="1753759" y="0"/>
                  <a:pt x="1773141" y="8028"/>
                  <a:pt x="1787432" y="22318"/>
                </a:cubicBezTo>
                <a:cubicBezTo>
                  <a:pt x="1801722" y="36609"/>
                  <a:pt x="1809750" y="55991"/>
                  <a:pt x="1809750" y="76200"/>
                </a:cubicBezTo>
                <a:lnTo>
                  <a:pt x="1809750" y="228600"/>
                </a:lnTo>
                <a:cubicBezTo>
                  <a:pt x="1809750" y="270684"/>
                  <a:pt x="1775634" y="304800"/>
                  <a:pt x="1733550" y="304800"/>
                </a:cubicBezTo>
                <a:lnTo>
                  <a:pt x="0" y="304800"/>
                </a:lnTo>
                <a:lnTo>
                  <a:pt x="0" y="0"/>
                </a:lnTo>
                <a:close/>
              </a:path>
            </a:pathLst>
          </a:custGeom>
          <a:solidFill>
            <a:srgbClr val="C9CED8"/>
          </a:solidFill>
          <a:ln>
            <a:noFill/>
          </a:ln>
        </p:spPr>
        <p:txBody>
          <a:bodyPr anchorCtr="0" anchor="ctr" bIns="120775" lIns="120775" spcFirstLastPara="1" rIns="120775" wrap="square" tIns="120775">
            <a:noAutofit/>
          </a:bodyPr>
          <a:lstStyle/>
          <a:p>
            <a:pPr indent="0" lvl="0" marL="0" rtl="0" algn="l">
              <a:spcBef>
                <a:spcPts val="0"/>
              </a:spcBef>
              <a:spcAft>
                <a:spcPts val="0"/>
              </a:spcAft>
              <a:buNone/>
            </a:pPr>
            <a:r>
              <a:t/>
            </a:r>
            <a:endParaRPr/>
          </a:p>
        </p:txBody>
      </p:sp>
      <p:sp>
        <p:nvSpPr>
          <p:cNvPr id="820" name="Google Shape;820;p33"/>
          <p:cNvSpPr/>
          <p:nvPr/>
        </p:nvSpPr>
        <p:spPr>
          <a:xfrm>
            <a:off x="3337952" y="2539682"/>
            <a:ext cx="1191900" cy="3624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440"/>
              </a:buClr>
              <a:buSzPts val="1850"/>
              <a:buFont typeface="Nunito Sans"/>
              <a:buNone/>
            </a:pPr>
            <a:r>
              <a:rPr b="1" i="0" lang="en-US" sz="1850" u="none" cap="none" strike="noStrike">
                <a:solidFill>
                  <a:srgbClr val="1B2440"/>
                </a:solidFill>
                <a:latin typeface="Nunito Sans"/>
                <a:ea typeface="Nunito Sans"/>
                <a:cs typeface="Nunito Sans"/>
                <a:sym typeface="Nunito Sans"/>
              </a:rPr>
              <a:t>19%</a:t>
            </a:r>
            <a:r>
              <a:rPr b="0" i="0" lang="en-US" sz="1850" u="none" cap="none" strike="noStrike">
                <a:solidFill>
                  <a:srgbClr val="1B2440"/>
                </a:solidFill>
                <a:latin typeface="Nunito Sans"/>
                <a:ea typeface="Nunito Sans"/>
                <a:cs typeface="Nunito Sans"/>
                <a:sym typeface="Nunito Sans"/>
              </a:rPr>
              <a:t> </a:t>
            </a:r>
            <a:endParaRPr b="0" i="0" sz="1850" u="none" cap="none" strike="noStrike">
              <a:solidFill>
                <a:schemeClr val="dk1"/>
              </a:solidFill>
              <a:latin typeface="Calibri"/>
              <a:ea typeface="Calibri"/>
              <a:cs typeface="Calibri"/>
              <a:sym typeface="Calibri"/>
            </a:endParaRPr>
          </a:p>
        </p:txBody>
      </p:sp>
      <p:sp>
        <p:nvSpPr>
          <p:cNvPr id="821" name="Google Shape;821;p33"/>
          <p:cNvSpPr/>
          <p:nvPr/>
        </p:nvSpPr>
        <p:spPr>
          <a:xfrm>
            <a:off x="812800" y="3006134"/>
            <a:ext cx="4652010" cy="402336"/>
          </a:xfrm>
          <a:custGeom>
            <a:rect b="b" l="l" r="r" t="t"/>
            <a:pathLst>
              <a:path extrusionOk="0" h="304800" w="3524250">
                <a:moveTo>
                  <a:pt x="0" y="0"/>
                </a:moveTo>
                <a:lnTo>
                  <a:pt x="3448050" y="0"/>
                </a:lnTo>
                <a:cubicBezTo>
                  <a:pt x="3468259" y="0"/>
                  <a:pt x="3487641" y="8028"/>
                  <a:pt x="3501932" y="22318"/>
                </a:cubicBezTo>
                <a:cubicBezTo>
                  <a:pt x="3516222" y="36609"/>
                  <a:pt x="3524250" y="55991"/>
                  <a:pt x="3524250" y="76200"/>
                </a:cubicBezTo>
                <a:lnTo>
                  <a:pt x="3524250" y="228600"/>
                </a:lnTo>
                <a:cubicBezTo>
                  <a:pt x="3524250" y="270684"/>
                  <a:pt x="3490134" y="304800"/>
                  <a:pt x="3448050" y="304800"/>
                </a:cubicBezTo>
                <a:lnTo>
                  <a:pt x="0" y="304800"/>
                </a:lnTo>
                <a:lnTo>
                  <a:pt x="0" y="0"/>
                </a:lnTo>
                <a:close/>
              </a:path>
            </a:pathLst>
          </a:custGeom>
          <a:solidFill>
            <a:srgbClr val="E0607E"/>
          </a:solidFill>
          <a:ln>
            <a:noFill/>
          </a:ln>
        </p:spPr>
        <p:txBody>
          <a:bodyPr anchorCtr="0" anchor="ctr" bIns="120775" lIns="120775" spcFirstLastPara="1" rIns="120775" wrap="square" tIns="120775">
            <a:noAutofit/>
          </a:bodyPr>
          <a:lstStyle/>
          <a:p>
            <a:pPr indent="0" lvl="0" marL="0" rtl="0" algn="l">
              <a:spcBef>
                <a:spcPts val="0"/>
              </a:spcBef>
              <a:spcAft>
                <a:spcPts val="0"/>
              </a:spcAft>
              <a:buNone/>
            </a:pPr>
            <a:r>
              <a:t/>
            </a:r>
            <a:endParaRPr/>
          </a:p>
        </p:txBody>
      </p:sp>
      <p:sp>
        <p:nvSpPr>
          <p:cNvPr id="822" name="Google Shape;822;p33"/>
          <p:cNvSpPr/>
          <p:nvPr/>
        </p:nvSpPr>
        <p:spPr>
          <a:xfrm>
            <a:off x="5603038" y="3043034"/>
            <a:ext cx="1410000" cy="3624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850"/>
              <a:buFont typeface="Nunito Sans"/>
              <a:buNone/>
            </a:pPr>
            <a:r>
              <a:rPr b="1" i="0" lang="en-US" sz="1850" u="none" cap="none" strike="noStrike">
                <a:solidFill>
                  <a:srgbClr val="B23A55"/>
                </a:solidFill>
                <a:latin typeface="Nunito Sans"/>
                <a:ea typeface="Nunito Sans"/>
                <a:cs typeface="Nunito Sans"/>
                <a:sym typeface="Nunito Sans"/>
              </a:rPr>
              <a:t>37%</a:t>
            </a:r>
            <a:r>
              <a:rPr b="0" i="0" lang="en-US" sz="1850" u="none" cap="none" strike="noStrike">
                <a:solidFill>
                  <a:srgbClr val="B23A55"/>
                </a:solidFill>
                <a:latin typeface="Nunito Sans"/>
                <a:ea typeface="Nunito Sans"/>
                <a:cs typeface="Nunito Sans"/>
                <a:sym typeface="Nunito Sans"/>
              </a:rPr>
              <a:t> </a:t>
            </a:r>
            <a:endParaRPr b="0" i="0" sz="1850" u="none" cap="none" strike="noStrike">
              <a:solidFill>
                <a:schemeClr val="dk1"/>
              </a:solidFill>
              <a:latin typeface="Calibri"/>
              <a:ea typeface="Calibri"/>
              <a:cs typeface="Calibri"/>
              <a:sym typeface="Calibri"/>
            </a:endParaRPr>
          </a:p>
        </p:txBody>
      </p:sp>
      <p:sp>
        <p:nvSpPr>
          <p:cNvPr id="823" name="Google Shape;823;p33"/>
          <p:cNvSpPr/>
          <p:nvPr/>
        </p:nvSpPr>
        <p:spPr>
          <a:xfrm>
            <a:off x="812800" y="3643713"/>
            <a:ext cx="9712200" cy="409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440"/>
              </a:buClr>
              <a:buSzPts val="2114"/>
              <a:buFont typeface="Nunito Sans"/>
              <a:buNone/>
            </a:pPr>
            <a:r>
              <a:rPr b="1" i="0" lang="en-US" sz="2114" u="none" cap="none" strike="noStrike">
                <a:solidFill>
                  <a:srgbClr val="1B2440"/>
                </a:solidFill>
                <a:latin typeface="Nunito Sans"/>
                <a:ea typeface="Nunito Sans"/>
                <a:cs typeface="Nunito Sans"/>
                <a:sym typeface="Nunito Sans"/>
              </a:rPr>
              <a:t>Men</a:t>
            </a:r>
            <a:endParaRPr b="0" i="0" sz="2114" u="none" cap="none" strike="noStrike">
              <a:solidFill>
                <a:schemeClr val="dk1"/>
              </a:solidFill>
              <a:latin typeface="Calibri"/>
              <a:ea typeface="Calibri"/>
              <a:cs typeface="Calibri"/>
              <a:sym typeface="Calibri"/>
            </a:endParaRPr>
          </a:p>
        </p:txBody>
      </p:sp>
      <p:sp>
        <p:nvSpPr>
          <p:cNvPr id="824" name="Google Shape;824;p33"/>
          <p:cNvSpPr/>
          <p:nvPr/>
        </p:nvSpPr>
        <p:spPr>
          <a:xfrm>
            <a:off x="812800" y="4120193"/>
            <a:ext cx="3646170" cy="402336"/>
          </a:xfrm>
          <a:custGeom>
            <a:rect b="b" l="l" r="r" t="t"/>
            <a:pathLst>
              <a:path extrusionOk="0" h="304800" w="2762250">
                <a:moveTo>
                  <a:pt x="0" y="0"/>
                </a:moveTo>
                <a:lnTo>
                  <a:pt x="2686050" y="0"/>
                </a:lnTo>
                <a:cubicBezTo>
                  <a:pt x="2706259" y="0"/>
                  <a:pt x="2725641" y="8028"/>
                  <a:pt x="2739932" y="22318"/>
                </a:cubicBezTo>
                <a:cubicBezTo>
                  <a:pt x="2754222" y="36609"/>
                  <a:pt x="2762250" y="55991"/>
                  <a:pt x="2762250" y="76200"/>
                </a:cubicBezTo>
                <a:lnTo>
                  <a:pt x="2762250" y="228600"/>
                </a:lnTo>
                <a:cubicBezTo>
                  <a:pt x="2762250" y="270684"/>
                  <a:pt x="2728134" y="304800"/>
                  <a:pt x="2686050" y="304800"/>
                </a:cubicBezTo>
                <a:lnTo>
                  <a:pt x="0" y="304800"/>
                </a:lnTo>
                <a:lnTo>
                  <a:pt x="0" y="0"/>
                </a:lnTo>
                <a:close/>
              </a:path>
            </a:pathLst>
          </a:custGeom>
          <a:solidFill>
            <a:srgbClr val="C9CED8"/>
          </a:solidFill>
          <a:ln>
            <a:noFill/>
          </a:ln>
        </p:spPr>
        <p:txBody>
          <a:bodyPr anchorCtr="0" anchor="ctr" bIns="120775" lIns="120775" spcFirstLastPara="1" rIns="120775" wrap="square" tIns="120775">
            <a:noAutofit/>
          </a:bodyPr>
          <a:lstStyle/>
          <a:p>
            <a:pPr indent="0" lvl="0" marL="0" rtl="0" algn="l">
              <a:spcBef>
                <a:spcPts val="0"/>
              </a:spcBef>
              <a:spcAft>
                <a:spcPts val="0"/>
              </a:spcAft>
              <a:buNone/>
            </a:pPr>
            <a:r>
              <a:t/>
            </a:r>
            <a:endParaRPr/>
          </a:p>
        </p:txBody>
      </p:sp>
      <p:sp>
        <p:nvSpPr>
          <p:cNvPr id="825" name="Google Shape;825;p33"/>
          <p:cNvSpPr/>
          <p:nvPr/>
        </p:nvSpPr>
        <p:spPr>
          <a:xfrm>
            <a:off x="4596333" y="4157092"/>
            <a:ext cx="1191900" cy="3624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440"/>
              </a:buClr>
              <a:buSzPts val="1850"/>
              <a:buFont typeface="Nunito Sans"/>
              <a:buNone/>
            </a:pPr>
            <a:r>
              <a:rPr b="1" i="0" lang="en-US" sz="1850" u="none" cap="none" strike="noStrike">
                <a:solidFill>
                  <a:srgbClr val="1B2440"/>
                </a:solidFill>
                <a:latin typeface="Nunito Sans"/>
                <a:ea typeface="Nunito Sans"/>
                <a:cs typeface="Nunito Sans"/>
                <a:sym typeface="Nunito Sans"/>
              </a:rPr>
              <a:t>29%</a:t>
            </a:r>
            <a:r>
              <a:rPr b="0" i="0" lang="en-US" sz="1850" u="none" cap="none" strike="noStrike">
                <a:solidFill>
                  <a:srgbClr val="1B2440"/>
                </a:solidFill>
                <a:latin typeface="Nunito Sans"/>
                <a:ea typeface="Nunito Sans"/>
                <a:cs typeface="Nunito Sans"/>
                <a:sym typeface="Nunito Sans"/>
              </a:rPr>
              <a:t> </a:t>
            </a:r>
            <a:endParaRPr b="0" i="0" sz="1850" u="none" cap="none" strike="noStrike">
              <a:solidFill>
                <a:schemeClr val="dk1"/>
              </a:solidFill>
              <a:latin typeface="Calibri"/>
              <a:ea typeface="Calibri"/>
              <a:cs typeface="Calibri"/>
              <a:sym typeface="Calibri"/>
            </a:endParaRPr>
          </a:p>
        </p:txBody>
      </p:sp>
      <p:sp>
        <p:nvSpPr>
          <p:cNvPr id="826" name="Google Shape;826;p33"/>
          <p:cNvSpPr/>
          <p:nvPr/>
        </p:nvSpPr>
        <p:spPr>
          <a:xfrm>
            <a:off x="812800" y="4623545"/>
            <a:ext cx="6915150" cy="402336"/>
          </a:xfrm>
          <a:custGeom>
            <a:rect b="b" l="l" r="r" t="t"/>
            <a:pathLst>
              <a:path extrusionOk="0" h="304800" w="5238750">
                <a:moveTo>
                  <a:pt x="0" y="0"/>
                </a:moveTo>
                <a:lnTo>
                  <a:pt x="5162550" y="0"/>
                </a:lnTo>
                <a:cubicBezTo>
                  <a:pt x="5182759" y="0"/>
                  <a:pt x="5202141" y="8028"/>
                  <a:pt x="5216432" y="22318"/>
                </a:cubicBezTo>
                <a:cubicBezTo>
                  <a:pt x="5230722" y="36609"/>
                  <a:pt x="5238750" y="55991"/>
                  <a:pt x="5238750" y="76200"/>
                </a:cubicBezTo>
                <a:lnTo>
                  <a:pt x="5238750" y="228600"/>
                </a:lnTo>
                <a:cubicBezTo>
                  <a:pt x="5238750" y="270684"/>
                  <a:pt x="5204634" y="304800"/>
                  <a:pt x="5162550" y="304800"/>
                </a:cubicBezTo>
                <a:lnTo>
                  <a:pt x="0" y="304800"/>
                </a:lnTo>
                <a:lnTo>
                  <a:pt x="0" y="0"/>
                </a:lnTo>
                <a:close/>
              </a:path>
            </a:pathLst>
          </a:custGeom>
          <a:solidFill>
            <a:srgbClr val="E0607E"/>
          </a:solidFill>
          <a:ln>
            <a:noFill/>
          </a:ln>
        </p:spPr>
        <p:txBody>
          <a:bodyPr anchorCtr="0" anchor="ctr" bIns="120775" lIns="120775" spcFirstLastPara="1" rIns="120775" wrap="square" tIns="120775">
            <a:noAutofit/>
          </a:bodyPr>
          <a:lstStyle/>
          <a:p>
            <a:pPr indent="0" lvl="0" marL="0" rtl="0" algn="l">
              <a:spcBef>
                <a:spcPts val="0"/>
              </a:spcBef>
              <a:spcAft>
                <a:spcPts val="0"/>
              </a:spcAft>
              <a:buNone/>
            </a:pPr>
            <a:r>
              <a:t/>
            </a:r>
            <a:endParaRPr/>
          </a:p>
        </p:txBody>
      </p:sp>
      <p:sp>
        <p:nvSpPr>
          <p:cNvPr id="827" name="Google Shape;827;p33"/>
          <p:cNvSpPr/>
          <p:nvPr/>
        </p:nvSpPr>
        <p:spPr>
          <a:xfrm>
            <a:off x="7868124" y="5155169"/>
            <a:ext cx="1410000" cy="3624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850"/>
              <a:buFont typeface="Nunito Sans"/>
              <a:buNone/>
            </a:pPr>
            <a:r>
              <a:rPr b="1" i="0" lang="en-US" sz="1850" u="none" cap="none" strike="noStrike">
                <a:solidFill>
                  <a:srgbClr val="B23A55"/>
                </a:solidFill>
                <a:latin typeface="Nunito Sans"/>
                <a:ea typeface="Nunito Sans"/>
                <a:cs typeface="Nunito Sans"/>
                <a:sym typeface="Nunito Sans"/>
              </a:rPr>
              <a:t>55%</a:t>
            </a:r>
            <a:r>
              <a:rPr b="0" i="0" lang="en-US" sz="1850" u="none" cap="none" strike="noStrike">
                <a:solidFill>
                  <a:srgbClr val="B23A55"/>
                </a:solidFill>
                <a:latin typeface="Nunito Sans"/>
                <a:ea typeface="Nunito Sans"/>
                <a:cs typeface="Nunito Sans"/>
                <a:sym typeface="Nunito Sans"/>
              </a:rPr>
              <a:t> </a:t>
            </a:r>
            <a:endParaRPr b="0" i="0" sz="1850" u="none" cap="none" strike="noStrike">
              <a:solidFill>
                <a:schemeClr val="dk1"/>
              </a:solidFill>
              <a:latin typeface="Calibri"/>
              <a:ea typeface="Calibri"/>
              <a:cs typeface="Calibri"/>
              <a:sym typeface="Calibri"/>
            </a:endParaRPr>
          </a:p>
        </p:txBody>
      </p:sp>
      <p:sp>
        <p:nvSpPr>
          <p:cNvPr id="828" name="Google Shape;828;p33"/>
          <p:cNvSpPr/>
          <p:nvPr/>
        </p:nvSpPr>
        <p:spPr>
          <a:xfrm>
            <a:off x="812800" y="62890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30 · Logistic model of each yes on the six in-date ratings (3,457 dates by women, 3,574 by men) · Eastwick &amp; Finkel (2008)</a:t>
            </a:r>
            <a:endParaRPr b="0" i="0" sz="1200" u="none" cap="none" strike="noStrike">
              <a:solidFill>
                <a:schemeClr val="dk1"/>
              </a:solidFill>
              <a:latin typeface="Calibri"/>
              <a:ea typeface="Calibri"/>
              <a:cs typeface="Calibri"/>
              <a:sym typeface="Calibri"/>
            </a:endParaRPr>
          </a:p>
        </p:txBody>
      </p:sp>
      <p:sp>
        <p:nvSpPr>
          <p:cNvPr id="829" name="Google Shape;829;p33"/>
          <p:cNvSpPr/>
          <p:nvPr/>
        </p:nvSpPr>
        <p:spPr>
          <a:xfrm>
            <a:off x="7940675" y="2026300"/>
            <a:ext cx="3362400" cy="1838400"/>
          </a:xfrm>
          <a:prstGeom prst="roundRect">
            <a:avLst>
              <a:gd fmla="val 5947"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33"/>
          <p:cNvSpPr/>
          <p:nvPr/>
        </p:nvSpPr>
        <p:spPr>
          <a:xfrm>
            <a:off x="8150225" y="2468518"/>
            <a:ext cx="203100" cy="203100"/>
          </a:xfrm>
          <a:prstGeom prst="roundRect">
            <a:avLst>
              <a:gd fmla="val 25000" name="adj"/>
            </a:avLst>
          </a:prstGeom>
          <a:solidFill>
            <a:srgbClr val="C9CE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33"/>
          <p:cNvSpPr/>
          <p:nvPr/>
        </p:nvSpPr>
        <p:spPr>
          <a:xfrm>
            <a:off x="8455025" y="2358738"/>
            <a:ext cx="2511600" cy="4725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A5163"/>
              </a:buClr>
              <a:buSzPts val="1300"/>
              <a:buFont typeface="Nunito Sans"/>
              <a:buNone/>
            </a:pPr>
            <a:r>
              <a:rPr lang="en-US" sz="1300">
                <a:solidFill>
                  <a:srgbClr val="4A5163"/>
                </a:solidFill>
                <a:latin typeface="Nunito Sans"/>
                <a:ea typeface="Nunito Sans"/>
                <a:cs typeface="Nunito Sans"/>
                <a:sym typeface="Nunito Sans"/>
              </a:rPr>
              <a:t>Stated share </a:t>
            </a:r>
            <a:r>
              <a:rPr b="0" i="0" lang="en-US" sz="1300" u="none" cap="none" strike="noStrike">
                <a:solidFill>
                  <a:srgbClr val="4A5163"/>
                </a:solidFill>
                <a:latin typeface="Nunito Sans"/>
                <a:ea typeface="Nunito Sans"/>
                <a:cs typeface="Nunito Sans"/>
                <a:sym typeface="Nunito Sans"/>
              </a:rPr>
              <a:t>of 100 points given to attractiveness before the event</a:t>
            </a:r>
            <a:endParaRPr b="0" i="0" sz="1300" u="none" cap="none" strike="noStrike">
              <a:solidFill>
                <a:schemeClr val="dk1"/>
              </a:solidFill>
              <a:latin typeface="Calibri"/>
              <a:ea typeface="Calibri"/>
              <a:cs typeface="Calibri"/>
              <a:sym typeface="Calibri"/>
            </a:endParaRPr>
          </a:p>
        </p:txBody>
      </p:sp>
      <p:sp>
        <p:nvSpPr>
          <p:cNvPr id="832" name="Google Shape;832;p33"/>
          <p:cNvSpPr/>
          <p:nvPr/>
        </p:nvSpPr>
        <p:spPr>
          <a:xfrm>
            <a:off x="8150225" y="3152632"/>
            <a:ext cx="203100" cy="203100"/>
          </a:xfrm>
          <a:prstGeom prst="roundRect">
            <a:avLst>
              <a:gd fmla="val 25000" name="adj"/>
            </a:avLst>
          </a:prstGeom>
          <a:solidFill>
            <a:srgbClr val="E060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33"/>
          <p:cNvSpPr/>
          <p:nvPr/>
        </p:nvSpPr>
        <p:spPr>
          <a:xfrm>
            <a:off x="8455025" y="3031386"/>
            <a:ext cx="2511600" cy="4710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A5163"/>
              </a:buClr>
              <a:buSzPts val="1300"/>
              <a:buFont typeface="Nunito Sans"/>
              <a:buNone/>
            </a:pPr>
            <a:r>
              <a:rPr lang="en-US" sz="1300">
                <a:solidFill>
                  <a:srgbClr val="4A5163"/>
                </a:solidFill>
                <a:latin typeface="Nunito Sans"/>
                <a:ea typeface="Nunito Sans"/>
                <a:cs typeface="Nunito Sans"/>
                <a:sym typeface="Nunito Sans"/>
              </a:rPr>
              <a:t>Real </a:t>
            </a:r>
            <a:r>
              <a:rPr b="0" i="0" lang="en-US" sz="1300" u="none" cap="none" strike="noStrike">
                <a:solidFill>
                  <a:srgbClr val="4A5163"/>
                </a:solidFill>
                <a:latin typeface="Nunito Sans"/>
                <a:ea typeface="Nunito Sans"/>
                <a:cs typeface="Nunito Sans"/>
                <a:sym typeface="Nunito Sans"/>
              </a:rPr>
              <a:t>share of the weight in their actual decisions</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838" name="Shape 838"/>
        <p:cNvGrpSpPr/>
        <p:nvPr/>
      </p:nvGrpSpPr>
      <p:grpSpPr>
        <a:xfrm>
          <a:off x="0" y="0"/>
          <a:ext cx="0" cy="0"/>
          <a:chOff x="0" y="0"/>
          <a:chExt cx="0" cy="0"/>
        </a:xfrm>
      </p:grpSpPr>
      <p:sp>
        <p:nvSpPr>
          <p:cNvPr id="839" name="Google Shape;839;p34"/>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6 · NEXT STEPS</a:t>
            </a:r>
            <a:endParaRPr b="0" i="0" sz="1200" u="none" cap="none" strike="noStrike">
              <a:solidFill>
                <a:schemeClr val="dk1"/>
              </a:solidFill>
              <a:latin typeface="Calibri"/>
              <a:ea typeface="Calibri"/>
              <a:cs typeface="Calibri"/>
              <a:sym typeface="Calibri"/>
            </a:endParaRPr>
          </a:p>
        </p:txBody>
      </p:sp>
      <p:sp>
        <p:nvSpPr>
          <p:cNvPr id="840" name="Google Shape;840;p34"/>
          <p:cNvSpPr/>
          <p:nvPr/>
        </p:nvSpPr>
        <p:spPr>
          <a:xfrm>
            <a:off x="812800" y="12801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The coming weeks</a:t>
            </a:r>
            <a:endParaRPr b="0" i="0" sz="3200" u="none" cap="none" strike="noStrike">
              <a:solidFill>
                <a:schemeClr val="dk1"/>
              </a:solidFill>
              <a:latin typeface="Calibri"/>
              <a:ea typeface="Calibri"/>
              <a:cs typeface="Calibri"/>
              <a:sym typeface="Calibri"/>
            </a:endParaRPr>
          </a:p>
        </p:txBody>
      </p:sp>
      <p:sp>
        <p:nvSpPr>
          <p:cNvPr id="841" name="Google Shape;841;p34"/>
          <p:cNvSpPr/>
          <p:nvPr/>
        </p:nvSpPr>
        <p:spPr>
          <a:xfrm>
            <a:off x="812800" y="1981150"/>
            <a:ext cx="10566400" cy="50800"/>
          </a:xfrm>
          <a:prstGeom prst="roundRect">
            <a:avLst>
              <a:gd fmla="val 50000" name="adj"/>
            </a:avLst>
          </a:prstGeom>
          <a:solidFill>
            <a:srgbClr val="F2A7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34"/>
          <p:cNvSpPr/>
          <p:nvPr/>
        </p:nvSpPr>
        <p:spPr>
          <a:xfrm>
            <a:off x="812800" y="2158950"/>
            <a:ext cx="2583498" cy="3454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800"/>
              <a:buFont typeface="Nunito"/>
              <a:buNone/>
            </a:pPr>
            <a:r>
              <a:rPr b="1" i="0" lang="en-US" sz="1800" u="none" cap="none" strike="noStrike">
                <a:solidFill>
                  <a:srgbClr val="B23A55"/>
                </a:solidFill>
                <a:latin typeface="Nunito"/>
                <a:ea typeface="Nunito"/>
                <a:cs typeface="Nunito"/>
                <a:sym typeface="Nunito"/>
              </a:rPr>
              <a:t>Weeks 6–7</a:t>
            </a:r>
            <a:endParaRPr b="0" i="0" sz="1800" u="none" cap="none" strike="noStrike">
              <a:solidFill>
                <a:schemeClr val="dk1"/>
              </a:solidFill>
              <a:latin typeface="Calibri"/>
              <a:ea typeface="Calibri"/>
              <a:cs typeface="Calibri"/>
              <a:sym typeface="Calibri"/>
            </a:endParaRPr>
          </a:p>
        </p:txBody>
      </p:sp>
      <p:sp>
        <p:nvSpPr>
          <p:cNvPr id="843" name="Google Shape;843;p34"/>
          <p:cNvSpPr/>
          <p:nvPr/>
        </p:nvSpPr>
        <p:spPr>
          <a:xfrm>
            <a:off x="819150" y="2561530"/>
            <a:ext cx="2495550" cy="1803350"/>
          </a:xfrm>
          <a:prstGeom prst="roundRect">
            <a:avLst>
              <a:gd fmla="val 8099"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34"/>
          <p:cNvSpPr/>
          <p:nvPr/>
        </p:nvSpPr>
        <p:spPr>
          <a:xfrm>
            <a:off x="1003300" y="2745680"/>
            <a:ext cx="2191068" cy="254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500"/>
              <a:buFont typeface="Nunito"/>
              <a:buNone/>
            </a:pPr>
            <a:r>
              <a:rPr b="1" i="0" lang="en-US" sz="1500" u="none" cap="none" strike="noStrike">
                <a:solidFill>
                  <a:srgbClr val="1B2440"/>
                </a:solidFill>
                <a:latin typeface="Nunito"/>
                <a:ea typeface="Nunito"/>
                <a:cs typeface="Nunito"/>
                <a:sym typeface="Nunito"/>
              </a:rPr>
              <a:t>Honest error bars</a:t>
            </a:r>
            <a:endParaRPr b="0" i="0" sz="1500" u="none" cap="none" strike="noStrike">
              <a:solidFill>
                <a:schemeClr val="dk1"/>
              </a:solidFill>
              <a:latin typeface="Calibri"/>
              <a:ea typeface="Calibri"/>
              <a:cs typeface="Calibri"/>
              <a:sym typeface="Calibri"/>
            </a:endParaRPr>
          </a:p>
        </p:txBody>
      </p:sp>
      <p:sp>
        <p:nvSpPr>
          <p:cNvPr id="845" name="Google Shape;845;p34"/>
          <p:cNvSpPr/>
          <p:nvPr/>
        </p:nvSpPr>
        <p:spPr>
          <a:xfrm>
            <a:off x="1003300" y="3025080"/>
            <a:ext cx="2191068" cy="118105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The same people appear in many pairs. Which error bars can we trust? Tested on simulated data built like ours.</a:t>
            </a:r>
            <a:endParaRPr b="0" i="0" sz="1300" u="none" cap="none" strike="noStrike">
              <a:solidFill>
                <a:schemeClr val="dk1"/>
              </a:solidFill>
              <a:latin typeface="Calibri"/>
              <a:ea typeface="Calibri"/>
              <a:cs typeface="Calibri"/>
              <a:sym typeface="Calibri"/>
            </a:endParaRPr>
          </a:p>
        </p:txBody>
      </p:sp>
      <p:sp>
        <p:nvSpPr>
          <p:cNvPr id="846" name="Google Shape;846;p34"/>
          <p:cNvSpPr/>
          <p:nvPr/>
        </p:nvSpPr>
        <p:spPr>
          <a:xfrm>
            <a:off x="3498850" y="2158950"/>
            <a:ext cx="2583498" cy="3454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800"/>
              <a:buFont typeface="Nunito"/>
              <a:buNone/>
            </a:pPr>
            <a:r>
              <a:rPr b="1" i="0" lang="en-US" sz="1800" u="none" cap="none" strike="noStrike">
                <a:solidFill>
                  <a:srgbClr val="B23A55"/>
                </a:solidFill>
                <a:latin typeface="Nunito"/>
                <a:ea typeface="Nunito"/>
                <a:cs typeface="Nunito"/>
                <a:sym typeface="Nunito"/>
              </a:rPr>
              <a:t>Week 7</a:t>
            </a:r>
            <a:endParaRPr b="0" i="0" sz="1800" u="none" cap="none" strike="noStrike">
              <a:solidFill>
                <a:schemeClr val="dk1"/>
              </a:solidFill>
              <a:latin typeface="Calibri"/>
              <a:ea typeface="Calibri"/>
              <a:cs typeface="Calibri"/>
              <a:sym typeface="Calibri"/>
            </a:endParaRPr>
          </a:p>
        </p:txBody>
      </p:sp>
      <p:sp>
        <p:nvSpPr>
          <p:cNvPr id="847" name="Google Shape;847;p34"/>
          <p:cNvSpPr/>
          <p:nvPr/>
        </p:nvSpPr>
        <p:spPr>
          <a:xfrm>
            <a:off x="3505200" y="2561530"/>
            <a:ext cx="2495550" cy="1572220"/>
          </a:xfrm>
          <a:prstGeom prst="roundRect">
            <a:avLst>
              <a:gd fmla="val 9289"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34"/>
          <p:cNvSpPr/>
          <p:nvPr/>
        </p:nvSpPr>
        <p:spPr>
          <a:xfrm>
            <a:off x="3689350" y="2745680"/>
            <a:ext cx="2191068" cy="254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500"/>
              <a:buFont typeface="Nunito"/>
              <a:buNone/>
            </a:pPr>
            <a:r>
              <a:rPr b="1" i="0" lang="en-US" sz="1500" u="none" cap="none" strike="noStrike">
                <a:solidFill>
                  <a:srgbClr val="1B2440"/>
                </a:solidFill>
                <a:latin typeface="Nunito"/>
                <a:ea typeface="Nunito"/>
                <a:cs typeface="Nunito"/>
                <a:sym typeface="Nunito"/>
              </a:rPr>
              <a:t>Follow-up questions</a:t>
            </a:r>
            <a:endParaRPr b="0" i="0" sz="1500" u="none" cap="none" strike="noStrike">
              <a:solidFill>
                <a:schemeClr val="dk1"/>
              </a:solidFill>
              <a:latin typeface="Calibri"/>
              <a:ea typeface="Calibri"/>
              <a:cs typeface="Calibri"/>
              <a:sym typeface="Calibri"/>
            </a:endParaRPr>
          </a:p>
        </p:txBody>
      </p:sp>
      <p:sp>
        <p:nvSpPr>
          <p:cNvPr id="849" name="Google Shape;849;p34"/>
          <p:cNvSpPr/>
          <p:nvPr/>
        </p:nvSpPr>
        <p:spPr>
          <a:xfrm>
            <a:off x="3689350" y="3025080"/>
            <a:ext cx="2191068" cy="9499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Who is most desirable, with honest uncertainty? Do people know who likes them back?</a:t>
            </a:r>
            <a:endParaRPr b="0" i="0" sz="1300" u="none" cap="none" strike="noStrike">
              <a:solidFill>
                <a:schemeClr val="dk1"/>
              </a:solidFill>
              <a:latin typeface="Calibri"/>
              <a:ea typeface="Calibri"/>
              <a:cs typeface="Calibri"/>
              <a:sym typeface="Calibri"/>
            </a:endParaRPr>
          </a:p>
        </p:txBody>
      </p:sp>
      <p:sp>
        <p:nvSpPr>
          <p:cNvPr id="850" name="Google Shape;850;p34"/>
          <p:cNvSpPr/>
          <p:nvPr/>
        </p:nvSpPr>
        <p:spPr>
          <a:xfrm>
            <a:off x="6184900" y="2158950"/>
            <a:ext cx="2583498" cy="3454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800"/>
              <a:buFont typeface="Nunito"/>
              <a:buNone/>
            </a:pPr>
            <a:r>
              <a:rPr b="1" i="0" lang="en-US" sz="1800" u="none" cap="none" strike="noStrike">
                <a:solidFill>
                  <a:srgbClr val="B23A55"/>
                </a:solidFill>
                <a:latin typeface="Nunito"/>
                <a:ea typeface="Nunito"/>
                <a:cs typeface="Nunito"/>
                <a:sym typeface="Nunito"/>
              </a:rPr>
              <a:t>Week 7</a:t>
            </a:r>
            <a:endParaRPr b="0" i="0" sz="1800" u="none" cap="none" strike="noStrike">
              <a:solidFill>
                <a:schemeClr val="dk1"/>
              </a:solidFill>
              <a:latin typeface="Calibri"/>
              <a:ea typeface="Calibri"/>
              <a:cs typeface="Calibri"/>
              <a:sym typeface="Calibri"/>
            </a:endParaRPr>
          </a:p>
        </p:txBody>
      </p:sp>
      <p:sp>
        <p:nvSpPr>
          <p:cNvPr id="851" name="Google Shape;851;p34"/>
          <p:cNvSpPr/>
          <p:nvPr/>
        </p:nvSpPr>
        <p:spPr>
          <a:xfrm>
            <a:off x="6191250" y="2561530"/>
            <a:ext cx="2495550" cy="1341090"/>
          </a:xfrm>
          <a:prstGeom prst="roundRect">
            <a:avLst>
              <a:gd fmla="val 1089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34"/>
          <p:cNvSpPr/>
          <p:nvPr/>
        </p:nvSpPr>
        <p:spPr>
          <a:xfrm>
            <a:off x="6375400" y="2745680"/>
            <a:ext cx="2191068" cy="254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500"/>
              <a:buFont typeface="Nunito"/>
              <a:buNone/>
            </a:pPr>
            <a:r>
              <a:rPr b="1" i="0" lang="en-US" sz="1500" u="none" cap="none" strike="noStrike">
                <a:solidFill>
                  <a:srgbClr val="1B2440"/>
                </a:solidFill>
                <a:latin typeface="Nunito"/>
                <a:ea typeface="Nunito"/>
                <a:cs typeface="Nunito"/>
                <a:sym typeface="Nunito"/>
              </a:rPr>
              <a:t>More models, checks</a:t>
            </a:r>
            <a:endParaRPr b="0" i="0" sz="1500" u="none" cap="none" strike="noStrike">
              <a:solidFill>
                <a:schemeClr val="dk1"/>
              </a:solidFill>
              <a:latin typeface="Calibri"/>
              <a:ea typeface="Calibri"/>
              <a:cs typeface="Calibri"/>
              <a:sym typeface="Calibri"/>
            </a:endParaRPr>
          </a:p>
        </p:txBody>
      </p:sp>
      <p:sp>
        <p:nvSpPr>
          <p:cNvPr id="853" name="Google Shape;853;p34"/>
          <p:cNvSpPr/>
          <p:nvPr/>
        </p:nvSpPr>
        <p:spPr>
          <a:xfrm>
            <a:off x="6375400" y="3025080"/>
            <a:ext cx="2191068" cy="7187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Single trees, bagging and boosting. Does the order of the evening matter?</a:t>
            </a:r>
            <a:endParaRPr b="0" i="0" sz="1300" u="none" cap="none" strike="noStrike">
              <a:solidFill>
                <a:schemeClr val="dk1"/>
              </a:solidFill>
              <a:latin typeface="Calibri"/>
              <a:ea typeface="Calibri"/>
              <a:cs typeface="Calibri"/>
              <a:sym typeface="Calibri"/>
            </a:endParaRPr>
          </a:p>
        </p:txBody>
      </p:sp>
      <p:sp>
        <p:nvSpPr>
          <p:cNvPr id="854" name="Google Shape;854;p34"/>
          <p:cNvSpPr/>
          <p:nvPr/>
        </p:nvSpPr>
        <p:spPr>
          <a:xfrm>
            <a:off x="8870950" y="2158950"/>
            <a:ext cx="2583498" cy="3454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800"/>
              <a:buFont typeface="Nunito"/>
              <a:buNone/>
            </a:pPr>
            <a:r>
              <a:rPr b="1" i="0" lang="en-US" sz="1800" u="none" cap="none" strike="noStrike">
                <a:solidFill>
                  <a:srgbClr val="B23A55"/>
                </a:solidFill>
                <a:latin typeface="Nunito"/>
                <a:ea typeface="Nunito"/>
                <a:cs typeface="Nunito"/>
                <a:sym typeface="Nunito"/>
              </a:rPr>
              <a:t>Weeks 8–10</a:t>
            </a:r>
            <a:endParaRPr b="0" i="0" sz="1800" u="none" cap="none" strike="noStrike">
              <a:solidFill>
                <a:schemeClr val="dk1"/>
              </a:solidFill>
              <a:latin typeface="Calibri"/>
              <a:ea typeface="Calibri"/>
              <a:cs typeface="Calibri"/>
              <a:sym typeface="Calibri"/>
            </a:endParaRPr>
          </a:p>
        </p:txBody>
      </p:sp>
      <p:sp>
        <p:nvSpPr>
          <p:cNvPr id="855" name="Google Shape;855;p34"/>
          <p:cNvSpPr/>
          <p:nvPr/>
        </p:nvSpPr>
        <p:spPr>
          <a:xfrm>
            <a:off x="8877300" y="2561530"/>
            <a:ext cx="2495550" cy="1341090"/>
          </a:xfrm>
          <a:prstGeom prst="roundRect">
            <a:avLst>
              <a:gd fmla="val 10890" name="adj"/>
            </a:avLst>
          </a:prstGeom>
          <a:solidFill>
            <a:srgbClr val="F6ECE9"/>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34"/>
          <p:cNvSpPr/>
          <p:nvPr/>
        </p:nvSpPr>
        <p:spPr>
          <a:xfrm>
            <a:off x="9061450" y="2745680"/>
            <a:ext cx="2191068" cy="254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500"/>
              <a:buFont typeface="Nunito"/>
              <a:buNone/>
            </a:pPr>
            <a:r>
              <a:rPr b="1" lang="en-US" sz="1500">
                <a:solidFill>
                  <a:srgbClr val="1B2440"/>
                </a:solidFill>
                <a:latin typeface="Nunito"/>
                <a:ea typeface="Nunito"/>
                <a:cs typeface="Nunito"/>
                <a:sym typeface="Nunito"/>
              </a:rPr>
              <a:t>Finishing Up</a:t>
            </a:r>
            <a:endParaRPr b="0" i="0" sz="1500" u="none" cap="none" strike="noStrike">
              <a:solidFill>
                <a:schemeClr val="dk1"/>
              </a:solidFill>
              <a:latin typeface="Calibri"/>
              <a:ea typeface="Calibri"/>
              <a:cs typeface="Calibri"/>
              <a:sym typeface="Calibri"/>
            </a:endParaRPr>
          </a:p>
        </p:txBody>
      </p:sp>
      <p:sp>
        <p:nvSpPr>
          <p:cNvPr id="857" name="Google Shape;857;p34"/>
          <p:cNvSpPr/>
          <p:nvPr/>
        </p:nvSpPr>
        <p:spPr>
          <a:xfrm>
            <a:off x="9061450" y="3025080"/>
            <a:ext cx="2191068" cy="7187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Robustness checks, poster, final report and presentation.</a:t>
            </a:r>
            <a:endParaRPr b="0" i="0" sz="1300" u="none" cap="none" strike="noStrike">
              <a:solidFill>
                <a:schemeClr val="dk1"/>
              </a:solidFill>
              <a:latin typeface="Calibri"/>
              <a:ea typeface="Calibri"/>
              <a:cs typeface="Calibri"/>
              <a:sym typeface="Calibri"/>
            </a:endParaRPr>
          </a:p>
        </p:txBody>
      </p:sp>
      <p:sp>
        <p:nvSpPr>
          <p:cNvPr id="858" name="Google Shape;858;p34"/>
          <p:cNvSpPr/>
          <p:nvPr/>
        </p:nvSpPr>
        <p:spPr>
          <a:xfrm>
            <a:off x="812800" y="4625231"/>
            <a:ext cx="10464800" cy="28317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1B2440"/>
              </a:buClr>
              <a:buSzPts val="1400"/>
              <a:buFont typeface="Nunito Sans"/>
              <a:buNone/>
            </a:pPr>
            <a:r>
              <a:rPr b="1" i="0" lang="en-US" sz="1400" u="none" cap="none" strike="noStrike">
                <a:solidFill>
                  <a:srgbClr val="1B2440"/>
                </a:solidFill>
                <a:latin typeface="Nunito Sans"/>
                <a:ea typeface="Nunito Sans"/>
                <a:cs typeface="Nunito Sans"/>
                <a:sym typeface="Nunito Sans"/>
              </a:rPr>
              <a:t>The open question:</a:t>
            </a:r>
            <a:r>
              <a:rPr b="0" i="0" lang="en-US" sz="1400" u="none" cap="none" strike="noStrike">
                <a:solidFill>
                  <a:srgbClr val="4A5163"/>
                </a:solidFill>
                <a:latin typeface="Nunito Sans"/>
                <a:ea typeface="Nunito Sans"/>
                <a:cs typeface="Nunito Sans"/>
                <a:sym typeface="Nunito Sans"/>
              </a:rPr>
              <a:t> when the same people appear in many rows, how much should we trust a cross-validated number?</a:t>
            </a:r>
            <a:endParaRPr b="0" i="0" sz="1400" u="none" cap="none" strike="noStrike">
              <a:solidFill>
                <a:schemeClr val="dk1"/>
              </a:solidFill>
              <a:latin typeface="Calibri"/>
              <a:ea typeface="Calibri"/>
              <a:cs typeface="Calibri"/>
              <a:sym typeface="Calibri"/>
            </a:endParaRPr>
          </a:p>
        </p:txBody>
      </p:sp>
      <p:sp>
        <p:nvSpPr>
          <p:cNvPr id="859" name="Google Shape;859;p34"/>
          <p:cNvSpPr/>
          <p:nvPr/>
        </p:nvSpPr>
        <p:spPr>
          <a:xfrm>
            <a:off x="812800" y="62890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31 · Cross-validation error bars: Bates, Hastie &amp; Tibshirani (2024) · Trees: James et al. (2023), ISL Chapter 8</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440"/>
        </a:solidFill>
      </p:bgPr>
    </p:bg>
    <p:spTree>
      <p:nvGrpSpPr>
        <p:cNvPr id="864" name="Shape 864"/>
        <p:cNvGrpSpPr/>
        <p:nvPr/>
      </p:nvGrpSpPr>
      <p:grpSpPr>
        <a:xfrm>
          <a:off x="0" y="0"/>
          <a:ext cx="0" cy="0"/>
          <a:chOff x="0" y="0"/>
          <a:chExt cx="0" cy="0"/>
        </a:xfrm>
      </p:grpSpPr>
      <p:pic>
        <p:nvPicPr>
          <p:cNvPr descr="Three hearts of different sizes" id="865" name="Google Shape;865;p35"/>
          <p:cNvPicPr preferRelativeResize="0"/>
          <p:nvPr/>
        </p:nvPicPr>
        <p:blipFill rotWithShape="1">
          <a:blip r:embed="rId3">
            <a:alphaModFix/>
          </a:blip>
          <a:srcRect b="0" l="0" r="0" t="0"/>
          <a:stretch/>
        </p:blipFill>
        <p:spPr>
          <a:xfrm>
            <a:off x="4762500" y="1794520"/>
            <a:ext cx="2667000" cy="1143000"/>
          </a:xfrm>
          <a:prstGeom prst="rect">
            <a:avLst/>
          </a:prstGeom>
          <a:noFill/>
          <a:ln>
            <a:noFill/>
          </a:ln>
        </p:spPr>
      </p:pic>
      <p:sp>
        <p:nvSpPr>
          <p:cNvPr id="866" name="Google Shape;866;p35"/>
          <p:cNvSpPr/>
          <p:nvPr/>
        </p:nvSpPr>
        <p:spPr>
          <a:xfrm>
            <a:off x="3755588" y="3166120"/>
            <a:ext cx="4680823" cy="825500"/>
          </a:xfrm>
          <a:prstGeom prst="rect">
            <a:avLst/>
          </a:prstGeom>
          <a:noFill/>
          <a:ln>
            <a:noFill/>
          </a:ln>
        </p:spPr>
        <p:txBody>
          <a:bodyPr anchorCtr="0" anchor="t" bIns="0" lIns="0" spcFirstLastPara="1" rIns="0" wrap="square" tIns="0">
            <a:noAutofit/>
          </a:bodyPr>
          <a:lstStyle/>
          <a:p>
            <a:pPr indent="0" lvl="0" marL="0" marR="0" rtl="0" algn="ctr">
              <a:lnSpc>
                <a:spcPct val="104999"/>
              </a:lnSpc>
              <a:spcBef>
                <a:spcPts val="0"/>
              </a:spcBef>
              <a:spcAft>
                <a:spcPts val="0"/>
              </a:spcAft>
              <a:buClr>
                <a:srgbClr val="FBF7F2"/>
              </a:buClr>
              <a:buSzPts val="6000"/>
              <a:buFont typeface="Nunito"/>
              <a:buNone/>
            </a:pPr>
            <a:r>
              <a:rPr b="1" i="0" lang="en-US" sz="6000" u="none" cap="none" strike="noStrike">
                <a:solidFill>
                  <a:srgbClr val="FBF7F2"/>
                </a:solidFill>
                <a:latin typeface="Nunito"/>
                <a:ea typeface="Nunito"/>
                <a:cs typeface="Nunito"/>
                <a:sym typeface="Nunito"/>
              </a:rPr>
              <a:t>Thank you!</a:t>
            </a:r>
            <a:endParaRPr b="0" i="0" sz="6000" u="none" cap="none" strike="noStrike">
              <a:solidFill>
                <a:schemeClr val="dk1"/>
              </a:solidFill>
              <a:latin typeface="Calibri"/>
              <a:ea typeface="Calibri"/>
              <a:cs typeface="Calibri"/>
              <a:sym typeface="Calibri"/>
            </a:endParaRPr>
          </a:p>
        </p:txBody>
      </p:sp>
      <p:sp>
        <p:nvSpPr>
          <p:cNvPr id="867" name="Google Shape;867;p35"/>
          <p:cNvSpPr/>
          <p:nvPr/>
        </p:nvSpPr>
        <p:spPr>
          <a:xfrm>
            <a:off x="5265068" y="4194820"/>
            <a:ext cx="1661815" cy="41652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F2A7B5"/>
              </a:buClr>
              <a:buSzPts val="2200"/>
              <a:buFont typeface="Nunito Sans"/>
              <a:buNone/>
            </a:pPr>
            <a:r>
              <a:rPr b="0" i="0" lang="en-US" sz="2200" u="none" cap="none" strike="noStrike">
                <a:solidFill>
                  <a:srgbClr val="F2A7B5"/>
                </a:solidFill>
                <a:latin typeface="Nunito Sans"/>
                <a:ea typeface="Nunito Sans"/>
                <a:cs typeface="Nunito Sans"/>
                <a:sym typeface="Nunito Sans"/>
              </a:rPr>
              <a:t>Questions?</a:t>
            </a:r>
            <a:endParaRPr b="0" i="0" sz="2200" u="none" cap="none" strike="noStrike">
              <a:solidFill>
                <a:schemeClr val="dk1"/>
              </a:solidFill>
              <a:latin typeface="Calibri"/>
              <a:ea typeface="Calibri"/>
              <a:cs typeface="Calibri"/>
              <a:sym typeface="Calibri"/>
            </a:endParaRPr>
          </a:p>
        </p:txBody>
      </p:sp>
      <p:sp>
        <p:nvSpPr>
          <p:cNvPr id="868" name="Google Shape;868;p35"/>
          <p:cNvSpPr/>
          <p:nvPr/>
        </p:nvSpPr>
        <p:spPr>
          <a:xfrm>
            <a:off x="4117538" y="4814540"/>
            <a:ext cx="3956923" cy="27429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BFC6D4"/>
              </a:buClr>
              <a:buSzPts val="1400"/>
              <a:buFont typeface="Nunito Sans"/>
              <a:buNone/>
            </a:pPr>
            <a:r>
              <a:rPr b="0" i="0" lang="en-US" sz="1400" u="none" cap="none" strike="noStrike">
                <a:solidFill>
                  <a:srgbClr val="BFC6D4"/>
                </a:solidFill>
                <a:latin typeface="Nunito Sans"/>
                <a:ea typeface="Nunito Sans"/>
                <a:cs typeface="Nunito Sans"/>
                <a:sym typeface="Nunito Sans"/>
              </a:rPr>
              <a:t>Sophia Qin · Jenna Yang · Abraham Yeung</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BF7F2"/>
        </a:solidFill>
      </p:bgPr>
    </p:bg>
    <p:spTree>
      <p:nvGrpSpPr>
        <p:cNvPr id="1" name=""/>
        <p:cNvGrpSpPr/>
        <p:nvPr/>
      </p:nvGrpSpPr>
      <p:grpSpPr/>
      <p:sp>
        <p:nvSpPr>
          <p:cNvPr id="623" name="Google Shape;623;p24"/>
          <p:cNvSpPr/>
          <p:nvPr/>
        </p:nvSpPr>
        <p:spPr>
          <a:xfrm>
            <a:off x="813816" y="813816"/>
            <a:ext cx="10881360" cy="23774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4 · TECHNICAL IMPLEMENTATION</a:t>
            </a:r>
            <a:endParaRPr b="0" i="0" sz="1200" u="none" cap="none" strike="noStrike">
              <a:solidFill>
                <a:schemeClr val="dk1"/>
              </a:solidFill>
              <a:latin typeface="Calibri"/>
              <a:ea typeface="Calibri"/>
              <a:cs typeface="Calibri"/>
              <a:sym typeface="Calibri"/>
            </a:endParaRPr>
          </a:p>
        </p:txBody>
      </p:sp>
      <p:sp>
        <p:nvSpPr>
          <p:cNvPr id="624" name="Google Shape;624;p24"/>
          <p:cNvSpPr/>
          <p:nvPr/>
        </p:nvSpPr>
        <p:spPr>
          <a:xfrm>
            <a:off x="813816" y="1179576"/>
            <a:ext cx="10881360"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Logistic regression on our data</a:t>
            </a:r>
            <a:endParaRPr b="0" i="0" sz="3200" u="none" cap="none" strike="noStrike">
              <a:solidFill>
                <a:schemeClr val="dk1"/>
              </a:solidFill>
              <a:latin typeface="Calibri"/>
              <a:ea typeface="Calibri"/>
              <a:cs typeface="Calibri"/>
              <a:sym typeface="Calibri"/>
            </a:endParaRPr>
          </a:p>
        </p:txBody>
      </p:sp>
      <p:sp>
        <p:nvSpPr>
          <p:cNvPr id="635" name="Google Shape;635;p24"/>
          <p:cNvSpPr/>
          <p:nvPr/>
        </p:nvSpPr>
        <p:spPr>
          <a:xfrm>
            <a:off x="813816" y="6291072"/>
            <a:ext cx="10881360" cy="23774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17 · BIC: James et al. (2023), ISL §6.1.3 · Splines: ISL §7.4 · Dots: the five pre-date training folds; no curve was chosen with the date ratings either</a:t>
            </a:r>
            <a:endParaRPr b="0" i="0" sz="1200" u="none" cap="none" strike="noStrike">
              <a:solidFill>
                <a:schemeClr val="dk1"/>
              </a:solidFill>
              <a:latin typeface="Calibri"/>
              <a:ea typeface="Calibri"/>
              <a:cs typeface="Calibri"/>
              <a:sym typeface="Calibri"/>
            </a:endParaRPr>
          </a:p>
        </p:txBody>
      </p:sp>
      <p:sp>
        <p:nvSpPr>
          <p:cNvPr id="625" name="Google Shape;625;p24"/>
          <p:cNvSpPr/>
          <p:nvPr/>
        </p:nvSpPr>
        <p:spPr>
          <a:xfrm>
            <a:off x="822960" y="1783080"/>
            <a:ext cx="4526280" cy="1554480"/>
          </a:xfrm>
          <a:prstGeom prst="roundRect">
            <a:avLst>
              <a:gd fmla="val 1087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4"/>
          <p:cNvSpPr/>
          <p:nvPr/>
        </p:nvSpPr>
        <p:spPr>
          <a:xfrm>
            <a:off x="1005840" y="1938528"/>
            <a:ext cx="4160520" cy="26517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600"/>
              <a:buFont typeface="Nunito"/>
              <a:buNone/>
            </a:pPr>
            <a:r>
              <a:rPr b="1" i="0" lang="en-US" sz="1600" u="none" cap="none" strike="noStrike">
                <a:solidFill>
                  <a:srgbClr val="1B2440"/>
                </a:solidFill>
                <a:latin typeface="Nunito"/>
                <a:ea typeface="Nunito"/>
                <a:cs typeface="Nunito"/>
                <a:sym typeface="Nunito"/>
              </a:rPr>
              <a:t>What goes in</a:t>
            </a:r>
            <a:endParaRPr b="0" i="0" sz="1600" u="none" cap="none" strike="noStrike">
              <a:solidFill>
                <a:schemeClr val="dk1"/>
              </a:solidFill>
              <a:latin typeface="Calibri"/>
              <a:ea typeface="Calibri"/>
              <a:cs typeface="Calibri"/>
              <a:sym typeface="Calibri"/>
            </a:endParaRPr>
          </a:p>
        </p:txBody>
      </p:sp>
      <p:sp>
        <p:nvSpPr>
          <p:cNvPr id="627" name="Google Shape;627;p24"/>
          <p:cNvSpPr/>
          <p:nvPr/>
        </p:nvSpPr>
        <p:spPr>
          <a:xfrm>
            <a:off x="1005840" y="2240280"/>
            <a:ext cx="4160520" cy="10058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Her answers, his answers and the pair features, such as the age gap: 74 pre-date predictors. Categories become yes/no columns, so about 125 columns in all.</a:t>
            </a:r>
            <a:endParaRPr b="0" i="0" sz="1300" u="none" cap="none" strike="noStrike">
              <a:solidFill>
                <a:schemeClr val="dk1"/>
              </a:solidFill>
              <a:latin typeface="Calibri"/>
              <a:ea typeface="Calibri"/>
              <a:cs typeface="Calibri"/>
              <a:sym typeface="Calibri"/>
            </a:endParaRPr>
          </a:p>
        </p:txBody>
      </p:sp>
      <p:sp>
        <p:nvSpPr>
          <p:cNvPr id="625" name="Google Shape;625;p24"/>
          <p:cNvSpPr/>
          <p:nvPr/>
        </p:nvSpPr>
        <p:spPr>
          <a:xfrm>
            <a:off x="822960" y="3474720"/>
            <a:ext cx="4526280" cy="1664208"/>
          </a:xfrm>
          <a:prstGeom prst="roundRect">
            <a:avLst>
              <a:gd fmla="val 1087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4"/>
          <p:cNvSpPr/>
          <p:nvPr/>
        </p:nvSpPr>
        <p:spPr>
          <a:xfrm>
            <a:off x="1005840" y="3630168"/>
            <a:ext cx="4160520" cy="26517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600"/>
              <a:buFont typeface="Nunito"/>
              <a:buNone/>
            </a:pPr>
            <a:r>
              <a:rPr b="1" i="0" lang="en-US" sz="1600" u="none" cap="none" strike="noStrike">
                <a:solidFill>
                  <a:srgbClr val="1B2440"/>
                </a:solidFill>
                <a:latin typeface="Nunito"/>
                <a:ea typeface="Nunito"/>
                <a:cs typeface="Nunito"/>
                <a:sym typeface="Nunito"/>
              </a:rPr>
              <a:t>Straight line or curve?</a:t>
            </a:r>
            <a:endParaRPr b="0" i="0" sz="1600" u="none" cap="none" strike="noStrike">
              <a:solidFill>
                <a:schemeClr val="dk1"/>
              </a:solidFill>
              <a:latin typeface="Calibri"/>
              <a:ea typeface="Calibri"/>
              <a:cs typeface="Calibri"/>
              <a:sym typeface="Calibri"/>
            </a:endParaRPr>
          </a:p>
        </p:txBody>
      </p:sp>
      <p:sp>
        <p:nvSpPr>
          <p:cNvPr id="627" name="Google Shape;627;p24"/>
          <p:cNvSpPr/>
          <p:nvPr/>
        </p:nvSpPr>
        <p:spPr>
          <a:xfrm>
            <a:off x="1005840" y="3931920"/>
            <a:ext cx="4160520" cy="5486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For six predictors we also tried a curve (a spline), kept only if it lowered BIC:</a:t>
            </a:r>
            <a:endParaRPr b="0" i="0" sz="1300" u="none" cap="none" strike="noStrike">
              <a:solidFill>
                <a:schemeClr val="dk1"/>
              </a:solidFill>
              <a:latin typeface="Calibri"/>
              <a:ea typeface="Calibri"/>
              <a:cs typeface="Calibri"/>
              <a:sym typeface="Calibri"/>
            </a:endParaRPr>
          </a:p>
        </p:txBody>
      </p:sp>
      <p:pic>
        <p:nvPicPr>
          <p:cNvPr id="636" name="Picture 635" descr="slide_eq_bic.png"/>
          <p:cNvPicPr>
            <a:picLocks noChangeAspect="1"/>
          </p:cNvPicPr>
          <p:nvPr/>
        </p:nvPicPr>
        <p:blipFill>
          <a:blip r:embed="rId2"/>
          <a:stretch>
            <a:fillRect/>
          </a:stretch>
        </p:blipFill>
        <p:spPr>
          <a:xfrm>
            <a:off x="1005840" y="4572000"/>
            <a:ext cx="3200400" cy="279816"/>
          </a:xfrm>
          <a:prstGeom prst="rect">
            <a:avLst/>
          </a:prstGeom>
        </p:spPr>
      </p:pic>
      <p:pic>
        <p:nvPicPr>
          <p:cNvPr id="637" name="Picture 636" descr="slide_spline_bic.png"/>
          <p:cNvPicPr>
            <a:picLocks noChangeAspect="1"/>
          </p:cNvPicPr>
          <p:nvPr/>
        </p:nvPicPr>
        <p:blipFill>
          <a:blip r:embed="rId3"/>
          <a:stretch>
            <a:fillRect/>
          </a:stretch>
        </p:blipFill>
        <p:spPr>
          <a:xfrm>
            <a:off x="5623560" y="1783080"/>
            <a:ext cx="5760720" cy="2797200"/>
          </a:xfrm>
          <a:prstGeom prst="rect">
            <a:avLst/>
          </a:prstGeom>
        </p:spPr>
      </p:pic>
      <p:sp>
        <p:nvSpPr>
          <p:cNvPr id="697" name="Google Shape;697;p28"/>
          <p:cNvSpPr/>
          <p:nvPr/>
        </p:nvSpPr>
        <p:spPr>
          <a:xfrm>
            <a:off x="822960" y="5303520"/>
            <a:ext cx="10552176" cy="804672"/>
          </a:xfrm>
          <a:prstGeom prst="roundRect">
            <a:avLst>
              <a:gd fmla="val 17914" name="adj"/>
            </a:avLst>
          </a:prstGeom>
          <a:solidFill>
            <a:srgbClr val="F6ECE9"/>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98" name="Picture 697" descr="image.png"/>
          <p:cNvPicPr>
            <a:picLocks noChangeAspect="1"/>
          </p:cNvPicPr>
          <p:nvPr/>
        </p:nvPicPr>
        <p:blipFill>
          <a:blip r:embed="rId4"/>
          <a:stretch>
            <a:fillRect/>
          </a:stretch>
        </p:blipFill>
        <p:spPr>
          <a:xfrm>
            <a:off x="1024128" y="5559552"/>
            <a:ext cx="232600" cy="301752"/>
          </a:xfrm>
          <a:prstGeom prst="rect">
            <a:avLst/>
          </a:prstGeom>
        </p:spPr>
      </p:pic>
      <p:sp>
        <p:nvSpPr>
          <p:cNvPr id="699" name="Google Shape;699;p28"/>
          <p:cNvSpPr/>
          <p:nvPr/>
        </p:nvSpPr>
        <p:spPr>
          <a:xfrm>
            <a:off x="1389888" y="5358383"/>
            <a:ext cx="9866376" cy="694944"/>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1B2440"/>
              </a:buClr>
              <a:buSzPts val="1400"/>
              <a:buFont typeface="Nunito Sans"/>
              <a:buNone/>
            </a:pPr>
            <a:r>
              <a:rPr b="1" i="0" lang="en-US" sz="1400" u="none" cap="none" strike="noStrike">
                <a:solidFill>
                  <a:srgbClr val="1B2440"/>
                </a:solidFill>
                <a:latin typeface="Nunito Sans"/>
                <a:ea typeface="Nunito Sans"/>
                <a:cs typeface="Nunito Sans"/>
                <a:sym typeface="Nunito Sans"/>
              </a:rPr>
              <a:t>A straight line won every time. </a:t>
            </a:r>
            <a:r>
              <a:rPr b="0" i="0" lang="en-US" sz="1400" u="none" cap="none" strike="noStrike">
                <a:solidFill>
                  <a:srgbClr val="1B2440"/>
                </a:solidFill>
                <a:latin typeface="Nunito Sans"/>
                <a:ea typeface="Nunito Sans"/>
                <a:cs typeface="Nunito Sans"/>
                <a:sym typeface="Nunito Sans"/>
              </a:rPr>
              <a:t>Full logistic regression, held-out AUC: 0.542 before the date, 0.780 with the date ratings.</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BF7F2"/>
        </a:solidFill>
      </p:bgPr>
    </p:bg>
    <p:spTree>
      <p:nvGrpSpPr>
        <p:cNvPr id="1" name=""/>
        <p:cNvGrpSpPr/>
        <p:nvPr/>
      </p:nvGrpSpPr>
      <p:grpSpPr/>
      <p:sp>
        <p:nvSpPr>
          <p:cNvPr id="623" name="Google Shape;623;p24"/>
          <p:cNvSpPr/>
          <p:nvPr/>
        </p:nvSpPr>
        <p:spPr>
          <a:xfrm>
            <a:off x="813816" y="813816"/>
            <a:ext cx="10881360" cy="23774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4 · TECHNICAL IMPLEMENTATION</a:t>
            </a:r>
            <a:endParaRPr b="0" i="0" sz="1200" u="none" cap="none" strike="noStrike">
              <a:solidFill>
                <a:schemeClr val="dk1"/>
              </a:solidFill>
              <a:latin typeface="Calibri"/>
              <a:ea typeface="Calibri"/>
              <a:cs typeface="Calibri"/>
              <a:sym typeface="Calibri"/>
            </a:endParaRPr>
          </a:p>
        </p:txBody>
      </p:sp>
      <p:sp>
        <p:nvSpPr>
          <p:cNvPr id="624" name="Google Shape;624;p24"/>
          <p:cNvSpPr/>
          <p:nvPr/>
        </p:nvSpPr>
        <p:spPr>
          <a:xfrm>
            <a:off x="813816" y="1179576"/>
            <a:ext cx="10881360"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Stepwise selection and the lasso on our data</a:t>
            </a:r>
            <a:endParaRPr b="0" i="0" sz="3200" u="none" cap="none" strike="noStrike">
              <a:solidFill>
                <a:schemeClr val="dk1"/>
              </a:solidFill>
              <a:latin typeface="Calibri"/>
              <a:ea typeface="Calibri"/>
              <a:cs typeface="Calibri"/>
              <a:sym typeface="Calibri"/>
            </a:endParaRPr>
          </a:p>
        </p:txBody>
      </p:sp>
      <p:sp>
        <p:nvSpPr>
          <p:cNvPr id="635" name="Google Shape;635;p24"/>
          <p:cNvSpPr/>
          <p:nvPr/>
        </p:nvSpPr>
        <p:spPr>
          <a:xfrm>
            <a:off x="813816" y="6291072"/>
            <a:ext cx="10881360" cy="23774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18 · Stepwise: ISL §6.1.2 · Lasso: ISL §6.2.2; Friedman et al. (2010) · Bars: pre-date fits · AUCs on held-out events</a:t>
            </a:r>
            <a:endParaRPr b="0" i="0" sz="1200" u="none" cap="none" strike="noStrike">
              <a:solidFill>
                <a:schemeClr val="dk1"/>
              </a:solidFill>
              <a:latin typeface="Calibri"/>
              <a:ea typeface="Calibri"/>
              <a:cs typeface="Calibri"/>
              <a:sym typeface="Calibri"/>
            </a:endParaRPr>
          </a:p>
        </p:txBody>
      </p:sp>
      <p:sp>
        <p:nvSpPr>
          <p:cNvPr id="625" name="Google Shape;625;p24"/>
          <p:cNvSpPr/>
          <p:nvPr/>
        </p:nvSpPr>
        <p:spPr>
          <a:xfrm>
            <a:off x="822960" y="1783080"/>
            <a:ext cx="4526280" cy="1645920"/>
          </a:xfrm>
          <a:prstGeom prst="roundRect">
            <a:avLst>
              <a:gd fmla="val 1087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4"/>
          <p:cNvSpPr/>
          <p:nvPr/>
        </p:nvSpPr>
        <p:spPr>
          <a:xfrm>
            <a:off x="1005840" y="1938528"/>
            <a:ext cx="4160520" cy="26517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600"/>
              <a:buFont typeface="Nunito"/>
              <a:buNone/>
            </a:pPr>
            <a:r>
              <a:rPr b="1" i="0" lang="en-US" sz="1600" u="none" cap="none" strike="noStrike">
                <a:solidFill>
                  <a:srgbClr val="1B2440"/>
                </a:solidFill>
                <a:latin typeface="Nunito"/>
                <a:ea typeface="Nunito"/>
                <a:cs typeface="Nunito"/>
                <a:sym typeface="Nunito"/>
              </a:rPr>
              <a:t>Stepwise selection by BIC</a:t>
            </a:r>
            <a:endParaRPr b="0" i="0" sz="1600" u="none" cap="none" strike="noStrike">
              <a:solidFill>
                <a:schemeClr val="dk1"/>
              </a:solidFill>
              <a:latin typeface="Calibri"/>
              <a:ea typeface="Calibri"/>
              <a:cs typeface="Calibri"/>
              <a:sym typeface="Calibri"/>
            </a:endParaRPr>
          </a:p>
        </p:txBody>
      </p:sp>
      <p:sp>
        <p:nvSpPr>
          <p:cNvPr id="627" name="Google Shape;627;p24"/>
          <p:cNvSpPr/>
          <p:nvPr/>
        </p:nvSpPr>
        <p:spPr>
          <a:xfrm>
            <a:off x="1005840" y="2240280"/>
            <a:ext cx="4160520" cy="10972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Add or drop one predictor at a time while BIC goes down, three ways (forward, backward, both). Kept about 8 of 74 predictors per fit; about 15 of 90 with the date ratings.</a:t>
            </a:r>
            <a:endParaRPr b="0" i="0" sz="1300" u="none" cap="none" strike="noStrike">
              <a:solidFill>
                <a:schemeClr val="dk1"/>
              </a:solidFill>
              <a:latin typeface="Calibri"/>
              <a:ea typeface="Calibri"/>
              <a:cs typeface="Calibri"/>
              <a:sym typeface="Calibri"/>
            </a:endParaRPr>
          </a:p>
        </p:txBody>
      </p:sp>
      <p:sp>
        <p:nvSpPr>
          <p:cNvPr id="625" name="Google Shape;625;p24"/>
          <p:cNvSpPr/>
          <p:nvPr/>
        </p:nvSpPr>
        <p:spPr>
          <a:xfrm>
            <a:off x="822960" y="3566160"/>
            <a:ext cx="4526280" cy="1572768"/>
          </a:xfrm>
          <a:prstGeom prst="roundRect">
            <a:avLst>
              <a:gd fmla="val 1087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4"/>
          <p:cNvSpPr/>
          <p:nvPr/>
        </p:nvSpPr>
        <p:spPr>
          <a:xfrm>
            <a:off x="1005840" y="3721608"/>
            <a:ext cx="4160520" cy="26517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600"/>
              <a:buFont typeface="Nunito"/>
              <a:buNone/>
            </a:pPr>
            <a:r>
              <a:rPr b="1" i="0" lang="en-US" sz="1600" u="none" cap="none" strike="noStrike">
                <a:solidFill>
                  <a:srgbClr val="1B2440"/>
                </a:solidFill>
                <a:latin typeface="Nunito"/>
                <a:ea typeface="Nunito"/>
                <a:cs typeface="Nunito"/>
                <a:sym typeface="Nunito"/>
              </a:rPr>
              <a:t>The lasso</a:t>
            </a:r>
            <a:endParaRPr b="0" i="0" sz="1600" u="none" cap="none" strike="noStrike">
              <a:solidFill>
                <a:schemeClr val="dk1"/>
              </a:solidFill>
              <a:latin typeface="Calibri"/>
              <a:ea typeface="Calibri"/>
              <a:cs typeface="Calibri"/>
              <a:sym typeface="Calibri"/>
            </a:endParaRPr>
          </a:p>
        </p:txBody>
      </p:sp>
      <p:sp>
        <p:nvSpPr>
          <p:cNvPr id="627" name="Google Shape;627;p24"/>
          <p:cNvSpPr/>
          <p:nvPr/>
        </p:nvSpPr>
        <p:spPr>
          <a:xfrm>
            <a:off x="1005840" y="4023360"/>
            <a:ext cx="4160520" cy="10058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Shrinks every coefficient toward zero and sets the weakest exactly to zero; inner CV picks how strongly. Kept 22 to 76 of about 125 columns.</a:t>
            </a:r>
            <a:endParaRPr b="0" i="0" sz="1300" u="none" cap="none" strike="noStrike">
              <a:solidFill>
                <a:schemeClr val="dk1"/>
              </a:solidFill>
              <a:latin typeface="Calibri"/>
              <a:ea typeface="Calibri"/>
              <a:cs typeface="Calibri"/>
              <a:sym typeface="Calibri"/>
            </a:endParaRPr>
          </a:p>
        </p:txBody>
      </p:sp>
      <p:pic>
        <p:nvPicPr>
          <p:cNvPr id="636" name="Picture 635" descr="slide_stepwise_kept.png"/>
          <p:cNvPicPr>
            <a:picLocks noChangeAspect="1"/>
          </p:cNvPicPr>
          <p:nvPr/>
        </p:nvPicPr>
        <p:blipFill>
          <a:blip r:embed="rId2"/>
          <a:stretch>
            <a:fillRect/>
          </a:stretch>
        </p:blipFill>
        <p:spPr>
          <a:xfrm>
            <a:off x="5623560" y="1783080"/>
            <a:ext cx="5577840" cy="3265658"/>
          </a:xfrm>
          <a:prstGeom prst="rect">
            <a:avLst/>
          </a:prstGeom>
        </p:spPr>
      </p:pic>
      <p:sp>
        <p:nvSpPr>
          <p:cNvPr id="697" name="Google Shape;697;p28"/>
          <p:cNvSpPr/>
          <p:nvPr/>
        </p:nvSpPr>
        <p:spPr>
          <a:xfrm>
            <a:off x="822960" y="5303520"/>
            <a:ext cx="10552176" cy="804672"/>
          </a:xfrm>
          <a:prstGeom prst="roundRect">
            <a:avLst>
              <a:gd fmla="val 17914" name="adj"/>
            </a:avLst>
          </a:prstGeom>
          <a:solidFill>
            <a:srgbClr val="F6ECE9"/>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98" name="Picture 697" descr="image.png"/>
          <p:cNvPicPr>
            <a:picLocks noChangeAspect="1"/>
          </p:cNvPicPr>
          <p:nvPr/>
        </p:nvPicPr>
        <p:blipFill>
          <a:blip r:embed="rId3"/>
          <a:stretch>
            <a:fillRect/>
          </a:stretch>
        </p:blipFill>
        <p:spPr>
          <a:xfrm>
            <a:off x="1024128" y="5559552"/>
            <a:ext cx="232600" cy="301752"/>
          </a:xfrm>
          <a:prstGeom prst="rect">
            <a:avLst/>
          </a:prstGeom>
        </p:spPr>
      </p:pic>
      <p:sp>
        <p:nvSpPr>
          <p:cNvPr id="699" name="Google Shape;699;p28"/>
          <p:cNvSpPr/>
          <p:nvPr/>
        </p:nvSpPr>
        <p:spPr>
          <a:xfrm>
            <a:off x="1389888" y="5358383"/>
            <a:ext cx="9866376" cy="694944"/>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1B2440"/>
              </a:buClr>
              <a:buSzPts val="1400"/>
              <a:buFont typeface="Nunito Sans"/>
              <a:buNone/>
            </a:pPr>
            <a:r>
              <a:rPr b="1" i="0" lang="en-US" sz="1400" u="none" cap="none" strike="noStrike">
                <a:solidFill>
                  <a:srgbClr val="1B2440"/>
                </a:solidFill>
                <a:latin typeface="Nunito Sans"/>
                <a:ea typeface="Nunito Sans"/>
                <a:cs typeface="Nunito Sans"/>
                <a:sym typeface="Nunito Sans"/>
              </a:rPr>
              <a:t>Fewer predictors predicted better. </a:t>
            </a:r>
            <a:r>
              <a:rPr b="0" i="0" lang="en-US" sz="1400" u="none" cap="none" strike="noStrike">
                <a:solidFill>
                  <a:srgbClr val="1B2440"/>
                </a:solidFill>
                <a:latin typeface="Nunito Sans"/>
                <a:ea typeface="Nunito Sans"/>
                <a:cs typeface="Nunito Sans"/>
                <a:sym typeface="Nunito Sans"/>
              </a:rPr>
              <a:t>Before the date: full model 0.542, stepwise 0.559, lasso 0.573. With the date ratings: 0.780, 0.835, 0.838.</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BF7F2"/>
        </a:solidFill>
      </p:bgPr>
    </p:bg>
    <p:spTree>
      <p:nvGrpSpPr>
        <p:cNvPr id="1" name=""/>
        <p:cNvGrpSpPr/>
        <p:nvPr/>
      </p:nvGrpSpPr>
      <p:grpSpPr/>
      <p:sp>
        <p:nvSpPr>
          <p:cNvPr id="623" name="Google Shape;623;p24"/>
          <p:cNvSpPr/>
          <p:nvPr/>
        </p:nvSpPr>
        <p:spPr>
          <a:xfrm>
            <a:off x="813816" y="813816"/>
            <a:ext cx="10881360" cy="23774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4 · TECHNICAL IMPLEMENTATION</a:t>
            </a:r>
            <a:endParaRPr b="0" i="0" sz="1200" u="none" cap="none" strike="noStrike">
              <a:solidFill>
                <a:schemeClr val="dk1"/>
              </a:solidFill>
              <a:latin typeface="Calibri"/>
              <a:ea typeface="Calibri"/>
              <a:cs typeface="Calibri"/>
              <a:sym typeface="Calibri"/>
            </a:endParaRPr>
          </a:p>
        </p:txBody>
      </p:sp>
      <p:sp>
        <p:nvSpPr>
          <p:cNvPr id="624" name="Google Shape;624;p24"/>
          <p:cNvSpPr/>
          <p:nvPr/>
        </p:nvSpPr>
        <p:spPr>
          <a:xfrm>
            <a:off x="813816" y="1179576"/>
            <a:ext cx="10881360"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LDA and QDA on our data</a:t>
            </a:r>
            <a:endParaRPr b="0" i="0" sz="3200" u="none" cap="none" strike="noStrike">
              <a:solidFill>
                <a:schemeClr val="dk1"/>
              </a:solidFill>
              <a:latin typeface="Calibri"/>
              <a:ea typeface="Calibri"/>
              <a:cs typeface="Calibri"/>
              <a:sym typeface="Calibri"/>
            </a:endParaRPr>
          </a:p>
        </p:txBody>
      </p:sp>
      <p:sp>
        <p:nvSpPr>
          <p:cNvPr id="635" name="Google Shape;635;p24"/>
          <p:cNvSpPr/>
          <p:nvPr/>
        </p:nvSpPr>
        <p:spPr>
          <a:xfrm>
            <a:off x="813816" y="6291072"/>
            <a:ext cx="10881360" cy="23774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21 · LDA and QDA: James et al. (2023), ISL §4.4 · Counts from our training folds (event 5-fold CV): 124 to 128 columns, 3,047 to 3,750 pairs</a:t>
            </a:r>
            <a:endParaRPr b="0" i="0" sz="1200" u="none" cap="none" strike="noStrike">
              <a:solidFill>
                <a:schemeClr val="dk1"/>
              </a:solidFill>
              <a:latin typeface="Calibri"/>
              <a:ea typeface="Calibri"/>
              <a:cs typeface="Calibri"/>
              <a:sym typeface="Calibri"/>
            </a:endParaRPr>
          </a:p>
        </p:txBody>
      </p:sp>
      <p:sp>
        <p:nvSpPr>
          <p:cNvPr id="625" name="Google Shape;625;p24"/>
          <p:cNvSpPr/>
          <p:nvPr/>
        </p:nvSpPr>
        <p:spPr>
          <a:xfrm>
            <a:off x="822960" y="1783080"/>
            <a:ext cx="4526280" cy="1554480"/>
          </a:xfrm>
          <a:prstGeom prst="roundRect">
            <a:avLst>
              <a:gd fmla="val 1087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4"/>
          <p:cNvSpPr/>
          <p:nvPr/>
        </p:nvSpPr>
        <p:spPr>
          <a:xfrm>
            <a:off x="1005840" y="1938528"/>
            <a:ext cx="4160520" cy="26517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600"/>
              <a:buFont typeface="Nunito"/>
              <a:buNone/>
            </a:pPr>
            <a:r>
              <a:rPr b="1" i="0" lang="en-US" sz="1600" u="none" cap="none" strike="noStrike">
                <a:solidFill>
                  <a:srgbClr val="1B2440"/>
                </a:solidFill>
                <a:latin typeface="Nunito"/>
                <a:ea typeface="Nunito"/>
                <a:cs typeface="Nunito"/>
                <a:sym typeface="Nunito"/>
              </a:rPr>
              <a:t>LDA</a:t>
            </a:r>
            <a:endParaRPr b="0" i="0" sz="1600" u="none" cap="none" strike="noStrike">
              <a:solidFill>
                <a:schemeClr val="dk1"/>
              </a:solidFill>
              <a:latin typeface="Calibri"/>
              <a:ea typeface="Calibri"/>
              <a:cs typeface="Calibri"/>
              <a:sym typeface="Calibri"/>
            </a:endParaRPr>
          </a:p>
        </p:txBody>
      </p:sp>
      <p:sp>
        <p:nvSpPr>
          <p:cNvPr id="627" name="Google Shape;627;p24"/>
          <p:cNvSpPr/>
          <p:nvPr/>
        </p:nvSpPr>
        <p:spPr>
          <a:xfrm>
            <a:off x="1005840" y="2240280"/>
            <a:ext cx="4160520" cy="10058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One covariance matrix, shared by matches and non-matches, estimated from all of the about 3,300 training pairs. Nothing to tune.</a:t>
            </a:r>
            <a:endParaRPr b="0" i="0" sz="1300" u="none" cap="none" strike="noStrike">
              <a:solidFill>
                <a:schemeClr val="dk1"/>
              </a:solidFill>
              <a:latin typeface="Calibri"/>
              <a:ea typeface="Calibri"/>
              <a:cs typeface="Calibri"/>
              <a:sym typeface="Calibri"/>
            </a:endParaRPr>
          </a:p>
        </p:txBody>
      </p:sp>
      <p:sp>
        <p:nvSpPr>
          <p:cNvPr id="625" name="Google Shape;625;p24"/>
          <p:cNvSpPr/>
          <p:nvPr/>
        </p:nvSpPr>
        <p:spPr>
          <a:xfrm>
            <a:off x="822960" y="3474720"/>
            <a:ext cx="4526280" cy="1664208"/>
          </a:xfrm>
          <a:prstGeom prst="roundRect">
            <a:avLst>
              <a:gd fmla="val 1087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4"/>
          <p:cNvSpPr/>
          <p:nvPr/>
        </p:nvSpPr>
        <p:spPr>
          <a:xfrm>
            <a:off x="1005840" y="3630168"/>
            <a:ext cx="4160520" cy="26517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600"/>
              <a:buFont typeface="Nunito"/>
              <a:buNone/>
            </a:pPr>
            <a:r>
              <a:rPr b="1" i="0" lang="en-US" sz="1600" u="none" cap="none" strike="noStrike">
                <a:solidFill>
                  <a:srgbClr val="1B2440"/>
                </a:solidFill>
                <a:latin typeface="Nunito"/>
                <a:ea typeface="Nunito"/>
                <a:cs typeface="Nunito"/>
                <a:sym typeface="Nunito"/>
              </a:rPr>
              <a:t>QDA</a:t>
            </a:r>
            <a:endParaRPr b="0" i="0" sz="1600" u="none" cap="none" strike="noStrike">
              <a:solidFill>
                <a:schemeClr val="dk1"/>
              </a:solidFill>
              <a:latin typeface="Calibri"/>
              <a:ea typeface="Calibri"/>
              <a:cs typeface="Calibri"/>
              <a:sym typeface="Calibri"/>
            </a:endParaRPr>
          </a:p>
        </p:txBody>
      </p:sp>
      <p:sp>
        <p:nvSpPr>
          <p:cNvPr id="627" name="Google Shape;627;p24"/>
          <p:cNvSpPr/>
          <p:nvPr/>
        </p:nvSpPr>
        <p:spPr>
          <a:xfrm>
            <a:off x="1005840" y="3931920"/>
            <a:ext cx="4160520" cy="10058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A separate covariance matrix for each class, so the matches' matrix has to come from the matches alone.</a:t>
            </a:r>
            <a:endParaRPr b="0" i="0" sz="1300" u="none" cap="none" strike="noStrike">
              <a:solidFill>
                <a:schemeClr val="dk1"/>
              </a:solidFill>
              <a:latin typeface="Calibri"/>
              <a:ea typeface="Calibri"/>
              <a:cs typeface="Calibri"/>
              <a:sym typeface="Calibri"/>
            </a:endParaRPr>
          </a:p>
        </p:txBody>
      </p:sp>
      <p:sp>
        <p:nvSpPr>
          <p:cNvPr id="682" name="Google Shape;682;p28"/>
          <p:cNvSpPr/>
          <p:nvPr/>
        </p:nvSpPr>
        <p:spPr>
          <a:xfrm>
            <a:off x="5623560" y="1783080"/>
            <a:ext cx="2788920" cy="3355848"/>
          </a:xfrm>
          <a:prstGeom prst="roundRect">
            <a:avLst>
              <a:gd fmla="val 5941" name="adj"/>
            </a:avLst>
          </a:prstGeom>
          <a:solidFill>
            <a:srgbClr val="1B24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28"/>
          <p:cNvSpPr/>
          <p:nvPr/>
        </p:nvSpPr>
        <p:spPr>
          <a:xfrm>
            <a:off x="5879592" y="2057400"/>
            <a:ext cx="233172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BF7F2"/>
              </a:buClr>
              <a:buSzPts val="7000"/>
              <a:buFont typeface="Nunito"/>
              <a:buNone/>
            </a:pPr>
            <a:r>
              <a:rPr b="1" i="0" lang="en-US" sz="7000" u="none" cap="none" strike="noStrike">
                <a:solidFill>
                  <a:srgbClr val="FBF7F2"/>
                </a:solidFill>
                <a:latin typeface="Nunito"/>
                <a:ea typeface="Nunito"/>
                <a:cs typeface="Nunito"/>
                <a:sym typeface="Nunito"/>
              </a:rPr>
              <a:t>8,000</a:t>
            </a:r>
            <a:endParaRPr b="0" i="0" sz="7000" u="none" cap="none" strike="noStrike">
              <a:solidFill>
                <a:schemeClr val="dk1"/>
              </a:solidFill>
              <a:latin typeface="Calibri"/>
              <a:ea typeface="Calibri"/>
              <a:cs typeface="Calibri"/>
              <a:sym typeface="Calibri"/>
            </a:endParaRPr>
          </a:p>
        </p:txBody>
      </p:sp>
      <p:sp>
        <p:nvSpPr>
          <p:cNvPr id="684" name="Google Shape;684;p28"/>
          <p:cNvSpPr/>
          <p:nvPr/>
        </p:nvSpPr>
        <p:spPr>
          <a:xfrm>
            <a:off x="5879592" y="3108960"/>
            <a:ext cx="2331720" cy="1801368"/>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8E4DA"/>
              </a:buClr>
              <a:buSzPts val="1500"/>
              <a:buFont typeface="Nunito Sans"/>
              <a:buNone/>
            </a:pPr>
            <a:r>
              <a:rPr b="0" i="0" lang="en-US" sz="1500" u="none" cap="none" strike="noStrike">
                <a:solidFill>
                  <a:srgbClr val="E8E4DA"/>
                </a:solidFill>
                <a:latin typeface="Nunito Sans"/>
                <a:ea typeface="Nunito Sans"/>
                <a:cs typeface="Nunito Sans"/>
                <a:sym typeface="Nunito Sans"/>
              </a:rPr>
              <a:t>numbers, roughly, in the matches' covariance matrix: 125 × 126 / 2 for 125 columns</a:t>
            </a:r>
            <a:endParaRPr b="0" i="0" sz="1500" u="none" cap="none" strike="noStrike">
              <a:solidFill>
                <a:schemeClr val="dk1"/>
              </a:solidFill>
              <a:latin typeface="Calibri"/>
              <a:ea typeface="Calibri"/>
              <a:cs typeface="Calibri"/>
              <a:sym typeface="Calibri"/>
            </a:endParaRPr>
          </a:p>
        </p:txBody>
      </p:sp>
      <p:sp>
        <p:nvSpPr>
          <p:cNvPr id="682" name="Google Shape;682;p28"/>
          <p:cNvSpPr/>
          <p:nvPr/>
        </p:nvSpPr>
        <p:spPr>
          <a:xfrm>
            <a:off x="8586216" y="1783080"/>
            <a:ext cx="2788920" cy="3355848"/>
          </a:xfrm>
          <a:prstGeom prst="roundRect">
            <a:avLst>
              <a:gd fmla="val 5941" name="adj"/>
            </a:avLst>
          </a:prstGeom>
          <a:solidFill>
            <a:srgbClr val="1B24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28"/>
          <p:cNvSpPr/>
          <p:nvPr/>
        </p:nvSpPr>
        <p:spPr>
          <a:xfrm>
            <a:off x="8842248" y="2057400"/>
            <a:ext cx="233172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BF7F2"/>
              </a:buClr>
              <a:buSzPts val="7000"/>
              <a:buFont typeface="Nunito"/>
              <a:buNone/>
            </a:pPr>
            <a:r>
              <a:rPr b="1" i="0" lang="en-US" sz="7000" u="none" cap="none" strike="noStrike">
                <a:solidFill>
                  <a:srgbClr val="FBF7F2"/>
                </a:solidFill>
                <a:latin typeface="Nunito"/>
                <a:ea typeface="Nunito"/>
                <a:cs typeface="Nunito"/>
                <a:sym typeface="Nunito"/>
              </a:rPr>
              <a:t>550</a:t>
            </a:r>
            <a:endParaRPr b="0" i="0" sz="7000" u="none" cap="none" strike="noStrike">
              <a:solidFill>
                <a:schemeClr val="dk1"/>
              </a:solidFill>
              <a:latin typeface="Calibri"/>
              <a:ea typeface="Calibri"/>
              <a:cs typeface="Calibri"/>
              <a:sym typeface="Calibri"/>
            </a:endParaRPr>
          </a:p>
        </p:txBody>
      </p:sp>
      <p:sp>
        <p:nvSpPr>
          <p:cNvPr id="684" name="Google Shape;684;p28"/>
          <p:cNvSpPr/>
          <p:nvPr/>
        </p:nvSpPr>
        <p:spPr>
          <a:xfrm>
            <a:off x="8842248" y="3108960"/>
            <a:ext cx="2331720" cy="1801368"/>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8E4DA"/>
              </a:buClr>
              <a:buSzPts val="1500"/>
              <a:buFont typeface="Nunito Sans"/>
              <a:buNone/>
            </a:pPr>
            <a:r>
              <a:rPr b="0" i="0" lang="en-US" sz="1500" u="none" cap="none" strike="noStrike">
                <a:solidFill>
                  <a:srgbClr val="E8E4DA"/>
                </a:solidFill>
                <a:latin typeface="Nunito Sans"/>
                <a:ea typeface="Nunito Sans"/>
                <a:cs typeface="Nunito Sans"/>
                <a:sym typeface="Nunito Sans"/>
              </a:rPr>
              <a:t>matches, on average, in a training fold to estimate them from</a:t>
            </a:r>
            <a:endParaRPr b="0" i="0" sz="1500" u="none" cap="none" strike="noStrike">
              <a:solidFill>
                <a:schemeClr val="dk1"/>
              </a:solidFill>
              <a:latin typeface="Calibri"/>
              <a:ea typeface="Calibri"/>
              <a:cs typeface="Calibri"/>
              <a:sym typeface="Calibri"/>
            </a:endParaRPr>
          </a:p>
        </p:txBody>
      </p:sp>
      <p:sp>
        <p:nvSpPr>
          <p:cNvPr id="697" name="Google Shape;697;p28"/>
          <p:cNvSpPr/>
          <p:nvPr/>
        </p:nvSpPr>
        <p:spPr>
          <a:xfrm>
            <a:off x="822960" y="5303520"/>
            <a:ext cx="10552176" cy="804672"/>
          </a:xfrm>
          <a:prstGeom prst="roundRect">
            <a:avLst>
              <a:gd fmla="val 17914" name="adj"/>
            </a:avLst>
          </a:prstGeom>
          <a:solidFill>
            <a:srgbClr val="F6ECE9"/>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98" name="Picture 697" descr="image.png"/>
          <p:cNvPicPr>
            <a:picLocks noChangeAspect="1"/>
          </p:cNvPicPr>
          <p:nvPr/>
        </p:nvPicPr>
        <p:blipFill>
          <a:blip r:embed="rId2"/>
          <a:stretch>
            <a:fillRect/>
          </a:stretch>
        </p:blipFill>
        <p:spPr>
          <a:xfrm>
            <a:off x="1024128" y="5559552"/>
            <a:ext cx="232600" cy="301752"/>
          </a:xfrm>
          <a:prstGeom prst="rect">
            <a:avLst/>
          </a:prstGeom>
        </p:spPr>
      </p:pic>
      <p:sp>
        <p:nvSpPr>
          <p:cNvPr id="699" name="Google Shape;699;p28"/>
          <p:cNvSpPr/>
          <p:nvPr/>
        </p:nvSpPr>
        <p:spPr>
          <a:xfrm>
            <a:off x="1389888" y="5358383"/>
            <a:ext cx="9866376" cy="694944"/>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1B2440"/>
              </a:buClr>
              <a:buSzPts val="1400"/>
              <a:buFont typeface="Nunito Sans"/>
              <a:buNone/>
            </a:pPr>
            <a:r>
              <a:rPr b="1" i="0" lang="en-US" sz="1400" u="none" cap="none" strike="noStrike">
                <a:solidFill>
                  <a:srgbClr val="1B2440"/>
                </a:solidFill>
                <a:latin typeface="Nunito Sans"/>
                <a:ea typeface="Nunito Sans"/>
                <a:cs typeface="Nunito Sans"/>
                <a:sym typeface="Nunito Sans"/>
              </a:rPr>
              <a:t>Too many numbers, too few matches: </a:t>
            </a:r>
            <a:r>
              <a:rPr b="0" i="0" lang="en-US" sz="1400" u="none" cap="none" strike="noStrike">
                <a:solidFill>
                  <a:srgbClr val="1B2440"/>
                </a:solidFill>
                <a:latin typeface="Nunito Sans"/>
                <a:ea typeface="Nunito Sans"/>
                <a:cs typeface="Nunito Sans"/>
                <a:sym typeface="Nunito Sans"/>
              </a:rPr>
              <a:t>plain QDA's matrix is mostly noise. LDA's held-out AUC: 0.553 before the date, 0.790 with the date ratings.</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BF7F2"/>
        </a:solidFill>
      </p:bgPr>
    </p:bg>
    <p:spTree>
      <p:nvGrpSpPr>
        <p:cNvPr id="1" name=""/>
        <p:cNvGrpSpPr/>
        <p:nvPr/>
      </p:nvGrpSpPr>
      <p:grpSpPr/>
      <p:sp>
        <p:nvSpPr>
          <p:cNvPr id="623" name="Google Shape;623;p24"/>
          <p:cNvSpPr/>
          <p:nvPr/>
        </p:nvSpPr>
        <p:spPr>
          <a:xfrm>
            <a:off x="813816" y="813816"/>
            <a:ext cx="10881360" cy="23774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4 · TECHNICAL IMPLEMENTATION</a:t>
            </a:r>
            <a:endParaRPr b="0" i="0" sz="1200" u="none" cap="none" strike="noStrike">
              <a:solidFill>
                <a:schemeClr val="dk1"/>
              </a:solidFill>
              <a:latin typeface="Calibri"/>
              <a:ea typeface="Calibri"/>
              <a:cs typeface="Calibri"/>
              <a:sym typeface="Calibri"/>
            </a:endParaRPr>
          </a:p>
        </p:txBody>
      </p:sp>
      <p:sp>
        <p:nvSpPr>
          <p:cNvPr id="624" name="Google Shape;624;p24"/>
          <p:cNvSpPr/>
          <p:nvPr/>
        </p:nvSpPr>
        <p:spPr>
          <a:xfrm>
            <a:off x="813816" y="1179576"/>
            <a:ext cx="10881360"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Shrinking QDA's covariance matrix</a:t>
            </a:r>
            <a:endParaRPr b="0" i="0" sz="3200" u="none" cap="none" strike="noStrike">
              <a:solidFill>
                <a:schemeClr val="dk1"/>
              </a:solidFill>
              <a:latin typeface="Calibri"/>
              <a:ea typeface="Calibri"/>
              <a:cs typeface="Calibri"/>
              <a:sym typeface="Calibri"/>
            </a:endParaRPr>
          </a:p>
        </p:txBody>
      </p:sp>
      <p:sp>
        <p:nvSpPr>
          <p:cNvPr id="635" name="Google Shape;635;p24"/>
          <p:cNvSpPr/>
          <p:nvPr/>
        </p:nvSpPr>
        <p:spPr>
          <a:xfrm>
            <a:off x="813816" y="6291072"/>
            <a:ext cx="10881360" cy="23774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22 · Regularized QDA: Friedman (1989); Hastie et al. (2009) §4.3.1 · Heatmaps: 8 of our predictors, 690 matched pairs</a:t>
            </a:r>
            <a:endParaRPr b="0" i="0" sz="1200" u="none" cap="none" strike="noStrike">
              <a:solidFill>
                <a:schemeClr val="dk1"/>
              </a:solidFill>
              <a:latin typeface="Calibri"/>
              <a:ea typeface="Calibri"/>
              <a:cs typeface="Calibri"/>
              <a:sym typeface="Calibri"/>
            </a:endParaRPr>
          </a:p>
        </p:txBody>
      </p:sp>
      <p:sp>
        <p:nvSpPr>
          <p:cNvPr id="625" name="Google Shape;625;p24"/>
          <p:cNvSpPr/>
          <p:nvPr/>
        </p:nvSpPr>
        <p:spPr>
          <a:xfrm>
            <a:off x="822960" y="1783080"/>
            <a:ext cx="4526280" cy="3355848"/>
          </a:xfrm>
          <a:prstGeom prst="roundRect">
            <a:avLst>
              <a:gd fmla="val 1087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4"/>
          <p:cNvSpPr/>
          <p:nvPr/>
        </p:nvSpPr>
        <p:spPr>
          <a:xfrm>
            <a:off x="1005840" y="1938528"/>
            <a:ext cx="4160520" cy="26517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600"/>
              <a:buFont typeface="Nunito"/>
              <a:buNone/>
            </a:pPr>
            <a:r>
              <a:rPr b="1" i="0" lang="en-US" sz="1600" u="none" cap="none" strike="noStrike">
                <a:solidFill>
                  <a:srgbClr val="1B2440"/>
                </a:solidFill>
                <a:latin typeface="Nunito"/>
                <a:ea typeface="Nunito"/>
                <a:cs typeface="Nunito"/>
                <a:sym typeface="Nunito"/>
              </a:rPr>
              <a:t>Shrink toward no correlation</a:t>
            </a:r>
            <a:endParaRPr b="0" i="0" sz="1600" u="none" cap="none" strike="noStrike">
              <a:solidFill>
                <a:schemeClr val="dk1"/>
              </a:solidFill>
              <a:latin typeface="Calibri"/>
              <a:ea typeface="Calibri"/>
              <a:cs typeface="Calibri"/>
              <a:sym typeface="Calibri"/>
            </a:endParaRPr>
          </a:p>
        </p:txBody>
      </p:sp>
      <p:sp>
        <p:nvSpPr>
          <p:cNvPr id="627" name="Google Shape;627;p24"/>
          <p:cNvSpPr/>
          <p:nvPr/>
        </p:nvSpPr>
        <p:spPr>
          <a:xfrm>
            <a:off x="1005840" y="2240280"/>
            <a:ext cx="4160520" cy="5486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Average the estimate with the identity matrix (no correlations), using weight r:</a:t>
            </a:r>
            <a:endParaRPr b="0" i="0" sz="1300" u="none" cap="none" strike="noStrike">
              <a:solidFill>
                <a:schemeClr val="dk1"/>
              </a:solidFill>
              <a:latin typeface="Calibri"/>
              <a:ea typeface="Calibri"/>
              <a:cs typeface="Calibri"/>
              <a:sym typeface="Calibri"/>
            </a:endParaRPr>
          </a:p>
        </p:txBody>
      </p:sp>
      <p:pic>
        <p:nvPicPr>
          <p:cNvPr id="636" name="Picture 635" descr="slide_eq_shrink.png"/>
          <p:cNvPicPr>
            <a:picLocks noChangeAspect="1"/>
          </p:cNvPicPr>
          <p:nvPr/>
        </p:nvPicPr>
        <p:blipFill>
          <a:blip r:embed="rId2"/>
          <a:stretch>
            <a:fillRect/>
          </a:stretch>
        </p:blipFill>
        <p:spPr>
          <a:xfrm>
            <a:off x="1005840" y="2926080"/>
            <a:ext cx="2636637" cy="384048"/>
          </a:xfrm>
          <a:prstGeom prst="rect">
            <a:avLst/>
          </a:prstGeom>
        </p:spPr>
      </p:pic>
      <p:sp>
        <p:nvSpPr>
          <p:cNvPr id="627" name="Google Shape;627;p24"/>
          <p:cNvSpPr/>
          <p:nvPr/>
        </p:nvSpPr>
        <p:spPr>
          <a:xfrm>
            <a:off x="1005840" y="3520440"/>
            <a:ext cx="4160520" cy="1463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r = 0 is plain QDA; r = 1 drops every correlation. Inner CV chose r from 0.1, 0.3, 0.5, 0.7, 0.9, and picked 0.9 in all 10 fits.</a:t>
            </a:r>
            <a:endParaRPr b="0" i="0" sz="1300" u="none" cap="none" strike="noStrike">
              <a:solidFill>
                <a:schemeClr val="dk1"/>
              </a:solidFill>
              <a:latin typeface="Calibri"/>
              <a:ea typeface="Calibri"/>
              <a:cs typeface="Calibri"/>
              <a:sym typeface="Calibri"/>
            </a:endParaRPr>
          </a:p>
        </p:txBody>
      </p:sp>
      <p:pic>
        <p:nvPicPr>
          <p:cNvPr id="637" name="Picture 636" descr="slide_qda_shrink.png"/>
          <p:cNvPicPr>
            <a:picLocks noChangeAspect="1"/>
          </p:cNvPicPr>
          <p:nvPr/>
        </p:nvPicPr>
        <p:blipFill>
          <a:blip r:embed="rId3"/>
          <a:stretch>
            <a:fillRect/>
          </a:stretch>
        </p:blipFill>
        <p:spPr>
          <a:xfrm>
            <a:off x="5532120" y="1783080"/>
            <a:ext cx="5852160" cy="3017759"/>
          </a:xfrm>
          <a:prstGeom prst="rect">
            <a:avLst/>
          </a:prstGeom>
        </p:spPr>
      </p:pic>
      <p:sp>
        <p:nvSpPr>
          <p:cNvPr id="697" name="Google Shape;697;p28"/>
          <p:cNvSpPr/>
          <p:nvPr/>
        </p:nvSpPr>
        <p:spPr>
          <a:xfrm>
            <a:off x="822960" y="5303520"/>
            <a:ext cx="10552176" cy="804672"/>
          </a:xfrm>
          <a:prstGeom prst="roundRect">
            <a:avLst>
              <a:gd fmla="val 17914" name="adj"/>
            </a:avLst>
          </a:prstGeom>
          <a:solidFill>
            <a:srgbClr val="F6ECE9"/>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98" name="Picture 697" descr="image.png"/>
          <p:cNvPicPr>
            <a:picLocks noChangeAspect="1"/>
          </p:cNvPicPr>
          <p:nvPr/>
        </p:nvPicPr>
        <p:blipFill>
          <a:blip r:embed="rId4"/>
          <a:stretch>
            <a:fillRect/>
          </a:stretch>
        </p:blipFill>
        <p:spPr>
          <a:xfrm>
            <a:off x="1024128" y="5559552"/>
            <a:ext cx="232600" cy="301752"/>
          </a:xfrm>
          <a:prstGeom prst="rect">
            <a:avLst/>
          </a:prstGeom>
        </p:spPr>
      </p:pic>
      <p:sp>
        <p:nvSpPr>
          <p:cNvPr id="699" name="Google Shape;699;p28"/>
          <p:cNvSpPr/>
          <p:nvPr/>
        </p:nvSpPr>
        <p:spPr>
          <a:xfrm>
            <a:off x="1389888" y="5358383"/>
            <a:ext cx="9866376" cy="694944"/>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1B2440"/>
              </a:buClr>
              <a:buSzPts val="1400"/>
              <a:buFont typeface="Nunito Sans"/>
              <a:buNone/>
            </a:pPr>
            <a:r>
              <a:rPr b="1" i="0" lang="en-US" sz="1400" u="none" cap="none" strike="noStrike">
                <a:solidFill>
                  <a:srgbClr val="1B2440"/>
                </a:solidFill>
                <a:latin typeface="Nunito Sans"/>
                <a:ea typeface="Nunito Sans"/>
                <a:cs typeface="Nunito Sans"/>
                <a:sym typeface="Nunito Sans"/>
              </a:rPr>
              <a:t>Shrinking paid off. </a:t>
            </a:r>
            <a:r>
              <a:rPr b="0" i="0" lang="en-US" sz="1400" u="none" cap="none" strike="noStrike">
                <a:solidFill>
                  <a:srgbClr val="1B2440"/>
                </a:solidFill>
                <a:latin typeface="Nunito Sans"/>
                <a:ea typeface="Nunito Sans"/>
                <a:cs typeface="Nunito Sans"/>
                <a:sym typeface="Nunito Sans"/>
              </a:rPr>
              <a:t>Before the date: LDA 0.553, regularized QDA 0.579. With the date ratings: 0.790 and 0.836.</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BF7F2"/>
        </a:solidFill>
      </p:bgPr>
    </p:bg>
    <p:spTree>
      <p:nvGrpSpPr>
        <p:cNvPr id="1" name=""/>
        <p:cNvGrpSpPr/>
        <p:nvPr/>
      </p:nvGrpSpPr>
      <p:grpSpPr/>
      <p:sp>
        <p:nvSpPr>
          <p:cNvPr id="623" name="Google Shape;623;p24"/>
          <p:cNvSpPr/>
          <p:nvPr/>
        </p:nvSpPr>
        <p:spPr>
          <a:xfrm>
            <a:off x="813816" y="813816"/>
            <a:ext cx="10881360" cy="23774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4 · TECHNICAL IMPLEMENTATION</a:t>
            </a:r>
            <a:endParaRPr b="0" i="0" sz="1200" u="none" cap="none" strike="noStrike">
              <a:solidFill>
                <a:schemeClr val="dk1"/>
              </a:solidFill>
              <a:latin typeface="Calibri"/>
              <a:ea typeface="Calibri"/>
              <a:cs typeface="Calibri"/>
              <a:sym typeface="Calibri"/>
            </a:endParaRPr>
          </a:p>
        </p:txBody>
      </p:sp>
      <p:sp>
        <p:nvSpPr>
          <p:cNvPr id="624" name="Google Shape;624;p24"/>
          <p:cNvSpPr/>
          <p:nvPr/>
        </p:nvSpPr>
        <p:spPr>
          <a:xfrm>
            <a:off x="813816" y="1179576"/>
            <a:ext cx="10881360"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Error bars that respect events</a:t>
            </a:r>
            <a:endParaRPr b="0" i="0" sz="3200" u="none" cap="none" strike="noStrike">
              <a:solidFill>
                <a:schemeClr val="dk1"/>
              </a:solidFill>
              <a:latin typeface="Calibri"/>
              <a:ea typeface="Calibri"/>
              <a:cs typeface="Calibri"/>
              <a:sym typeface="Calibri"/>
            </a:endParaRPr>
          </a:p>
        </p:txBody>
      </p:sp>
      <p:sp>
        <p:nvSpPr>
          <p:cNvPr id="635" name="Google Shape;635;p24"/>
          <p:cNvSpPr/>
          <p:nvPr/>
        </p:nvSpPr>
        <p:spPr>
          <a:xfrm>
            <a:off x="813816" y="6291072"/>
            <a:ext cx="10881360" cy="23774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26 · Cluster-robust SE: Cameron &amp; Miller (2015) · Clustered AUC: Obuchowski (1997) · The toy numbers are made up</a:t>
            </a:r>
            <a:endParaRPr b="0" i="0" sz="1200" u="none" cap="none" strike="noStrike">
              <a:solidFill>
                <a:schemeClr val="dk1"/>
              </a:solidFill>
              <a:latin typeface="Calibri"/>
              <a:ea typeface="Calibri"/>
              <a:cs typeface="Calibri"/>
              <a:sym typeface="Calibri"/>
            </a:endParaRPr>
          </a:p>
        </p:txBody>
      </p:sp>
      <p:sp>
        <p:nvSpPr>
          <p:cNvPr id="625" name="Google Shape;625;p24"/>
          <p:cNvSpPr/>
          <p:nvPr/>
        </p:nvSpPr>
        <p:spPr>
          <a:xfrm>
            <a:off x="822960" y="1783080"/>
            <a:ext cx="5394960" cy="3355848"/>
          </a:xfrm>
          <a:prstGeom prst="roundRect">
            <a:avLst>
              <a:gd fmla="val 1087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4"/>
          <p:cNvSpPr/>
          <p:nvPr/>
        </p:nvSpPr>
        <p:spPr>
          <a:xfrm>
            <a:off x="1005840" y="1938528"/>
            <a:ext cx="5029200" cy="26517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600"/>
              <a:buFont typeface="Nunito"/>
              <a:buNone/>
            </a:pPr>
            <a:r>
              <a:rPr b="1" i="0" lang="en-US" sz="1600" u="none" cap="none" strike="noStrike">
                <a:solidFill>
                  <a:srgbClr val="1B2440"/>
                </a:solidFill>
                <a:latin typeface="Nunito"/>
                <a:ea typeface="Nunito"/>
                <a:cs typeface="Nunito"/>
                <a:sym typeface="Nunito"/>
              </a:rPr>
              <a:t>Toy example: six pairs at two events</a:t>
            </a:r>
            <a:endParaRPr b="0" i="0" sz="1600" u="none" cap="none" strike="noStrike">
              <a:solidFill>
                <a:schemeClr val="dk1"/>
              </a:solidFill>
              <a:latin typeface="Calibri"/>
              <a:ea typeface="Calibri"/>
              <a:cs typeface="Calibri"/>
              <a:sym typeface="Calibri"/>
            </a:endParaRPr>
          </a:p>
        </p:txBody>
      </p:sp>
      <p:pic>
        <p:nvPicPr>
          <p:cNvPr id="636" name="Picture 635" descr="slide_toy_cluster.png"/>
          <p:cNvPicPr>
            <a:picLocks noChangeAspect="1"/>
          </p:cNvPicPr>
          <p:nvPr/>
        </p:nvPicPr>
        <p:blipFill>
          <a:blip r:embed="rId2"/>
          <a:stretch>
            <a:fillRect/>
          </a:stretch>
        </p:blipFill>
        <p:spPr>
          <a:xfrm>
            <a:off x="960120" y="2240280"/>
            <a:ext cx="5120640" cy="2583888"/>
          </a:xfrm>
          <a:prstGeom prst="rect">
            <a:avLst/>
          </a:prstGeom>
        </p:spPr>
      </p:pic>
      <p:sp>
        <p:nvSpPr>
          <p:cNvPr id="625" name="Google Shape;625;p24"/>
          <p:cNvSpPr/>
          <p:nvPr/>
        </p:nvSpPr>
        <p:spPr>
          <a:xfrm>
            <a:off x="6400800" y="1783080"/>
            <a:ext cx="4974336" cy="2103120"/>
          </a:xfrm>
          <a:prstGeom prst="roundRect">
            <a:avLst>
              <a:gd fmla="val 1087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4"/>
          <p:cNvSpPr/>
          <p:nvPr/>
        </p:nvSpPr>
        <p:spPr>
          <a:xfrm>
            <a:off x="6583680" y="1938528"/>
            <a:ext cx="4608576" cy="26517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600"/>
              <a:buFont typeface="Nunito"/>
              <a:buNone/>
            </a:pPr>
            <a:r>
              <a:rPr b="1" i="0" lang="en-US" sz="1600" u="none" cap="none" strike="noStrike">
                <a:solidFill>
                  <a:srgbClr val="1B2440"/>
                </a:solidFill>
                <a:latin typeface="Nunito"/>
                <a:ea typeface="Nunito"/>
                <a:cs typeface="Nunito"/>
                <a:sym typeface="Nunito"/>
              </a:rPr>
              <a:t>Add up within each event, then square</a:t>
            </a:r>
            <a:endParaRPr b="0" i="0" sz="1600" u="none" cap="none" strike="noStrike">
              <a:solidFill>
                <a:schemeClr val="dk1"/>
              </a:solidFill>
              <a:latin typeface="Calibri"/>
              <a:ea typeface="Calibri"/>
              <a:cs typeface="Calibri"/>
              <a:sym typeface="Calibri"/>
            </a:endParaRPr>
          </a:p>
        </p:txBody>
      </p:sp>
      <p:sp>
        <p:nvSpPr>
          <p:cNvPr id="627" name="Google Shape;627;p24"/>
          <p:cNvSpPr/>
          <p:nvPr/>
        </p:nvSpPr>
        <p:spPr>
          <a:xfrm>
            <a:off x="6583680" y="2240280"/>
            <a:ext cx="4608576" cy="8686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Pairs at an event share people and an evening, so errors lean the same way. ℓᵢ is pair i's error; G = 21 events, n = 4,184 pairs:</a:t>
            </a:r>
            <a:endParaRPr b="0" i="0" sz="1300" u="none" cap="none" strike="noStrike">
              <a:solidFill>
                <a:schemeClr val="dk1"/>
              </a:solidFill>
              <a:latin typeface="Calibri"/>
              <a:ea typeface="Calibri"/>
              <a:cs typeface="Calibri"/>
              <a:sym typeface="Calibri"/>
            </a:endParaRPr>
          </a:p>
        </p:txBody>
      </p:sp>
      <p:pic>
        <p:nvPicPr>
          <p:cNvPr id="637" name="Picture 636" descr="slide_eq_se.png"/>
          <p:cNvPicPr>
            <a:picLocks noChangeAspect="1"/>
          </p:cNvPicPr>
          <p:nvPr/>
        </p:nvPicPr>
        <p:blipFill>
          <a:blip r:embed="rId3"/>
          <a:stretch>
            <a:fillRect/>
          </a:stretch>
        </p:blipFill>
        <p:spPr>
          <a:xfrm>
            <a:off x="6583680" y="3127248"/>
            <a:ext cx="3290154" cy="585216"/>
          </a:xfrm>
          <a:prstGeom prst="rect">
            <a:avLst/>
          </a:prstGeom>
        </p:spPr>
      </p:pic>
      <p:sp>
        <p:nvSpPr>
          <p:cNvPr id="625" name="Google Shape;625;p24"/>
          <p:cNvSpPr/>
          <p:nvPr/>
        </p:nvSpPr>
        <p:spPr>
          <a:xfrm>
            <a:off x="6400800" y="4023360"/>
            <a:ext cx="4974336" cy="1115568"/>
          </a:xfrm>
          <a:prstGeom prst="roundRect">
            <a:avLst>
              <a:gd fmla="val 1087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4"/>
          <p:cNvSpPr/>
          <p:nvPr/>
        </p:nvSpPr>
        <p:spPr>
          <a:xfrm>
            <a:off x="6583680" y="4178808"/>
            <a:ext cx="4608576" cy="26517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600"/>
              <a:buFont typeface="Nunito"/>
              <a:buNone/>
            </a:pPr>
            <a:r>
              <a:rPr b="1" i="0" lang="en-US" sz="1600" u="none" cap="none" strike="noStrike">
                <a:solidFill>
                  <a:srgbClr val="1B2440"/>
                </a:solidFill>
                <a:latin typeface="Nunito"/>
                <a:ea typeface="Nunito"/>
                <a:cs typeface="Nunito"/>
                <a:sym typeface="Nunito"/>
              </a:rPr>
              <a:t>On our results</a:t>
            </a:r>
            <a:endParaRPr b="0" i="0" sz="1600" u="none" cap="none" strike="noStrike">
              <a:solidFill>
                <a:schemeClr val="dk1"/>
              </a:solidFill>
              <a:latin typeface="Calibri"/>
              <a:ea typeface="Calibri"/>
              <a:cs typeface="Calibri"/>
              <a:sym typeface="Calibri"/>
            </a:endParaRPr>
          </a:p>
        </p:txBody>
      </p:sp>
      <p:sp>
        <p:nvSpPr>
          <p:cNvPr id="627" name="Google Shape;627;p24"/>
          <p:cNvSpPr/>
          <p:nvPr/>
        </p:nvSpPr>
        <p:spPr>
          <a:xfrm>
            <a:off x="6583680" y="4480560"/>
            <a:ext cx="4608576" cy="5486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90% intervals are AUC ± 1.72 × SE (t with 20 df). The AUC's SE uses the same idea.</a:t>
            </a:r>
            <a:endParaRPr b="0" i="0" sz="1300" u="none" cap="none" strike="noStrike">
              <a:solidFill>
                <a:schemeClr val="dk1"/>
              </a:solidFill>
              <a:latin typeface="Calibri"/>
              <a:ea typeface="Calibri"/>
              <a:cs typeface="Calibri"/>
              <a:sym typeface="Calibri"/>
            </a:endParaRPr>
          </a:p>
        </p:txBody>
      </p:sp>
      <p:sp>
        <p:nvSpPr>
          <p:cNvPr id="697" name="Google Shape;697;p28"/>
          <p:cNvSpPr/>
          <p:nvPr/>
        </p:nvSpPr>
        <p:spPr>
          <a:xfrm>
            <a:off x="822960" y="5303520"/>
            <a:ext cx="10552176" cy="804672"/>
          </a:xfrm>
          <a:prstGeom prst="roundRect">
            <a:avLst>
              <a:gd fmla="val 17914" name="adj"/>
            </a:avLst>
          </a:prstGeom>
          <a:solidFill>
            <a:srgbClr val="F6ECE9"/>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98" name="Picture 697" descr="image.png"/>
          <p:cNvPicPr>
            <a:picLocks noChangeAspect="1"/>
          </p:cNvPicPr>
          <p:nvPr/>
        </p:nvPicPr>
        <p:blipFill>
          <a:blip r:embed="rId4"/>
          <a:stretch>
            <a:fillRect/>
          </a:stretch>
        </p:blipFill>
        <p:spPr>
          <a:xfrm>
            <a:off x="1024128" y="5559552"/>
            <a:ext cx="232600" cy="301752"/>
          </a:xfrm>
          <a:prstGeom prst="rect">
            <a:avLst/>
          </a:prstGeom>
        </p:spPr>
      </p:pic>
      <p:sp>
        <p:nvSpPr>
          <p:cNvPr id="699" name="Google Shape;699;p28"/>
          <p:cNvSpPr/>
          <p:nvPr/>
        </p:nvSpPr>
        <p:spPr>
          <a:xfrm>
            <a:off x="1389888" y="5358383"/>
            <a:ext cx="9866376" cy="694944"/>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1B2440"/>
              </a:buClr>
              <a:buSzPts val="1400"/>
              <a:buFont typeface="Nunito Sans"/>
              <a:buNone/>
            </a:pPr>
            <a:r>
              <a:rPr b="1" i="0" lang="en-US" sz="1400" u="none" cap="none" strike="noStrike">
                <a:solidFill>
                  <a:srgbClr val="1B2440"/>
                </a:solidFill>
                <a:latin typeface="Nunito Sans"/>
                <a:ea typeface="Nunito Sans"/>
                <a:cs typeface="Nunito Sans"/>
                <a:sym typeface="Nunito Sans"/>
              </a:rPr>
              <a:t>Ignoring events makes error bars too narrow </a:t>
            </a:r>
            <a:r>
              <a:rPr b="0" i="0" lang="en-US" sz="1400" u="none" cap="none" strike="noStrike">
                <a:solidFill>
                  <a:srgbClr val="1B2440"/>
                </a:solidFill>
                <a:latin typeface="Nunito Sans"/>
                <a:ea typeface="Nunito Sans"/>
                <a:cs typeface="Nunito Sans"/>
                <a:sym typeface="Nunito Sans"/>
              </a:rPr>
              <a:t>whenever errors lean together within an event.</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